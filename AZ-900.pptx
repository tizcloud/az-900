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2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theme/theme3.xml" ContentType="application/vnd.openxmlformats-officedocument.theme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4229" r:id="rId1"/>
    <p:sldMasterId id="2147484922" r:id="rId2"/>
    <p:sldMasterId id="2147484973" r:id="rId3"/>
    <p:sldMasterId id="2147485061" r:id="rId4"/>
  </p:sldMasterIdLst>
  <p:notesMasterIdLst>
    <p:notesMasterId r:id="rId87"/>
  </p:notesMasterIdLst>
  <p:handoutMasterIdLst>
    <p:handoutMasterId r:id="rId88"/>
  </p:handoutMasterIdLst>
  <p:sldIdLst>
    <p:sldId id="2147479557" r:id="rId5"/>
    <p:sldId id="2147479648" r:id="rId6"/>
    <p:sldId id="2147479649" r:id="rId7"/>
    <p:sldId id="2147479607" r:id="rId8"/>
    <p:sldId id="2147479594" r:id="rId9"/>
    <p:sldId id="2147479653" r:id="rId10"/>
    <p:sldId id="2076138181" r:id="rId11"/>
    <p:sldId id="1684" r:id="rId12"/>
    <p:sldId id="2240" r:id="rId13"/>
    <p:sldId id="2147479721" r:id="rId14"/>
    <p:sldId id="2147479514" r:id="rId15"/>
    <p:sldId id="2147479723" r:id="rId16"/>
    <p:sldId id="2147479724" r:id="rId17"/>
    <p:sldId id="2147479726" r:id="rId18"/>
    <p:sldId id="2147479727" r:id="rId19"/>
    <p:sldId id="2147479728" r:id="rId20"/>
    <p:sldId id="2147479508" r:id="rId21"/>
    <p:sldId id="2147479729" r:id="rId22"/>
    <p:sldId id="2147479732" r:id="rId23"/>
    <p:sldId id="2147479734" r:id="rId24"/>
    <p:sldId id="2147479735" r:id="rId25"/>
    <p:sldId id="2147479736" r:id="rId26"/>
    <p:sldId id="2147479516" r:id="rId27"/>
    <p:sldId id="2147483000" r:id="rId28"/>
    <p:sldId id="2147483001" r:id="rId29"/>
    <p:sldId id="2147483003" r:id="rId30"/>
    <p:sldId id="2147483004" r:id="rId31"/>
    <p:sldId id="2147483005" r:id="rId32"/>
    <p:sldId id="2147483006" r:id="rId33"/>
    <p:sldId id="2147483009" r:id="rId34"/>
    <p:sldId id="2147483050" r:id="rId35"/>
    <p:sldId id="2147483011" r:id="rId36"/>
    <p:sldId id="2147483012" r:id="rId37"/>
    <p:sldId id="2147483013" r:id="rId38"/>
    <p:sldId id="2147483014" r:id="rId39"/>
    <p:sldId id="2147483015" r:id="rId40"/>
    <p:sldId id="2147483016" r:id="rId41"/>
    <p:sldId id="2147483019" r:id="rId42"/>
    <p:sldId id="2147483021" r:id="rId43"/>
    <p:sldId id="2147483022" r:id="rId44"/>
    <p:sldId id="2147483023" r:id="rId45"/>
    <p:sldId id="2147483024" r:id="rId46"/>
    <p:sldId id="2147483027" r:id="rId47"/>
    <p:sldId id="2147483029" r:id="rId48"/>
    <p:sldId id="2147483030" r:id="rId49"/>
    <p:sldId id="2147483031" r:id="rId50"/>
    <p:sldId id="2147483032" r:id="rId51"/>
    <p:sldId id="2147483033" r:id="rId52"/>
    <p:sldId id="2147483036" r:id="rId53"/>
    <p:sldId id="2147483038" r:id="rId54"/>
    <p:sldId id="2147483039" r:id="rId55"/>
    <p:sldId id="2147483040" r:id="rId56"/>
    <p:sldId id="2147483041" r:id="rId57"/>
    <p:sldId id="2147483042" r:id="rId58"/>
    <p:sldId id="2147483043" r:id="rId59"/>
    <p:sldId id="2147483044" r:id="rId60"/>
    <p:sldId id="2147483064" r:id="rId61"/>
    <p:sldId id="2147483045" r:id="rId62"/>
    <p:sldId id="2147483046" r:id="rId63"/>
    <p:sldId id="2147483051" r:id="rId64"/>
    <p:sldId id="2147483052" r:id="rId65"/>
    <p:sldId id="2147483053" r:id="rId66"/>
    <p:sldId id="2147483065" r:id="rId67"/>
    <p:sldId id="2147479719" r:id="rId68"/>
    <p:sldId id="2147479720" r:id="rId69"/>
    <p:sldId id="2147483054" r:id="rId70"/>
    <p:sldId id="2147479722" r:id="rId71"/>
    <p:sldId id="2147483055" r:id="rId72"/>
    <p:sldId id="2147479725" r:id="rId73"/>
    <p:sldId id="2147483057" r:id="rId74"/>
    <p:sldId id="2147483058" r:id="rId75"/>
    <p:sldId id="2147483059" r:id="rId76"/>
    <p:sldId id="2147479731" r:id="rId77"/>
    <p:sldId id="2147479733" r:id="rId78"/>
    <p:sldId id="2147483062" r:id="rId79"/>
    <p:sldId id="2147483063" r:id="rId80"/>
    <p:sldId id="2147479738" r:id="rId81"/>
    <p:sldId id="2147479740" r:id="rId82"/>
    <p:sldId id="2147479741" r:id="rId83"/>
    <p:sldId id="2147479742" r:id="rId84"/>
    <p:sldId id="2147479654" r:id="rId85"/>
    <p:sldId id="2147479683" r:id="rId86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200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584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6DF"/>
    <a:srgbClr val="EEEEEE"/>
    <a:srgbClr val="E8E8E8"/>
    <a:srgbClr val="D4D4D4"/>
    <a:srgbClr val="FB5A65"/>
    <a:srgbClr val="CD9BCF"/>
    <a:srgbClr val="FFA38B"/>
    <a:srgbClr val="D59ED7"/>
    <a:srgbClr val="8DC8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83" autoAdjust="0"/>
  </p:normalViewPr>
  <p:slideViewPr>
    <p:cSldViewPr snapToGrid="0">
      <p:cViewPr varScale="1">
        <p:scale>
          <a:sx n="112" d="100"/>
          <a:sy n="112" d="100"/>
        </p:scale>
        <p:origin x="516" y="96"/>
      </p:cViewPr>
      <p:guideLst>
        <p:guide pos="4200"/>
        <p:guide orient="horz" pos="2160"/>
        <p:guide pos="5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commentAuthors" Target="commentAuthor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presProps" Target="pres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handoutMaster" Target="handoutMasters/handout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66B00-6144-45ED-BFDB-3936850BDA03}" type="datetime8">
              <a:rPr lang="en-US" smtClean="0">
                <a:latin typeface="Segoe UI" pitchFamily="34" charset="0"/>
              </a:rPr>
              <a:t>10/7/2026 8:36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61486BA7-839C-4D2B-BD52-EF0BBA8433FD}" type="datetime8">
              <a:rPr lang="en-US" smtClean="0"/>
              <a:t>10/7/2026 8:36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AFE116-C913-47B9-A2FE-E7F4B9E58C38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10/7/2026 8:36 AM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4741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https://learn.microsoft.com/training/paths/microsoft-azure-fundamentals-describe-cloud-concepts/</a:t>
            </a:r>
          </a:p>
          <a:p>
            <a:endParaRPr lang="en-US" dirty="0"/>
          </a:p>
          <a:p>
            <a:r>
              <a:rPr lang="en-US" dirty="0"/>
              <a:t>Welcome to Learning Path 1: Describe Cloud Concepts.</a:t>
            </a:r>
          </a:p>
          <a:p>
            <a:r>
              <a:rPr lang="en-US" dirty="0"/>
              <a:t>This learning path covers the foundational cloud computing concepts that underpin Microsoft Azure.</a:t>
            </a:r>
          </a:p>
          <a:p>
            <a:r>
              <a:rPr lang="en-US" dirty="0"/>
              <a:t>We'll work through three modules: cloud computing basics, benefits of cloud services, and cloud service types (IaaS, PaaS, SaaS).</a:t>
            </a:r>
          </a:p>
          <a:p>
            <a:r>
              <a:rPr lang="en-US" dirty="0"/>
              <a:t>This content maps to the 'Describe cloud concepts' domain of the AZ-900 exam, which represents 25-30% of the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https://learn.microsoft.com/training/modules/describe-cloud-compute/1-introduction-microsoft-azure-fundamentals</a:t>
            </a:r>
          </a:p>
          <a:p>
            <a:endParaRPr lang="en-US" dirty="0"/>
          </a:p>
          <a:p>
            <a:r>
              <a:rPr lang="en-US" dirty="0"/>
              <a:t>Module 1 introduces the fundamental concepts of cloud computing.</a:t>
            </a:r>
          </a:p>
          <a:p>
            <a:r>
              <a:rPr lang="en-US" dirty="0"/>
              <a:t>We'll define what cloud computing is, explore the shared responsibility model, look at different cloud deployment models, and understand the consumption-based pricing model.</a:t>
            </a:r>
          </a:p>
          <a:p>
            <a:r>
              <a:rPr lang="en-US" dirty="0"/>
              <a:t>By the end of this module, learners should be able to explain these core concepts and how they compare to traditional on-premises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900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Computing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คือการให้บริการทรัพยากรด้านคอมพิวเตอร์ผ่านอินเทอร์เน็ต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ช่วยให้องค์กรสามารถเข้าถึงและใช้งานทรัพยากร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ได้อย่างรวดเร็ว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ยืดหยุ่น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และคุ้มค่ากว่าการลงทุนโครงสร้างพื้นฐานเอง</a:t>
            </a:r>
            <a:endParaRPr lang="th-TH" sz="900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900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900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ประโยชน์หลัก</a:t>
            </a:r>
            <a:endParaRPr lang="en-US" sz="900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900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เพิ่มความรวดเร็วในการสร้างนวัตกรรม</a:t>
            </a:r>
            <a:r>
              <a:rPr lang="en-US" sz="900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(Faster Innovation)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สามารถเริ่มใช้งานทรัพยากรได้ทันที</a:t>
            </a:r>
            <a:endParaRPr lang="en-US" sz="900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900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มีความยืดหยุ่นสูง</a:t>
            </a:r>
            <a:r>
              <a:rPr lang="en-US" sz="900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(Flexible Resources)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เพิ่มหรือลดทรัพยากรได้ตามความต้องการ</a:t>
            </a:r>
            <a:endParaRPr lang="en-US" sz="900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900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ประหยัดต้นทุน</a:t>
            </a:r>
            <a:r>
              <a:rPr lang="en-US" sz="900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(Economies of Scale)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จ่ายเฉพาะส่วนที่ใช้งานจริง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ลดค่าใช้จ่ายในการลงทุนล่วงหน้า</a:t>
            </a:r>
            <a:endParaRPr lang="th-TH" sz="900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900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900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องค์ประกอบหลักของ</a:t>
            </a:r>
            <a:r>
              <a:rPr lang="en-US" sz="900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Computing</a:t>
            </a:r>
          </a:p>
          <a:p>
            <a:pPr lvl="0" fontAlgn="t"/>
            <a:r>
              <a:rPr lang="en-US" sz="900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Compute</a:t>
            </a:r>
            <a:endParaRPr lang="en-US" sz="900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1" fontAlgn="t"/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พลังการประมวลผล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Virtual Machines (VMs), Containers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 Services</a:t>
            </a:r>
          </a:p>
          <a:p>
            <a:pPr lvl="1" fontAlgn="t"/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ใช้สำหรับรันแอปพลิเคชันและประมวลผลข้อมูล</a:t>
            </a:r>
            <a:endParaRPr lang="en-US" sz="900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900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Networking</a:t>
            </a:r>
            <a:endParaRPr lang="en-US" sz="900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1" fontAlgn="t"/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การเชื่อมต่อข้อมูลและการสื่อสารระหว่างผู้ใช้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และบริการต่าง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</a:t>
            </a:r>
          </a:p>
          <a:p>
            <a:pPr lvl="1" fontAlgn="t"/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ครอบคลุมเครือข่าย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อินเทอร์เน็ต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VPN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และการรับส่งข้อมูล</a:t>
            </a:r>
            <a:endParaRPr lang="en-US" sz="900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900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</a:t>
            </a:r>
            <a:endParaRPr lang="en-US" sz="900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1" fontAlgn="t"/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พื้นที่จัดเก็บข้อมูลบนคลาวด์</a:t>
            </a:r>
            <a:endParaRPr lang="en-US" sz="900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1" fontAlgn="t"/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รองรับการเก็บไฟล์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ฐานข้อมูล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900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และข้อมูลสำรอง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(Backup)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128CCCB-5AC6-42E2-9EBE-0BD71AB1012A}" type="datetime8">
              <a:rPr lang="en-US" smtClean="0"/>
              <a:t>10/7/2026 8:36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01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Shared Responsibility Model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โมเดลความรับผิดชอบร่วมกัน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อธิบายการแบ่งความรับผิดชอบด้านการบริหารจัดการและความปลอดภัยระหว่าง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(Customer)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ผู้ให้บริการ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(Cloud Provider)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ซึ่งจะแตกต่างกันตามประเภทของบริการคลาวด์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On-Premises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ระบบภายในองค์กร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องค์กรต้องรับผิดชอบทุกส่วนเองทั้งหมด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ได้แก่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(Data)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อุปกรณ์และบัญชีผู้ใช้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(Devices &amp; Accounts)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การจัดการสิทธิ์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(Identity &amp; Access)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แอปพลิเคชัน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(Applications)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เครือข่าย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(Network Controls)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ระบบปฏิบัติการ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(Operating Systems)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โครงสร้างพื้นฐาน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(Infrastructure)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ดาต้าเซ็นเตอร์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เครือข่าย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และเซิร์ฟเวอร์จริง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(Datacenters, Networks, Physical Hosts)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ลูกค้ารับผิดชอบ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100%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IaaS (Infrastructure as a Service)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ตัวอย่างเช่น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Virtual Machines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ลูกค้ารับผิดชอบ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Data, Devices, Accounts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Identity &amp; Access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 Controls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Operating Systems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ผู้ให้บริการรับผิดชอบ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Infrastructure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Datacenters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Physical Hosts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ลูกค้ายังต้องดูแลระบบปฏิบัติการและแอปพลิเคชันเอง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PaaS (Platform as a Service)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ตัวอย่างเช่น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App Service, Azure SQL Database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ลูกค้ารับผิดชอบ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Data, Devices, Accounts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ความรับผิดชอบร่วมกัน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Identity &amp; Access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 Controls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ผู้ให้บริการรับผิดชอบ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Operating Systems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Infrastructure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Datacenters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Physical Hosts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ลูกค้าโฟกัสที่ข้อมูลและการพัฒนาแอปพลิเคชันมากขึ้น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SaaS (Software as a Service)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ตัวอย่างเช่น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365, Outlook, Teams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ลูกค้ารับผิดชอบ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Accounts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ความรับผิดชอบร่วมกัน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Identity &amp; Access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ผู้ให้บริการรับผิดชอบ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 Controls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Operating Systems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Infrastructure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Datacenters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Physical Hosts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ลูกค้าเพียงใช้งานบริการและดูแลข้อมูลของตนเอง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Shared Responsibility Model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คือแนวคิดที่แบ่งหน้าที่ระหว่างลูกค้าและผู้ให้บริการคลาวด์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โดยยิ่งใช้บริการระดับสูงขึ้น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SaaS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ลูกค้าจะยิ่งต้องดูแลระบบน้อยลง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ขณะที่ผู้ให้บริการคลาวด์จะรับผิดชอบด้านโครงสร้างพื้นฐาน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ระบบปฏิบัติการ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และแอปพลิเคชันมากขึ้น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ทำให้องค์กรสามารถมุ่งเน้นไปที่ข้อมูล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และเป้าหมายทางธุรกิจได้มากกว่าเดิม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.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Deployment Models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คือรูปแบบการนำทรัพยากร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ไปใช้งานและบริหารจัดการ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ซึ่งองค์กรสามารถเลือกใช้ตามความต้องการด้านความปลอดภัย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งบประมาณ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ความยืดหยุ่น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และข้อกำหนดทางธุรกิจ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Private Cloud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สำหรับองค์กรเดียวโดยเฉพาะ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ควบคุมทรัพยากรและความปลอดภัยได้เต็มที่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ข้อมูลไม่ถูกแชร์กับองค์กรอื่น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ติดตั้งใน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ขององค์กร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เฉพาะ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เหมาะกับองค์กรที่มีข้อกำหนดด้านความปลอดภัยสูง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ความปลอดภัยและการควบคุมสูง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ข้อจำกัด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ต้นทุนสูง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ต้องบริหารจัดการโครงสร้างพื้นฐานเอง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ระบบธนาคาร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ระบบหน่วยงานภาครัฐ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Public Cloud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ที่ให้บริการโดยผู้ให้บริการ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Azure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ไม่ต้องลงทุนด้าน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Hardware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ล่วงหน้า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เปิดใช้งานและขยายระบบได้รวดเร็ว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จ่ายตามการใช้งานจริง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(Pay-as-you-go)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ผู้ให้บริการดูแลโครงสร้างพื้นฐานทั้งหมด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ต้นทุนเริ่มต้นต่ำ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ขยายระบบได้ง่ายและรวดเร็ว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ข้อจำกัด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การควบคุมบางส่วนขึ้นอยู่กับผู้ให้บริการ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Azure, AWS, Google Cloud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Hybrid Cloud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การผสาน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Private Cloud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Public Cloud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เข้าด้วยกัน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สามารถเลือกได้ว่างานใดจะรันบน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Private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Public Cloud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ควบคุมข้อมูลสำคัญภายในองค์กรได้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ขยายทรัพยากรไปยัง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Public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เมื่อมีความต้องการเพิ่มขึ้น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มีความยืดหยุ่นสูงที่สุด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รองรับข้อกำหนดด้านกฎหมายและ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Compliance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ตัวอย่างการใช้งาน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เก็บข้อมูลลูกค้าใน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Private Cloud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หรือการประมวลผลที่ต้องใช้ทรัพยากรจำนวนมาก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Multicloud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การใช้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จากหลายผู้ให้บริการพร้อมกัน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ใช้งานผู้ให้บริการ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มากกว่า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เลือกใช้จุดเด่นของแต่ละผู้ให้บริการ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ลดความเสี่ยงจากการพึ่งพาผู้ให้บริการรายเดียว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(Vendor Lock-in)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เพิ่มความยืดหยุ่นในการเลือกบริการ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รองรับการย้ายระบบระหว่างผู้ให้บริการ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Analytics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AWS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 Hosting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Google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AI/ML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สไลด์นี้อธิบายความแตกต่างระหว่างการวางแผนทรัพยากรแบบดั้งเดิม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(Traditional Datacenter)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กับการใช้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ที่คิดค่าใช้จ่ายตามการใช้งานจริง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(Consumption-Based Model)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Traditional Datacenter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โครงสร้างพื้นฐานแบบดั้งเดิม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องค์กรต้องคาดการณ์ความต้องการใช้งานล่วงหน้าและจัดเตรียมทรัพยากรไว้ก่อน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ปัญหาที่พบ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ใช้งานน้อยกว่าที่เตรียมไว้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(Over-Provisioning)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ซื้อ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Capacity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มากเกินไป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มีทรัพยากรว่าง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(Idle Capacity)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เสียค่าใช้จ่ายโดยไม่ก่อให้เกิดประโยชน์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ตัวอย่างในกราฟ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Q1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Q3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Capacity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ที่จัดเตรียมไว้มากกว่าความต้องการจริง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ทรัพยากรบางส่วนไม่ได้ใช้งาน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ใช้งานมากกว่าที่เตรียมไว้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(Under-Provisioning)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ความต้องการใช้งานสูงกว่าทรัพยากรที่มี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ระบบอาจช้า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หรือให้บริการไม่เพียงพอ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ตัวอย่างในกราฟ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Q2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Q4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ความต้องการสูงกว่า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Capacity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ที่เตรียมไว้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ผลลัพธ์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เสียเงินจากทรัพยากรที่ไม่ได้ใช้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เสี่ยงต่อปัญหาประสิทธิภาพเมื่อความต้องการเพิ่มขึ้น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(Elastic Capacity)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สามารถปรับขนาดทรัพยากรได้ตามการใช้งานจริง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คุณสมบัติสำคัญ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เพิ่มทรัพยากรอัตโนมัติเมื่อมีผู้ใช้งานมาก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ลดทรัพยากรเมื่อความต้องการลดลง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รองรับการเปลี่ยนแปลงของธุรกิจได้รวดเร็ว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จ่ายเฉพาะทรัพยากรที่ใช้งานจริง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ผลลัพธ์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ไม่มีทรัพยากรเหลือทิ้งจำนวนมาก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ลดความเสี่ยงที่ระบบจะรองรับโหลดไม่พอ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บริหารต้นทุนได้มีประสิทธิภาพมากขึ้น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ตัวอย่างทางธุรกิจ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Traditional Datacenter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หากบริษัทคาดว่าช่วงแคมเปญ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11.11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จะมีผู้ใช้งานสูงสุด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10,000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ต้องซื้อ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10,000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คนไว้ตลอดทั้งปี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แม้ช่วงปกติจะมีผู้ใช้งานเพียง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2,000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ช่วงปกติใช้ทรัพยากรสำหรับ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2,000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เมื่อถึงแคมเปญ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11.11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ระบบขยายเป็น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10,000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คนอัตโนมัติ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หลังจบแคมเปญลดขนาดกลับลงทันที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Consumption-Based Model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คือแนวคิดหลักของ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Computing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ที่ช่วยให้องค์กร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จ่ายตามการใช้งานจริง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(Pay-as-you-go)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ไม่ต้องลงทุนโครงสร้างพื้นฐานขนาดใหญ่ล่วงหน้า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ขยายหรือลดทรัพยากรได้ตามความต้องการ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(Elasticity)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ลดต้นทุนและเพิ่มความคล่องตัวในการดำเนินธุรกิจ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https://learn.microsoft.com/training/modules/describe-benefits-use-cloud-services/1-introduction</a:t>
            </a:r>
          </a:p>
          <a:p>
            <a:endParaRPr lang="en-US" dirty="0"/>
          </a:p>
          <a:p>
            <a:r>
              <a:rPr lang="en-US" dirty="0"/>
              <a:t>Module 2 explores the key benefits that make cloud computing attractive to organizations.</a:t>
            </a:r>
          </a:p>
          <a:p>
            <a:r>
              <a:rPr lang="en-US" dirty="0"/>
              <a:t>We'll cover high availability, scalability, reliability, predictability, security, governance, manageability, and sustainability.</a:t>
            </a:r>
          </a:p>
          <a:p>
            <a:r>
              <a:rPr lang="en-US" dirty="0"/>
              <a:t>These benefits are closely tied to the Microsoft Azure Well-Architected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อธิบายประโยชน์สำคัญของ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Computing 2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High Availability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ความพร้อมใช้งานสูง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Scalability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ความสามารถในการขยายระบบ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High Availability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ความพร้อมใช้งานสูง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หมายถึง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การออกแบบระบบให้สามารถให้บริการได้อย่างต่อเนื่อง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แม้จะเกิดเหตุการณ์ไม่คาดคิดหรือความขัดข้องบางส่วนของระบบ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มุ่งเน้นให้ระบบพร้อมใช้งานอยู่เสมอ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Downtime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ที่ส่งผลต่อผู้ใช้งานและธุรกิจ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Provider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มีการรับประกันระดับการให้บริการผ่าน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SLA (Service Level Agreement)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สถาปัตยกรรมระบบควรออกแบบโดยคำนึงถึง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High Availability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ตั้งแต่ต้น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หากเซิร์ฟเวอร์เครื่องหนึ่งล้มเหลว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ระบบสามารถสลับไปใช้งานอีกเครื่องได้ทันที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เว็บไซต์ธนาคารหรือระบบ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e-Commerce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ยังคงให้บริการได้แม้เกิดความขัดข้องในบางส่วนของโครงสร้างพื้นฐาน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ลดโอกาสที่ระบบจะหยุดให้บริการ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เพิ่มความน่าเชื่อถือให้กับธุรกิจ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รองรับการให้บริการตลอด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24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ชั่วโมง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Scalability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การขยายขนาดระบบ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หมายถึง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ความสามารถในการเพิ่มหรือลดทรัพยากรให้เหมาะสมกับปริมาณงานที่เปลี่ยนแปลงไป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ปรับทรัพยากรตามความต้องการได้อย่างรวดเร็ว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รองรับช่วงที่มีผู้ใช้งานเพิ่มขึ้นหรือลดลง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ช่วยควบคุมต้นทุนให้สอดคล้องกับการใช้งานจริง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Vertical Scaling (Scale Up / Scale Down)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เพิ่มหรือลดทรัพยากรภายในเครื่องเดิม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RAM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 4 CPU, RAM 16 GB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ขยายเป็น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8 CPU, RAM 32 GB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จัดการง่าย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มีข้อจำกัดตามขนาดสูงสุดของเครื่อง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Horizontal Scaling (Scale Out / Scale In)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เพิ่มหรือลดจำนวนเครื่องหรือทรัพยากร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Web Server 2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เครื่อง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10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เครื่องในช่วงแคมเปญ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หลังจบแคมเปญ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ลดกลับเหลือ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รองรับผู้ใช้งานจำนวนมากได้ดี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เพิ่มความพร้อมใช้งานของระบบ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ตัวอย่างในธุรกิจ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Mobile Banking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High Availability: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ลูกค้าสามารถใช้งานได้ตลอด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24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ชั่วโมง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แม้เซิร์ฟเวอร์บางส่วนจะมีปัญหา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Scalability: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ในวันเงินเดือนออก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ระบบสามารถเพิ่มทรัพยากรอัตโนมัติเพื่อรองรับผู้ใช้งานจำนวนมาก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และลดลงเมื่อปริมาณงานกลับสู่ปกติ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Computing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Reliability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ความเชื่อถือได้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Predictability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ความสามารถในการคาดการณ์ได้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ซึ่งช่วยให้องค์กรสามารถให้บริการระบบได้อย่างต่อเนื่องและบริหารต้นทุนได้อย่างมีประสิทธิภาพ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Reliability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ความเชื่อถือได้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หมายถึง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ความสามารถของระบบในการกู้คืนจากความล้มเหลว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(Failure)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และยังคงให้บริการได้อย่างต่อเนื่อง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ระบบสามารถทำงานต่อได้แม้เกิดปัญหาในบางส่วน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เป็นหนึ่งในหลักการสำคัญของ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Azure Well-Architected Framework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มีศูนย์ข้อมูล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(Regions)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กระจายอยู่ทั่วโลก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รองรับการสลับการทำงาน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(Failover)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ไปยัง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อื่นโดยอัตโนมัติหากเกิดเหตุการณ์ร้ายแรง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หลักเกิดปัญหา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ระบบสามารถย้ายการทำงานไปยัง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สำรองได้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แอปพลิเคชันยังคงให้บริการลูกค้าได้โดยมีผลกระทบน้อยที่สุด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ลดความเสี่ยงจากระบบล่ม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เพิ่มความต่อเนื่องทางธุรกิจ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(Business Continuity)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รองรับแผนกู้คืนระบบจากภัยพิบัติ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(Disaster Recovery)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Predictability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ความสามารถในการคาดการณ์ได้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ช่วยให้องค์กรสามารถคาดการณ์ได้ทั้งด้านประสิทธิภาพและค่าใช้จ่าย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Performance Predictability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คาดการณ์ทรัพยากรที่ต้องใช้เพื่อให้ระบบทำงานได้ตามระดับประสิทธิภาพที่ต้องการ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คาดการณ์จำนวน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Memory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 Bandwidth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เพื่อรองรับผู้ใช้งานและปริมาณงานในอนาคต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Cost Predictability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คาดการณ์ค่าใช้จ่ายบน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ได้ล่วงหน้า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เครื่องมือที่ช่วย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Pricing Calculator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ประมาณค่าใช้จ่ายก่อนใช้งานจริง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เปรียบเทียบบริการต่าง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วางแผนงบประมาณโครงการ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หากองค์กรต้องการ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 5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10 TB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Service 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สามารถคำนวณค่าใช้จ่ายรายเดือนหรือรายปีได้ก่อนเริ่มโครงการ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ตัวอย่างทางธุรกิจ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Mobile Banking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Reliability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หลักมีปัญหา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ระบบสามารถทำงานบน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สำรองได้ทันที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ลูกค้ายังคงโอนเงินและทำธุรกรรมได้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Predictability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ธนาคารสามารถประมาณจำนวนทรัพยากรที่ต้องใช้ในช่วงเงินเดือนออก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สามารถคาดการณ์ค่าใช้จ่าย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ล่วงหน้าเพื่อจัดทำงบประมาณประจำปี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Reliability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คือความสามารถของระบบในการกู้คืนจากความขัดข้องและให้บริการได้อย่างต่อเนื่อง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Predictability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คือความสามารถในการคาดการณ์ความต้องการทรัพยากรและค่าใช้จ่ายล่วงหน้า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ช่วยให้องค์กรมีทั้งความมั่นคงของระบบและการบริหารต้นทุนที่แม่นยำมากขึ้น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ไม่ได้มีเพียงเรื่องประสิทธิภาพและความยืดหยุ่น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แต่ยังช่วยให้องค์กรสามารถบริหารจัดการ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ความปลอดภัย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,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Governance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การกำกับดูแล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Compliance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การปฏิบัติตามข้อกำหนด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ได้อย่างมีประสิทธิภาพในระดับองค์กร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องค์ประกอบหลัก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Governance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การกำกับดูแล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เป็นการกำหนดมาตรฐาน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นโยบาย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และแนวทางการใช้งาน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ให้เป็นไปในทิศทางเดียวกัน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กำหนดมาตรฐานการตั้งชื่อทรัพยากร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ที่อนุญาตให้ใช้งาน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กำหนดนโยบายด้านความปลอดภัย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ควบคุมการใช้ทรัพยากรและงบประมาณ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สร้างมาตรฐานการใช้งาน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ให้ทั่วทั้งองค์กร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Compliance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การปฏิบัติตามข้อกำหนด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ช่วยให้องค์กรสามารถตรวจสอบและรักษาการปฏิบัติตามกฎหมาย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ระเบียบ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หรือมาตรฐานต่าง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PDPA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ISO 27001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PCI-DSS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ข้อกำหนดของหน่วยงานกำกับดูแล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ตรวจสอบการตั้งค่าที่ไม่เป็นไปตามมาตรฐาน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แจ้งเตือนความเสี่ยง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แนะนำแนวทางแก้ไข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(Remediation)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ลดความเสี่ยงด้านกฎหมายและการตรวจสอบ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Security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ความปลอดภัย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Provider มีเครื่องมือด้านความปลอดภัยในตัวและให้การป้องกันในระดับโครงสร้างพื้นฐาน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DDoS Protection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Firewall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Access Control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 Security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 Monitoring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Patch Management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ปกป้องข้อมูล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และผู้ใช้งานจากภัยคุกคามไซเบอร์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ประโยชน์สำคัญของ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ในด้าน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&amp; Governance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Set Standards at Scale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กำหนดมาตรฐานได้ในระดับองค์กร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Templates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Policies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บังคับใช้มาตรฐานเดียวกัน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ลดความผิดพลาดจากการตั้งค่าด้วยตนเอง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ควบคุมได้หลายร้อยหรือหลายพันทรัพยากรพร้อมกัน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Audit and Remediate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ตรวจสอบและแก้ไขปัญหาได้อย่างต่อเนื่อง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ตรวจจับทรัพยากรที่ไม่เป็นไปตามนโยบาย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แจ้งเตือนและแนะนำวิธีแก้ไข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Human Error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รองรับการตรวจสอบภายในและภายนอก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Match Your Security Needs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เลือกระดับการควบคุมตามรูปแบบบริการ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IaaS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องค์กรควบคุมด้าน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ได้มากที่สุด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PaaS / SaaS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ผู้ให้บริการดูแล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Patch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และอัปเดตจำนวนมากให้อัตโนมัติ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ลดภาระงานของทีม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เลือกสมดุลระหว่างความปลอดภัยและความสะดวกได้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Update at Scale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อัปเดตนโยบายและมาตรฐานได้ทั่วทั้งระบบ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เมื่อมีข้อกำหนดใหม่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Policy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สามารถถูกนำไปใช้กับทุก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มั่นใจว่ามาตรฐานเดียวกันถูกบังคับใช้ทั่วองค์กร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ลดเวลาการบริหารจัดการ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Patches &amp; Maintenance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Provider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จัดการการอัปเดตจำนวนมากให้โดยอัตโนมัติ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 Patches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Bug Fixes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System Updates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ลดช่องโหว่ด้านความปลอดภัย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Built-in Protections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มีระบบป้องกันมาให้ตั้งแต่ต้น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DDoS Protection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 Resilience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Infrastructure Security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Global Threat Monitoring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ได้รับการป้องกันในระดับที่หลายองค์กรอาจสร้างเองได้ยาก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ตัวอย่างทางธุรกิจ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ธนาคารหรือสถาบันการเงิน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Policy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ให้ทุกระบบปฏิบัติตามมาตรฐานเดียวกัน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Compliance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ตามข้อกำหนดของ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ธปท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.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PDPA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Monitoring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เพื่อตรวจจับความผิดปกติแบบ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Real-time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ได้รับการป้องกัน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DDoS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และการอัปเดต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อย่างต่อเนื่อง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ไม่ได้ให้แค่ทรัพยากรด้าน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แต่ยังมีเครื่องมือสำหรับ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Governance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ควบคุมมาตรฐานและนโยบาย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Compliance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ตรวจสอบการปฏิบัติตามข้อกำหนด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ป้องกันภัยคุกคามและดูแลความปลอดภัย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Manageability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ความสามารถในการบริหารจัดการ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ซึ่งช่วยให้องค์กรสามารถดูแล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และบริหารทรัพยากร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ได้ง่ายกว่าระบบแบบดั้งเดิม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ผ่านระบบอัตโนมัติและเครื่องมือการจัดการที่หลากหลาย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Management of the Cloud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การบริหารจัดการโครงสร้างพื้นฐาน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ช่วยลดภาระงานด้านการดูแลระบบด้วยระบบอัตโนมัติ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ความสามารถสำคัญ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Automatic Scaling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ปรับขนาดทรัพยากรอัตโนมัติตามความต้องการ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เพิ่มทรัพยากรเมื่อมีผู้ใช้งานมาก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ลดทรัพยากรเมื่อการใช้งานลดลง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ลดภาระการติดตามและปรับแต่งระบบด้วยตนเอง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Template-Based Deployment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ปรับใช้ทรัพยากรผ่าน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Template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ที่กำหนดไว้ล่วงหน้า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Resource Manager (ARM Templates)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Bicep Templates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ช่วยให้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ติดตั้งระบบซ้ำได้อย่างรวดเร็ว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ใช้มาตรฐานเดียวกันทั้งองค์กร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ลดข้อผิดพลาดจากการตั้งค่าด้วยมือ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Deployment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มีความรวดเร็วและสม่ำเสมอ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Health Monitoring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ติดตามสถานะและสุขภาพของทรัพยากรตลอดเวลา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สามารถตรวจสอบได้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CPU Utilization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Memory Usage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Capacity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 Performance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เมื่อพบปัญหา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แจ้งเตือนผู้ดูแล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ดำเนินการแก้ไขบางส่วนอัตโนมัติ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สลับการทำงานไปยังทรัพยากรสำรอง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ช่วยลด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Downtime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Automated Alerts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แจ้งเตือนอัตโนมัติตาม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Metric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ที่กำหนด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CPU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เกิน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80%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ใกล้เต็ม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ตอบสนองช้า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ผู้ดูแลระบบสามารถตอบสนองต่อปัญหาได้รวดเร็วขึ้น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Management in the Cloud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วิธีการบริหารจัดการบริการ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เปิดให้บริหารจัดการได้หลายรูปแบบตามความถนัดและความต้องการ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Portal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บริหารผ่านหน้าจอเว็บ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Portal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สามารถใช้สำหรับ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Virtual Machine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Monitoring Dashboard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เหมาะสำหรับผู้เริ่มต้นและงานทั่วไป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Command-Line Interface (CLI)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บริหารจัดการผ่านคำสั่ง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CLI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เหมาะกับการทำ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Automation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รองรับการทำงานแบบ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Script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DevOps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และผู้ดูแลระบบ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APIs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บริหารจัดการผ่านโปรแกรมและระบบอัตโนมัติ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เชื่อมต่อกับระบบภายในองค์กร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Automation Workflow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Integrate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CI/CD Pipeline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รองรับการบริหารจัดการในระดับ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Enterprise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PowerShell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เครื่องมือสำหรับจัดการ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Cloud Services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Automation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Bulk Operations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User &amp; Resource Management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ได้รับความนิยมในองค์กรที่ใช้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Ecosystem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ตัวอย่างทางธุรกิจ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ธนาคารหรือองค์กรขนาดใหญ่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ก่อนใช้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ต้องติดตั้ง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ด้วยตนเอง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ใช้เวลาหลายวันหรือหลายสัปดาห์ในการ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Provision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ระบบใหม่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หลังใช้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Deploy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ระบบใหม่จาก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Template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ภายในไม่กี่นาที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Monitoring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แจ้งเตือนปัญหาแบบ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Real-Time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Autoscaling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เพิ่มทรัพยากรอัตโนมัติช่วงที่มีธุรกรรมสูง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ช่วยให้องค์กรสามารถ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บริหารทรัพยากรได้ง่ายขึ้น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ใช้ระบบอัตโนมัติในการ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Deploy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Monitoring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ลดภาระงานด้านปฏิบัติการของทีม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Portal, CLI, API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PowerShell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ได้อย่างยืดหยุ่น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เพิ่มความเร็วในการให้บริการและรองรับการเติบโตของธุรกิจ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Computing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ช่วยสนับสนุน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Sustainability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ความยั่งยืน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โดยช่วยให้องค์กรใช้ทรัพยากร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ได้อย่างมีประสิทธิภาพ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ลดการใช้พลังงานที่ไม่จำเป็น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และลดผลกระทบต่อสิ่งแวดล้อม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ผ่านวงจรการบริหารทรัพยากรอย่างต่อเนื่อง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วงจรการสร้างความยั่งยืนบน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Right-size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เลือกขนาดทรัพยากรให้เหมาะสมกับความต้องการจริง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จัดสรร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CPU, Memory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ตามการใช้งานจริง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หลีกเลี่ยงการจัดเตรียมทรัพยากรมากเกินความจำเป็น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ลดทรัพยากรที่ไม่ได้ใช้งาน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ลดต้นทุน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ลดการใช้พลังงานโดยไม่จำเป็น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ไม่จำเป็นต้องใช้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ขนาดใหญ่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หากระบบใช้งาน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เพียง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20-30%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Automate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ใช้ระบบอัตโนมัติในการบริหารทรัพยากร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ปิดทรัพยากรเมื่อไม่ใช้งาน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เปิดใช้งานเฉพาะช่วงเวลาที่ต้องการ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Autoscale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เพิ่มหรือลดทรัพยากรตามปริมาณงาน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ลดการใช้ทรัพยากรเกินความจำเป็น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ลดการใช้ไฟฟ้าและค่าใช้จ่าย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Development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เปิดเฉพาะเวลาทำงาน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และปิดอัตโนมัติในเวลากลางคืน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Optimize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เลือกใช้บริการและการตั้งค่าที่มีประสิทธิภาพสูงสุด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ที่เหมาะสมกับงาน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ปรับแต่งการตั้งค่าให้ใช้ทรัพยากรอย่างคุ้มค่า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เลือกเทคโนโลยีที่มีประสิทธิภาพต่อพลังงานมากกว่า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ใช้ทรัพยากรน้อยลงแต่ได้ผลลัพธ์เท่าเดิมหรือดีกว่า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PaaS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แทนการดูแล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จำนวนมาก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Serverless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สำหรับงานที่ไม่ได้ทำงานตลอดเวลา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Monitor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ติดตามการใช้งานและค่าใช้จ่ายอย่างต่อเนื่อง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ตรวจสอบการใช้ทรัพยากร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วิเคราะห์แนวโน้มการใช้งาน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ระบุทรัพยากรที่ไม่ได้ใช้งานหรือใช้งานไม่คุ้มค่า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ปรับปรุงประสิทธิภาพได้อย่างต่อเนื่อง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ควบคุมค่าใช้จ่ายได้ดีขึ้น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Monitor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Cost Management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เพื่อตรวจสอบการใช้ทรัพยากร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ความเชื่อมโยงกับ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Sustainability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ช่วยลดผลกระทบต่อสิ่งแวดล้อมได้โดย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ลดการใช้พลังงานจากทรัพยากรที่ไม่ได้ใช้งาน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ใช้ทรัพยากรศูนย์ข้อมูลร่วมกันอย่างมีประสิทธิภาพ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ลดการจัดซื้อและเปลี่ยน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Hardware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บ่อยครั้ง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สนับสนุนเป้าหมายด้าน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ESG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Carbon Reduction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ตัวอย่างทางธุรกิจ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ธนาคารหรือองค์กรขนาดใหญ่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ก่อนใช้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จำนวนมากที่เปิดทิ้งไว้ตลอดเวลา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ใช้งานจริงเพียงบางส่วน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หลังใช้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Autoscaling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เพิ่มทรัพยากรเฉพาะช่วงที่มีธุรกรรมหนาแน่น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ปิดระบบทดสอบอัตโนมัติเมื่อไม่ใช้งาน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ตรวจสอบและปรับขนาด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อย่างสม่ำเสมอ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ผลลัพธ์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ลดค่าใช้จ่ายด้าน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ลดการใช้พลังงาน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สนับสนุนเป้าหมายความยั่งยืนขององค์กร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https://learn.microsoft.com/training/modules/describe-cloud-service-types/1-introduction</a:t>
            </a:r>
          </a:p>
          <a:p>
            <a:endParaRPr lang="en-US" dirty="0"/>
          </a:p>
          <a:p>
            <a:r>
              <a:rPr lang="en-US" dirty="0"/>
              <a:t>Module 3 dives into the three cloud service types: IaaS, PaaS, and SaaS.</a:t>
            </a:r>
          </a:p>
          <a:p>
            <a:r>
              <a:rPr lang="en-US" dirty="0"/>
              <a:t>These service types determine how much responsibility falls on the customer versus the cloud provider.</a:t>
            </a:r>
          </a:p>
          <a:p>
            <a:r>
              <a:rPr lang="en-US" dirty="0"/>
              <a:t>This connects back to the shared responsibility model from Module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เปรียบเทียบรูปแบบบริการ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ได้แก่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IaaS, PaaS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SaaS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โดยแสดงให้เห็นว่าผู้ใช้งาน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(Customer)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และผู้ให้บริการ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(Cloud Provider)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รับผิดชอบส่วนใดบ้าง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หลักการสำคัญคือ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ยิ่งไปทาง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SaaS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มากเท่าไร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ผู้ใช้งานจะยิ่งต้องบริหารจัดการน้อยลง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ขณะที่ผู้ให้บริการ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จะรับผิดชอบมากขึ้น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องค์ประกอบของระบบที่ต้องบริหารจัดการ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Runtime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Middleware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Operating System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Servers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Networking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IaaS (Infrastructure as a Service)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มีความยืดหยุ่นและการควบคุมสูงสุด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ลูกค้าดูแลเอง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Applications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Runtime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Middleware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Operating System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Provider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Servers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Storage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Networking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Virtual Machines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Amazon EC2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องค์กรที่ต้องการควบคุมระบบสูง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ย้ายระบบเดิม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(Lift-and-Shift)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ขึ้น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มีทีม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ดูแลระบบโดยเฉพาะ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ควบคุมได้มากที่สุด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ปรับแต่งระบบได้เต็มรูปแบบ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ข้อจำกัด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ต้องบริหารและดูแลหลายส่วนด้วยตนเอง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PaaS (Platform as a Service)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สมดุลระหว่างความยืดหยุ่นและความสะดวก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ลูกค้าดูแลเอง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Applications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Provider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Runtime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Middleware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Operating System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Servers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Storage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Networking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App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SQL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Functions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นักพัฒนา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องค์กรที่ต้องการโฟกัสที่การพัฒนาโปรแกรม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Infrastructure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พัฒนาและ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Deploy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ข้อจำกัด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ควบคุมสภาพแวดล้อมได้น้อยกว่า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IaaS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SaaS (Software as a Service)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ใช้งานง่ายที่สุด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ลูกค้าดูแลเอง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Provider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Applications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Runtime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Middleware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Operating System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Servers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Storage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Networking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365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Outlook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Teams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OneDrive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Salesforce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ผู้ใช้งานทั่วไป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องค์กรที่ต้องการใช้งานซอฟต์แวร์ทันที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ไม่ต้องดูแลโครงสร้างพื้นฐานใด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เริ่มใช้งานได้รวดเร็ว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อัปเดตระบบอัตโนมัติ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ข้อจำกัด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ปรับแต่งระบบได้น้อยที่สุด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ตัวอย่างใน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Azure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IaaS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Virtual Machine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Virtual Desktop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PaaS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App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SQL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Functions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SaaS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365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Dynamics 365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Power BI Service</a:t>
            </a: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Infrastructure as a Service (IaaS)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ที่ให้ผู้ใช้งานเช่าและใช้งานโครงสร้างพื้นฐานด้าน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โดยผู้ให้บริการดูแล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Hardware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และโครงสร้างพื้นฐานพื้นฐาน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ส่วนลูกค้าจะเป็นผู้บริหารจัดการระบบและแอปพลิเคชันเอง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"You rent the hardware, but you manage the workload."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คุณเช่าโครงสร้างพื้นฐาน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แต่คุณรับผิดชอบการใช้งานบนระบบ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ใครดูแลอะไรบ้าง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ลูกค้าเป็นผู้ดูแล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(You Manage)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Applications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แอปพลิเคชัน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Runtime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สภาพแวดล้อมที่ใช้รันแอปพลิเคชัน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Middleware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ซอฟต์แวร์ตัวกลาง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Operating System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ระบบปฏิบัติการ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ลูกค้าสามารถกำหนดค่าระบบและควบคุมการทำงานได้อย่างอิสระ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Provider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Servers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Storage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Networking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ผู้ให้บริการ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รับผิดชอบเรื่อง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ฮาร์ดแวร์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ศูนย์ข้อมูล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(Datacenter)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เครือข่าย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ระบบไฟฟ้า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ระบบระบายความร้อน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IaaS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ควบคุมระบบได้สูงสุด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(Maximum Control)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องค์กรสามารถ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เลือกระบบปฏิบัติการได้เอง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ติดตั้งซอฟต์แวร์ได้เอง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Network Configuration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Configuration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เหมาะกับองค์กรที่ต้องการความยืดหยุ่นสูง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ตัวอย่างการใช้งาน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(Common Scenarios)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Lift-and-Shift Migration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ย้ายระบบเดิมจาก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On-Premises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ขึ้นสู่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โดยแทบไม่ต้องเปลี่ยนสถาปัตยกรรม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Web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เดิมไป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Virtual Machine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Database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ขึ้น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ย้ายระบบได้รวดเร็ว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ลดการลงทุนด้าน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Hardware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Testing and Development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ใช้สร้างสภาพแวดล้อมสำหรับการพัฒนาและทดสอบระบบ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สำหรับทีม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Developer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เปิดใช้งานเมื่อต้องการ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ปิดระบบเมื่อไม่ได้ใช้งาน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สร้างระบบได้รวดเร็ว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ควบคุมสภาพแวดล้อมได้เต็มรูปแบบ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ลดค่าใช้จ่ายเมื่อไม่ใช้งาน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IaaS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Azure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Virtual Machines (VM)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Virtual Network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Load Balancer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Backup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Platform as a Service (PaaS)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ที่ผู้ให้บริการจัดเตรียมทั้งโครงสร้างพื้นฐาน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ระบบปฏิบัติการ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และสภาพแวดล้อมสำหรับพัฒนาแอปพลิเคชันให้พร้อมใช้งาน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ทำให้นักพัฒนาสามารถโฟกัสที่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ได้โดยไม่ต้องกังวลเรื่องการดูแล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Infrastructure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"You build on the platform — no infrastructure headaches."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คุณพัฒนาแอปบนแพลตฟอร์ม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โดยไม่ต้องปวดหัวกับการดูแลโครงสร้างพื้นฐาน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ใครดูแลอะไรบ้าง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ลูกค้าเป็นผู้ดูแล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(You Manage)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Applications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แอปพลิเคชัน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หน้าที่หลักของลูกค้า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พัฒนาแอปพลิเคชัน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ดูแลโค้ด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ออกแบบฐานข้อมูล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บริหารข้อมูลและ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Business Logic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Provider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เป็นผู้ดูแล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Runtime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Middleware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Operating System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Servers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Storage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Networking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ผู้ให้บริการจะจัดการ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การติดตั้งระบบปฏิบัติการ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การอัปเดต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Patch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การดูแลเซิร์ฟเวอร์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การปรับขนาดระบบ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การสำรองข้อมูลบางส่วนตามบริการ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PaaS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ลดภาระการดูแล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Infrastructure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นักพัฒนาไม่ต้อง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ติดตั้ง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Patch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Middleware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ใช้เวลาส่วนใหญ่ไปกับการพัฒนา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High Availability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Scalability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PaaS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ส่วนใหญ่มีความสามารถในตัว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 Scaling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Load Balancing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High Availability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Disaster Recovery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รองรับผู้ใช้งานจำนวนมากได้ง่าย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ตัวอย่างการใช้งาน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(Common Scenarios)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Development Framework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ใช้สำหรับพัฒนาแอปพลิเคชันบน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Mobile Backend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API Services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Internal Business Applications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พัฒนาและ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Deploy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รองรับการขยายระบบอัตโนมัติ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ลดเวลาในการเตรียมสภาพแวดล้อม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Analytics and Business Intelligence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ใช้วิเคราะห์ข้อมูลและสร้างข้อมูลเชิงลึกทางธุรกิจ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Analytics Platform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Warehouse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Business Intelligence Solutions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Machine Learning Services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รองรับข้อมูลจำนวนมาก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มีเครื่องมือวิเคราะห์ในตัว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สามารถขยายทรัพยากรได้ตามปริมาณข้อมูล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PaaS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Azure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 Development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App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Functions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Kubernetes Service (AKS)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&amp; Analytics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SQL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Synapse Analytics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Fabric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Databricks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AI Services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AI Services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OpenAI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Software as a Service (SaaS)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ที่ผู้ใช้สามารถใช้งานซอฟต์แวร์ได้ทันทีผ่านอินเทอร์เน็ต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โดยผู้ให้บริการ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เป็นผู้ดูแลทุกอย่างตั้งแต่แอปพลิเคชันไปจนถึงโครงสร้างพื้นฐาน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"You use the app — the provider handles everything else."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คุณเพียงใช้งานแอปพลิเคชัน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ส่วนผู้ให้บริการดูแลทุกอย่างที่เหลือ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ใครดูแลอะไรบ้าง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(Customer)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หน้าที่หลักคือ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สร้างและจัดการข้อมูล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กำหนดสิทธิ์ผู้ใช้งาน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ดูแลการใช้งานภายในองค์กร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ปฏิบัติตามนโยบายด้านข้อมูลขององค์กร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Provider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Applications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Runtime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Middleware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Operating System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Servers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Storage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Networking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รวมถึง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อัปเดตซอฟต์แวร์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 Patch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Backup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Availability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ตามบริการ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Infrastructure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ทั้งหมด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SaaS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ใช้งานได้ทันที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จัดซื้อ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ติดตั้ง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Software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อัปเดตระบบ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เพียงสมัครใช้งานและ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Login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ก็สามารถใช้งานได้ทันที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เริ่มต้นใช้งานได้รวดเร็ว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ลดภาระงานด้าน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ผู้ให้บริการรับผิดชอบเรื่อง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Update Version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Infrastructure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Performance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สามารถโฟกัสกับงานด้านธุรกิจมากขึ้น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เข้าถึงได้ทุกที่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ใช้งานผ่าน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Browser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Mobile App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Desktop App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รองรับการทำงานแบบ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Hybrid Work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Remote Work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ตัวอย่างการใช้งาน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(Common Scenarios)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Email and Messaging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บริการสื่อสารและการทำงานร่วมกัน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365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Outlook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Teams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Exchange Online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ใช้งานอีเมลและการประชุมออนไลน์ได้ทันที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Mail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Productivity Applications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เครื่องมือสำหรับการทำงานประจำวัน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Word Online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Excel Online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PowerPoint Online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OneDrive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ทำงานร่วมกันแบบ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Real-time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เข้าถึงเอกสารได้ทุกอุปกรณ์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Finance and Expense Tracking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ระบบบริหารการเงินและค่าใช้จ่าย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ERP Cloud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Expense Management Systems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Accounting Applications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ลดภาระการดูแลระบบภายในองค์กร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ใช้งานระบบการเงินที่ทันสมัยได้รวดเร็ว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SaaS ของ Microsoft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365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ประกอบด้วย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Outlook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Teams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Word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Excel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PowerPoint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OneDrive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SharePoint Online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Dynamics 365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CRM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ERP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Customer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Sales Management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Power BI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Dashboard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Reporting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Visualization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B29E-6B084ACCE753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https://learn.microsoft.com/training/paths/azure-fundamentals-describe-azure-architecture-services/</a:t>
            </a:r>
          </a:p>
          <a:p>
            <a:endParaRPr lang="en-US" dirty="0"/>
          </a:p>
          <a:p>
            <a:r>
              <a:rPr lang="en-US" dirty="0"/>
              <a:t>Welcome to Learning Path 2: Describe Azure Architecture and Services.</a:t>
            </a:r>
          </a:p>
          <a:p>
            <a:r>
              <a:rPr lang="en-US" dirty="0"/>
              <a:t>In this learning path, we cover five modules that explore the core architectural components of Azure, compute and networking services, storage services, and identity and security.</a:t>
            </a:r>
          </a:p>
          <a:p>
            <a:r>
              <a:rPr lang="en-US" dirty="0"/>
              <a:t>By the end, you will understand how Azure organizes its infrastructure and the key services available for building cloud solutions.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https://learn.microsoft.com/training/modules/describe-core-architectural-components-of-azure/1-introduction</a:t>
            </a:r>
          </a:p>
          <a:p>
            <a:endParaRPr lang="en-US" dirty="0"/>
          </a:p>
          <a:p>
            <a:r>
              <a:rPr lang="en-US" dirty="0"/>
              <a:t>This module introduces the foundational building blocks of Azure.</a:t>
            </a:r>
          </a:p>
          <a:p>
            <a:r>
              <a:rPr lang="en-US" dirty="0"/>
              <a:t>We will explore how Azure organizes its physical and management infrastructure, from datacenters and regions to resource groups and management groups.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What is Microsoft Azure?</a:t>
            </a:r>
            <a:endParaRPr lang="th-TH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Azure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คือแพลตฟอร์ม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Computing ของ 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ที่ให้บริการ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ครอบคลุมตั้งแต่โครงสร้างพื้นฐาน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การพัฒนาแอปพลิเคชัน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การจัดการข้อมูล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การวิเคราะห์ข้อมูล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ไปจนถึง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Machine Learning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มีบริการมากกว่า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200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โดยแบ่งออกเป็นหมวดหมู่หลักเพื่อรองรับความต้องการขององค์กรทุกขนาด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Compute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บริการด้านการประมวลผลและรันแอปพลิเคชัน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Functions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Container Apps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Kubernetes Service (AKS)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Web Application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รันระบบธุรกิจ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Container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Microservices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Networking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บริการด้านเครือข่ายและการเชื่อมต่อ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Network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Load Balancer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VPN Gateway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ExpressRoute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DNS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เชื่อมต่อระบบภายในองค์กรกับ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จัดการการรับส่งข้อมูล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เพิ่มความปลอดภัยและความเสถียรของเครือข่าย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Storage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บริการจัดเก็บข้อมูล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Blob 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Files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Queue 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Table 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Managed Disks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เก็บไฟล์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Backup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Lake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 Storage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Databases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บริการฐานข้อมูลแบบ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Managed Service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SQL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Cosmos DB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PostgreSQL Flex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MySQL Flex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Redis Cache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ระบบธุรกิจ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เว็บไซต์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Mobile App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ระบบที่ต้องการฐานข้อมูลประสิทธิภาพสูง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5. AI + Machine Learning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Generative AI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OpenAI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AI Services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Machine Learning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Bot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AI Search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Chatbot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Copilot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Image Recognition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Speech Services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Predictive Analytics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ตัวอย่างปัจจุบัน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Copilot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AI Assistant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Document Intelligence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6. Identity + Security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บริการด้านการจัดการตัวตนและความปลอดภัย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Entra ID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Vault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Defender for Cloud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DDoS Protection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Firewall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Single Sign-On (SSO)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Multi-Factor Authentication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Secret Management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Security Monitoring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7. DevOps + Management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บริการสำหรับบริหารจัดการ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และการพัฒนา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Software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DevOps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Monitor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ARM Templates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Policy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Cost Management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CI/CD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Monitoring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Governance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Cost Control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Infrastructure as Code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8. IoT (Internet of Things)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บริการเชื่อมต่ออุปกรณ์อัจฉริยะ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IoT Hub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IoT Central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Digital Twins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Stream Analytics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Event Hubs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Smart Factory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Connected Vehicle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Smart Building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Sensor Monitoring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9. Analytics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บริการวิเคราะห์ข้อมูลขนาดใหญ่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Synapse Analytics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Factory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Databricks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HDInsight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Data Explorer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Warehouse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Business Intelligence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Big Data Analytics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AI Training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10. Integration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บริการเชื่อมต่อระบบต่าง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เข้าด้วยกัน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Logic Apps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API Management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Bus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Event Grid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Notification Hubs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ERP, CRM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Workflow Automation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Event-driven Architecture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สำหรับองค์กร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ธนาคาร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SQL Database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จัดเก็บข้อมูลธุรกรรม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Entra ID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จัดการผู้ใช้งาน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OpenAI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 Assistant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Synapse Analytics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วิเคราะห์ข้อมูลลูกค้า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Logic Apps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เชื่อมต่อระบบภายใน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สำหรับงาน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Copilot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OpenAI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AI Search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AI Services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Databricks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Storage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เป็นบริการหลักที่นิยมใช้สร้าง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 Solutions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Enterprise Copilot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โครงสร้างการจัดการทรัพยากรใน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ซึ่งแบ่งเป็นลำดับชั้น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(Hierarchy)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เพื่อช่วยบริหารจัดการสิทธิ์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การคิดค่าใช้จ่าย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และจัดกลุ่มทรัพยากรได้อย่างเป็นระบบ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Account Scope Levels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มีโครงสร้างหลัก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4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ระดับ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Azure Account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ระดับสูงสุดของการใช้งาน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เป็นบัญชีที่ใช้สมัครบริการ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ใช้บริหาร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ทั้งหมดภายใต้บัญชีเดียว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เชื่อมโยงกับการชำระเงินและการจัดการผู้ใช้งาน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เปรียบเสมือน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เจ้าของบัญชี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Azure"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เป็นหน่วยสำหรับ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แยกการคิดค่าใช้จ่าย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(Billing)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แยกการควบคุมสิทธิ์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(Access Control)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แยกสภาพแวดล้อมการทำงาน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ในตัวอย่างมี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Dev/Test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สำหรับงานพัฒนาและทดสอบ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Production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สำหรับระบบที่ใช้งานจริง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Sandbox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สำหรับการทดลองและเรียนรู้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ประโยชน์ของการแยก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ควบคุมค่าใช้จ่ายได้ชัดเจน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จัดการสิทธิ์แยกตามทีม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ลดความเสี่ยงจากการแก้ไขระบบ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Production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โดยตรง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Resource Groups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สามารถมีหลาย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Group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ใช้สำหรับจัดกลุ่มทรัพยากรที่เกี่ยวข้องกัน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Dev/Test Subscription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Resource Group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Resource Group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SQL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Cosmos DB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Production Subscription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 Resource Group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Function App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API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 Resource Group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Network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NSG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Sandbox Subscription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Testing Resource Group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จัดการทรัพยากรที่เกี่ยวข้องกันในที่เดียว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ลบหรือย้ายทรัพยากรเป็นกลุ่มได้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กำหนดสิทธิ์ได้ระดับกลุ่ม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ง่ายต่อการติดตามต้นทุน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Resources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เป็นทรัพยากรจริงที่ใช้งานบน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Compute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Function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SQL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Cosmos DB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Network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NSG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Account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หลักการสำคัญที่ต้องจำ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Rule 1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Subscriptions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แยก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Billing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Quota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Access Control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ออกจากกันอย่างชัดเจน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Rule 2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 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มีได้หลาย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Groups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Rule 3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 Resource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อยู่ได้ใน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Group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เดียวเท่านั้น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ไม่สามารถอยู่หลาย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Group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พร้อมกันได้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ตัวอย่างในองค์กร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ธนาคาร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Account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├── Production 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 ├── Digital Banking RG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 ├── Customer Data RG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 └── Network RG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├── Development 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 ├── Dev Application RG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 └── Testing RG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└── Sandbox 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└── Innovation Lab RG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  <a:endParaRPr lang="th-TH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โครงสร้างของ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แบ่งเป็น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Account → Subscription → Resource Group → Resources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Account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ใช้บริหารภาพรวม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ใช้แยกค่าใช้จ่ายและสิทธิ์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Group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ใช้จัดกลุ่มทรัพยากร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คือบริการที่ใช้งานจริง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โครงสร้างนี้ช่วยให้องค์กรบริหาร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Environment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ได้อย่างเป็นระเบียบ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ปลอดภัย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และควบคุมต้นทุนได้ดี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โครงสร้างพื้นฐานทางกายภาพของ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โดยเน้นแนวคิด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Region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Availability Zones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ซึ่งเป็นรากฐานสำคัญของความพร้อมใช้งานสูง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(High Availability)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และความทนทานต่อความเสียหาย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(Resiliency)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Region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คืออะไร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คือพื้นที่ทางภูมิศาสตร์ที่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มีศูนย์ข้อมูล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(Datacenters)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ตั้งอยู่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East US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West Europe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Southeast Asia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Japan East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ประกอบด้วย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หลายแห่งที่เชื่อมต่อถึงกันด้วยเครือข่ายความเร็วสูง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Availability Zones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คืออะไร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Availability Zone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คือกลุ่มของ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ที่แยกเป็นอิสระจากกันภายใน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เดียวกัน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ในตัวอย่างมี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Availability Zone 1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ของตนเอง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ระบบไฟฟ้าแยกอิสระ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ระบบระบายความร้อนแยกอิสระ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ระบบเครือข่ายแยกอิสระ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Availability Zone 2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มีโครงสร้างพื้นฐานแยกจาก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อย่างสมบูรณ์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Availability Zone 3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ทำงานเป็นอิสระจาก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อื่น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จุดสำคัญของ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Availability Zones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Independent Power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ระบบไฟฟ้าแยกกัน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Independent Cooling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ระบบระบายความร้อนแยกกัน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Independent Networking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เครือข่ายแยกกัน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ดังนั้นหากเกิดปัญหากับ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หนึ่ง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ไฟดับ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ระบบเครือข่ายล่ม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ภัยธรรมชาติในพื้นที่เฉพาะ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Zone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อื่นยังสามารถให้บริการต่อได้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High-Speed Private Fiber-Optic Network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Availability Zones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เดียวกันถูกเชื่อมต่อด้วย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High-speed Private Fiber-Optic Network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ความเร็วสูง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Latency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Synchronize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ข้อมูลระหว่าง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Isolation Boundary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ทำหน้าที่เป็น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Isolation Boundary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หมายความว่า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หนึ่งล้มเหลว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จะไม่ส่งผลกระทบโดยตรงต่อ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อื่น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จึงสามารถออกแบบระบบแบบ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Active-Active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Active-Passive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Disaster Recovery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ได้อย่างมีประสิทธิภาพ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ตัวอย่างการใช้งาน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Mobile Banking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ติดตั้ง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2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Replication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ระหว่าง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เกิดปัญหา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Traffic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ถูกส่งไปยัง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2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ลูกค้ายังใช้งานได้ตามปกติ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Downtime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ของระบบ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ประโยชน์ทางธุรกิจ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High Availability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ลดการหยุดชะงักของบริการ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SLA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ระดับสูง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Disaster Recovery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ระบบยังทำงานได้เมื่อบางส่วนล้มเหลว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Business Continuity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สนับสนุนการดำเนินธุรกิจอย่างต่อเนื่อง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Risk Reduction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ลดความเสี่ยงจากไฟฟ้าดับ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ลดความเสี่ยงจากปัญหาเครือข่าย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ลดผลกระทบจากภัยพิบัติในพื้นที่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ใช้โครงสร้าง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Region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Availability Zones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เพื่อสร้างระบบ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ที่มีความน่าเชื่อถือสูง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โดยแต่ละ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มีไฟฟ้า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ระบบระบายความร้อน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และเครือข่ายแยกจากกัน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แต่เชื่อมต่อด้วยเครือข่ายใยแก้วนำแสงความเร็วสูง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ทำให้หาก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หนึ่งเกิดปัญหา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อีก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ยังคงให้บริการได้ต่อเนื่อง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โครงสร้างการบริหารจัดการ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(Management Hierarchy) ของ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ซึ่งช่วยให้องค์กรขนาดใหญ่สามารถควบคุม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Governance, Security, Access Control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Cost Management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ได้อย่างเป็นระบบ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ลำดับชั้นการจัดการของ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ใช้โครงสร้างแบบลำดับชั้น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(Hierarchy)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ดังนี้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Tenant Root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├── Management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├── 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├── Resource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└── Resources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Tenant Root Group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เป็นระดับสูงสุดของ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Environment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หน้าที่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เป็นจุดรวมของทุก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ใช้กำหนด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Governance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ระดับองค์กร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ใช้กำหนด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Baseline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ร่วมกัน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บังคับใช้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Multi-Factor Authentication (MFA)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กำหนดนโยบายด้าน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ทั่วทั้งองค์กร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เหมาะสำหรับทีม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Enterprise IT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Management Groups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ใช้จัดกลุ่ม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ตามโครงสร้างธุรกิจ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Marketing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ดูแลระบบของฝ่ายการตลาด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Mobile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ดูแลระบบด้านเทคโนโลยี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Infrastructure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กำหนดนโยบายตามหน่วยงาน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ควบคุมสิทธิ์ตามสายงาน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จำนวนมากได้ง่าย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Subscription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เป็นขอบเขตสำหรับ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Billing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Access Control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Quotas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Marketing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Subscription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Mobile Subscription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Apps Subscription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Servers Subscription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ตัวอย่างการใช้งาน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Subscription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เว็บไซต์องค์กร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Apps Subscription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ระบบธุรกิจ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Servers Subscription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Infrastructure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กลาง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Resource Group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ใช้จัดกลุ่ม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ที่เกี่ยวข้องกัน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Resource Group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ประกอบด้วย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 Resource Group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ประกอบด้วย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 Services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DB Resource Group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ประกอบด้วย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Services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บริหารทรัพยากรเป็นกลุ่ม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กำหนดสิทธิ์ได้ระดับกลุ่ม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ติดตามต้นทุนได้ง่าย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ลบหรือย้ายทรัพยากรเป็นชุดได้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5. Resources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ที่ใช้งานจริง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 (VM)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App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SQL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Account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Network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Policy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Access Inheritance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สไลด์แสดงลูกศรด้านขวา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Policies and Access inherit downward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หมายถึง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นโยบายและสิทธิ์สามารถส่งต่อจากระดับบนลงล่างได้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Tenant Root Group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Logging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นโยบายจะถูกส่งต่อไปยัง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Management Groups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Subscriptions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Resource Groups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Resources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ความสามารถในการทำ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Nested Structure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สูงสุด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6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ชั้นของ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Management Groups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สูงสุด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10,000 Management Groups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Directory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ทำให้องค์กรขนาดใหญ่สามารถออกแบบโครงสร้างได้อย่างยืดหยุ่น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Tenant Root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 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├── Retail Banking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 ├── Mobile Banking 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 └── Branch Systems 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 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├── Corporate Banking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 ├── CRM 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 └── Analytics 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 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└── IT Infrastructure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├── Network 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└── Security Subscription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ประโยชน์ทางธุรกิจ</a:t>
            </a:r>
            <a:endParaRPr lang="th-TH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Governance</a:t>
            </a:r>
            <a:r>
              <a:rPr lang="th-TH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ควบคุมมาตรฐานทั้งองค์กร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</a:t>
            </a:r>
            <a:r>
              <a:rPr lang="th-TH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บังคับใช้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Policy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ส่วนกลาง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Cost Control</a:t>
            </a:r>
            <a:r>
              <a:rPr lang="th-TH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แยกค่าใช้จ่ายตามหน่วยงาน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Scalability</a:t>
            </a:r>
            <a:r>
              <a:rPr lang="th-TH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รองรับองค์กรขนาดใหญ่หลายพัน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Compliance</a:t>
            </a:r>
            <a:r>
              <a:rPr lang="th-TH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ควบคุมการปฏิบัติตามข้อกำหนดได้ง่ายขึ้น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Management Infrastructure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ใช้โครงสร้างลำดับชั้น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Tenant Root Group → Management Group → Subscription → Resource Group → Resources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เพื่อช่วยให้องค์กรสามารถบริหาร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Governance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Access Control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Cost Management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ได้อย่างเป็นระบบ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โดยนโยบายและสิทธิ์สามารถส่งต่อจากระดับบนลงล่าง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ทำให้การควบคุม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Environment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ขนาดใหญ่เป็นเรื่องง่ายและมีมาตรฐาน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https://learn.microsoft.com/training/modules/describe-azure-compute-networking-services/1-introduction</a:t>
            </a:r>
          </a:p>
          <a:p>
            <a:endParaRPr lang="en-US" dirty="0"/>
          </a:p>
          <a:p>
            <a:r>
              <a:rPr lang="en-US" dirty="0"/>
              <a:t>This module focuses on the core compute services available in Azure.</a:t>
            </a:r>
          </a:p>
          <a:p>
            <a:r>
              <a:rPr lang="en-US" dirty="0"/>
              <a:t>We will compare virtual machines, containers, and serverless functions, and explore application hosting options, AI and machine learning services, and IoT capabilities.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305AB-FF2A-5546-35CE-5847411E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93D3F-B9B3-9E4B-1B09-86948D10A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B1973-EF27-718E-8EDB-8BA767ECC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วิธีอ่านชื่อและสเปกของ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Virtual Machine (VM)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โดยใช้ตัวอย่าง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Standard_D2s_v5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ซึ่งแต่ละส่วนของชื่อจะบอกคุณสมบัติของ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โครงสร้างการตั้งชื่อ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Standard_D2s_v5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ส่วน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ความหมาย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DVM Family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2จำนวน vCPU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Premium SSD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v5Hardware Generation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D = VM Family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ตัวอักษรแรกบ่งบอกประเภทหรือกลุ่มของ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D-Series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งานทั่วไป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(General Purpose)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Business 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ขนาดเล็กถึงกลาง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มีความสมดุลระหว่าง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CPU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Memory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Cost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2 = Number of vCPUs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ตัวเลขแสดงจำนวน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Virtual CPU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D2s_v5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= 2 vCPUs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หมายความว่า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เครื่องนี้มีพลังประมวลผลเทียบเท่า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เสมือน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คอร์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โดยทั่วไป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D2 = 2 vCPU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D4 = 4 vCPU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D8 = 8 vCPU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D16 = 16 vCPU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ยิ่งตัวเลขสูง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ประมวลผลได้มากขึ้น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รองรับผู้ใช้งานมากขึ้น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ค่าใช้จ่ายสูงขึ้น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s = Premium Disk Support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ตัวอักษร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หมายถึง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Premium SSD Storage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ความเร็วสูงกว่า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Standard Disk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Latency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ประสิทธิภาพสูงสำหรับระบบ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Production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D2_v5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Premium Disk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D2s_v5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Premium Disk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v5 = Hardware Generation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หมายถึงรุ่นของ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Hardware Platform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Version 5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Generation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ที่ใหม่กว่า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CPU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รุ่นใหม่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ประสิทธิภาพดีขึ้น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รองรับเทคโนโลยีใหม่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Cost Performance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ดีขึ้น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ทำไมต้องรู้วิธีอ่านชื่อ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ช่วยให้สามารถ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เลือกขนาด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ได้เหมาะสม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ประเมินค่าใช้จ่ายได้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เปรียบเทียบสเปกได้รวดเร็ว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เข้าใจความสามารถของ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จากชื่อเพียงอย่างเดียว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28219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อธิบายกลุ่ม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(Family) ของ Azure Virtual Machines (VMs)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ซึ่งถูกออกแบบมาให้เหมาะกับลักษณะงาน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(Workload)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ที่แตกต่างกัน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โดยแต่ละ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Family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จะมีจุดเด่นด้าน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CPU, Memory, Storage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GPU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ที่ต่างกัน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หลักการสำคัญ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เลือก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Family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ให้เหมาะกับลักษณะงาน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เพื่อให้ได้ประสิทธิภาพสูงสุดและคุ้มค่าต่อค่าใช้จ่าย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B-Series (Burstable)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ประหยัดค่าใช้จ่าย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เหมาะกับงานที่ใช้งาน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ไม่สม่ำเสมอ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Burst CPU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ได้เมื่อมีโหลดเพิ่มขึ้นชั่วคราว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Development/Test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ขนาดเล็ก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Workload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ที่ใช้งานไม่ต่อเนื่อง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ราคาประหยัดที่สุด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D-Series (General Purpose)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สมดุลระหว่าง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Memory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รองรับงานทั่วไปได้หลากหลาย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Business 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Enterprise 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ขนาดเล็กถึงกลาง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Family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ที่ใช้งานบ่อยที่สุด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D2s_v5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D4s_v5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D8s_v5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E-Series (Memory Optimized)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Memory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มากเมื่อเทียบกับ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รองรับระบบที่ใช้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RAM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จำนวนมาก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Server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SAP Workloads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Analytics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In-memory Database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เหมาะกับงานที่ต้องการ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RAM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F-Series (Compute Optimized)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สูงเมื่อเทียบกับ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Memory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เหมาะกับงานที่ใช้พลังประมวลผลหนัก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High-performance Computing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Batch Processing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Game Server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Scientific Computing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เหมาะกับงานที่เน้น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 Intensive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5. M-Series (Large Memory)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Memory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ขนาดใหญ่มาก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จำนวน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RAM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SAP HANA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Enterprise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Mission-Critical Applications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Workload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ระดับองค์กรขนาดใหญ่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6. L-Series (Storage Optimized)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ประสิทธิภาพด้าน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IOPS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Latency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Big Data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NoSQL Databases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Warehouses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Transaction-heavy Systems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เหมาะกับงานที่อ่านเขียนข้อมูลจำนวนมาก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7. N-Series (GPU)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GPU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สำหรับการประมวลผลเฉพาะทาง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รองรับงานด้าน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และกราฟิก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Artificial Intelligence (AI)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Machine Learning (ML)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Deep Learning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Video Rendering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3D Visualization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Science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Families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หลายประเภทเพื่อรองรับงานที่แตกต่างกัน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=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ประหยัด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(Burstable)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=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งานทั่วไป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(General Purpose)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=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เน้น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Memory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=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เน้น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= Memory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ขนาดใหญ่มาก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=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เน้น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=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GPU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ML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การเลือก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Family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ที่เหมาะสมจะช่วยให้องค์กรได้รับประสิทธิภาพที่ดีที่สุด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พร้อมควบคุมค่าใช้จ่ายได้อย่างคุ้มค่า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Virtual Desktop (AVD)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Desktop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 Virtualization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Azure ที่ช่วยให้ผู้ใช้สามารถเข้าถึงเครื่องคอมพิวเตอร์และแอปพลิเคชันผ่าน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ได้จากทุกอุปกรณ์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ผู้ใช้งานสามารถเชื่อมต่อผ่าน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Laptop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Tablet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Browser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Mobile Device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โดยไม่จำเป็นต้องติดตั้งระบบงานทั้งหมดไว้บนเครื่องของตนเอง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องค์ประกอบหลักของ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Virtual Desktop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Users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ผู้ใช้งานสามารถเข้าถึง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Virtual Desktop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จากอุปกรณ์ต่าง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Laptop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Tablet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Browser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ทำงานจากที่ใดก็ได้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Hybrid Work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Remote Work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ใช้อุปกรณ์ส่วนตัวเข้าถึงระบบองค์กรได้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Microsoft Entra ID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ทำหน้าที่เป็นระบบ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Authentication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Identity Management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Access Control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และบังคับใช้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 Policies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Conditional Access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Multi-Factor Authentication (MFA)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ควบคุมสิทธิ์ผู้ใช้งาน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Single Sign-On (SSO)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Host Pool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Host Pool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คือกลุ่มของ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Virtual Machines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ที่ให้บริการ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Desktop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ประกอบด้วย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Session Hosts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หลายเครื่องที่รองรับการเชื่อมต่อของผู้ใช้งาน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หน้าที่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Desktop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รองรับผู้ใช้งานหลายคนพร้อมกัน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Desktops and Apps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Desktop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ที่เผยแพร่ให้ผู้ใช้งานเข้าถึง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Windows Desktop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Office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ERP System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CRM System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โปรแกรมเฉพาะทางขององค์กร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Virtual Desktop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Centralized Management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Desktop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ถูกจัดการจากส่วนกลาง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อัปเดตระบบง่าย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ติดตั้งซอฟต์แวร์ครั้งเดียว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ลดภาระทีม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Enhanced Security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ข้อมูลยังอยู่บน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ลดความเสี่ยงข้อมูลรั่วไหล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MFA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Conditional Access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Work from Anywhere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รองรับการทำงานจากทุกสถานที่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Remote Work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Hybrid Work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BYOD (Bring Your Own Device)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Scalability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สามารถเพิ่มหรือลด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Session Host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ตามจำนวนผู้ใช้งาน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รองรับพนักงานตามฤดูกาล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รองรับโครงการระยะสั้น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ควบคุมต้นทุนได้ดีขึ้น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Virtual Desktop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Virtual Desktop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ที่ช่วยให้องค์กรสามารถให้พนักงานเข้าถึง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Desktop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ได้จากทุกอุปกรณ์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Entra ID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ในการควบคุมสิทธิ์และความปลอดภัย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พร้อมบริหารจัดการ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Desktop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จากศูนย์กลางและปรับขนาดระบบได้ตามความต้องการ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Container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โดยแบ่งตามระดับความซับซ้อนและการควบคุม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ตั้งแต่บริการที่เริ่มต้นได้ง่าย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ไปจนถึงบริการที่รองรับการจัดการ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Kubernetes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เต็มรูปแบบ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แนวคิดหลักคือ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ยิ่งต้องการการควบคุมและการจัดการระบบมากขึ้น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ก็จะขยับจาก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ACI → Container Apps → AKS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Azure Container Instances (ACI)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บริการสำหรับรัน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Container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ได้ทันทีโดยไม่ต้องดูแล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Virtual Machine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Container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ได้อย่างรวดเร็ว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ไม่ต้องบริหาร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Kubernetes Cluster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จ่ายตามการใช้งานจริง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งานทดสอบ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Batch Jobs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Automation Tasks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Proof of Concept (PoC)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เริ่มต้นใช้งานง่ายที่สุด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Infrastructure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ให้ดูแล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Deploy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Azure Container Apps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บริการสำหรับรัน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Container Applications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Managed Service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ดูแลเรื่อง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Runtime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Scaling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Load Balancing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ให้โดยอัตโนมัติ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ในสไลด์เรียกว่า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Elastic App Layer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Auto Scaling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Built-in Load Balancing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Microservices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Event-driven Applications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Kubernetes Cluster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โดยตรง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Modern Web 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API Services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Microservices Architecture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Event-driven Applications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ง่ายกว่า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AKS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Scaling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เหมาะกับทีมพัฒนา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Azure Kubernetes Service (AKS)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Kubernetes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แบบเต็มรูปแบบบน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ในสไลด์เรียกว่า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Kubernetes Control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ให้ผู้ใช้งานสามารถควบคุมสภาพแวดล้อม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Kubernetes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ได้อย่างละเอียด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Container Orchestration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Cluster Management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Multi-node Deployment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Rolling Updates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Service Discovery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High Availability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Fleet Lifecycle Management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Enterprise 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Large-scale Microservices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Multi-team Development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Production Workloads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ขนาดใหญ่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ยืดหยุ่นสูงสุด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Kubernetes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มาตรฐาน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เหมาะกับระบบขนาดใหญ่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ข้อจำกัด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ต้องมีความรู้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Kubernetes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การบริหารจัดการซับซ้อนกว่า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ACI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Container Apps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Functions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คือบริการแบบ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Serverless Computing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ของ Microsoft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ที่ช่วยให้สามารถรันโค้ดได้โดยไม่ต้องจัดการ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Infrastructure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แนวคิดสำคัญคือ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"Run code when an event happens."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เขียนโค้ดเฉพาะส่วนที่ต้องการ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และให้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จัดการการทำงาน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การขยายระบบ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และโครงสร้างพื้นฐานทั้งหมด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หลักการทำงานของ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Functions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Functions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ทำงานตามแนวคิด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Event-Driven Architecture</a:t>
            </a: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Trigger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Function Runtime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Output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เมื่อเกิดเหตุการณ์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(Event)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Function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จะถูกเรียกใช้งานอัตโนมัติ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ประมวลผล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Logic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ส่งผลลัพธ์ออกไปยังระบบต่าง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Triggers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ตัวกระตุ้น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Triggers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เป็นเหตุการณ์ที่ใช้เริ่มการทำงานของ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Function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HTTP Trigger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ทำงานเมื่อมี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HTTP Request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เข้ามา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REST API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Webhook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 Integration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นิยมใช้สร้าง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Serverless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Timer Trigger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ทำงานตามเวลาที่กำหนด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ทุกวันเวลา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08:00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ทุกสิ้นเดือน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5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นาที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Scheduled Jobs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Queue Message Trigger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ทำงานเมื่อมีข้อความเข้าคิว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Storage Queue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Bus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Background Processing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Order Processing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Asynchronous Workloads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รองรับระบบขนาดใหญ่และลดภาระระบบหลัก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Function Runtime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เป็นสภาพแวดล้อมที่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ใช้ในการรัน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Function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จัดการให้ทั้งหมด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Provisioning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Scaling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Monitoring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Availability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Auto Scaling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จ่ายตามการใช้งานจริง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ให้ดูแล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รองรับหลายภาษา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C#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Java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JavaScript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TypeScript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Python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PowerShell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Outputs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ผลลัพธ์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หลังจากประมวลผลเสร็จ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Function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สามารถส่งข้อมูลออกไปได้หลายรูปแบบ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API Response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ส่งข้อมูลกลับไปยังผู้เรียก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REST API Response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JSON Output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Write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บันทึกข้อมูลลง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Blob 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Files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Event Publish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Event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ไปยังระบบอื่น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Event Grid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Bus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Event Hubs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Event-driven Architecture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Functions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Serverless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ลดภาระทีม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พัฒนาได้เร็ว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 Scaling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เพิ่มและลดทรัพยากรให้โดยอัตโนมัติ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 Request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ใช้ทรัพยากรน้อย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100,000 Requests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ขยายระบบอัตโนมัติ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Pay-per-Execution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จ่ายเฉพาะตอนที่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Function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คุ้มค่าสำหรับงานที่ไม่ได้ทำงานตลอดเวลา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ตัวอย่างการใช้งานจริง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File Processing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เมื่อมีไฟล์ถูกอัปโหลดเข้า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Blob Storage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Function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แปลงไฟล์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บันทึกผลลัพธ์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Notification System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เมื่อมีคำสั่งซื้อใหม่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Function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ถูกเรียก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Email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SMS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อัปเดตระบบ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CRM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Scheduled Reporting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ทุกวันเวลา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08:00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Function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รวบรวมข้อมูล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สร้างรายงาน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Email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AI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Copilot Integration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เรียก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OpenAI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เรียก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 Models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ประมวลผลข้อความ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เชื่อมต่อระบบภายในองค์กร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นิยมใช้ร่วมกับ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Power Platform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Copilot Studio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กลุ่มบริการด้าน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IoT ของ Microsoft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โดยแบ่งออกเป็น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หมวดหลัก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เพื่อให้องค์กรเลือกใช้ตามความต้องการทางธุรกิจ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เริ่มจาก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"Use Case"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หรือปัญหาที่ต้องการแก้ก่อน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แล้วจึงเลือกบริการ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ที่เหมาะสม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AI Services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สำเร็จรูป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(Prebuilt AI APIs)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มีโมเดล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ที่เตรียมไว้พร้อมใช้งาน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โดยไม่จำเป็นต้องสร้างหรือฝึกโมเดลเอง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ความสามารถหลัก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Language AI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วิเคราะห์ข้อความ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แปลภาษา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สรุปเนื้อหา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Chatbot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Speech AI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แปลงเสียงเป็นข้อความ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(Speech-to-Text)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แปลงข้อความเป็นเสียง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(Text-to-Speech)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Voice Recognition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Vision AI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วิเคราะห์รูปภาพ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ตรวจจับวัตถุ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OCR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อ่านข้อความจากภาพ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Copilot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Customer Service Bot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Document Processing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Image Recognition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AI Services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OpenAI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AI Search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Document Intelligence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Azure Machine Learning (Azure ML)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บริการสำหรับสร้างและบริหารโมเดล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Machine Learning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แบบกำหนดเอง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ความสามารถหลัก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สร้างโมเดลขององค์กรเอง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ฝึกโมเดล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(Train)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ทดสอบและปรับแต่งโมเดล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Deploy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โมเดลไปใช้งานจริง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Performance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ของโมเดล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Predictive Analytics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Credit Scoring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Demand Forecasting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Customer Churn Prediction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Fraud Detection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ตัวอย่างในธุรกิจ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ธนาคาร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สร้างโมเดลเพื่อ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วิเคราะห์ความเสี่ยงสินเชื่อ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ตรวจจับธุรกรรมผิดปกติ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ทำนายโอกาสผิดนัดชำระหนี้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ธุรกิจค้าปลีก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พยากรณ์ยอดขาย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คาดการณ์สต็อกสินค้า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IoT Services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บริการสำหรับเชื่อมต่อและบริหารอุปกรณ์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IoT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ความสามารถหลัก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Connected Devices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Telemetry Collection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Real-time Monitoring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Device Management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Edge Computing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IoT Hub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ศูนย์กลางการเชื่อมต่ออุปกรณ์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IoT Central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แพลตฟอร์ม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IoT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แบบพร้อมใช้งาน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IoT Edge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ประมวลผลข้อมูลที่อุปกรณ์ปลายทาง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(Edge)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Smart Factory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Connected Vehicle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Smart Building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Fleet Management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Industrial Monitoring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การเลือกใช้บริการ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หากต้องการ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AI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สำเร็จรูป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AI Services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Chatbot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OCR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Speech Recognition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Copilot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หากต้องการสร้างโมเดลเฉพาะองค์กร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Azure Machine Learning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ทำนายยอดขาย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วิเคราะห์ความเสี่ยง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ตรวจจับการทุจริต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หากต้องการเชื่อมต่ออุปกรณ์และเซนเซอร์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IoT Services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รถยนต์เชื่อมต่ออินเทอร์เน็ต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โรงงานอัจฉริยะ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ระบบติดตามเครื่องจักร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ตัวอย่างการประยุกต์ใช้งานร่วมกัน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Smart Factory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IoT Services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เก็บข้อมูลจากเครื่องจักร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ML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วิเคราะห์และทำนายการเสียของเครื่องจักร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AI Services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Copilot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ให้ผู้ปฏิบัติงานสอบถามสถานะเครื่องจักรด้วยภาษาธรรมชาติ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ธนาคาร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AI Services → Customer Chatbot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ML → Credit Risk Model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IoT Services → ATM Monitoring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Smart Devices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การนำ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ขึ้นใช้งานบน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แนวทางหลัก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ได้แก่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Machines (VMs)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Containers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App Service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แนวคิดสำคัญของสไลด์คือ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ยิ่งต้องการ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ควบคุมระบบมาก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จะอยู่ทางฝั่ง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Virtual Machines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ยิ่งต้องการ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ลดภาระการดูแลระบบ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จะอยู่ทางฝั่ง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 Service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Virtual Machines (VMs)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ควบคุมระบบปฏิบัติการ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(OS)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ได้เต็มรูปแบบ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สามารถติดตั้งซอฟต์แวร์ได้ตามต้องการ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ปรับแต่งสภาพแวดล้อมได้เองทั้งหมด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Patch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Maintenance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ในสไลด์ระบุว่า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OS and config control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Custom hosting setup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You patch and maintain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Legacy 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Custom Applications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ระบบที่ต้องการควบคุม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โดยละเอียด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Lift-and-Shift Migration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ควบคุมได้สูงสุด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ข้อจำกัด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Infrastructure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เองมากที่สุด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Containers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แยกการทำงานของแต่ละ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ออกจากกัน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(Component Isolation)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Deploy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ได้ง่ายและพกพาได้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(Portable Deployments)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ขยายระบบได้อิสระ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(Independent Scaling)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ในสไลด์ระบุว่า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Component isolation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Portable deployments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Independent scaling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Microservices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API Services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Modern 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DevOps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CI/CD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ยืดหยุ่นสูง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Deploy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ทำงานได้เหมือนกันทุก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Environment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ข้อจำกัด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ต้องเข้าใจ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Container Platform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อาจต้องมี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Kubernetes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หากระบบซับซ้อน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Azure App Service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Managed Platform (PaaS)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Infrastructure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Auto Scaling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High Availability (HA)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CI/CD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ในสไลด์ระบุว่า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Managed platform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Autoscale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and HA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Integrated deployment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REST APIs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Business Applications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แอปที่ต้องการพัฒนาและ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Deploy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อย่างรวดเร็ว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Deploy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Auto Scaling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High Availability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ในตัว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ข้อจำกัด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ควบคุมสภาพแวดล้อมได้น้อยกว่า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ตัวอย่างการเลือกใช้งาน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เว็บไซต์องค์กรทั่วไป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App Service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Microservices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Containers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Docker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Container Apps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AKS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ระบบธุรกิจเดิมที่ต้องใช้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Windows Server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เฉพาะทาง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Virtual Machines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Mobile Banking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Digital Platform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Containers + AKS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App Service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API Services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มีตัวเลือกสำหรับ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Host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หลายรูปแบบ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ควบคุมได้เต็มที่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เหมาะกับระบบเฉพาะทาง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Containers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Modern Applications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Microservices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 Service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Web App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ที่ต้องการความรวดเร็วและลดภาระการดูแลระบบ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https://learn.microsoft.com/training/modules/describe-azure-networking-services/1-introduction</a:t>
            </a:r>
          </a:p>
          <a:p>
            <a:endParaRPr lang="en-US" dirty="0"/>
          </a:p>
          <a:p>
            <a:r>
              <a:rPr lang="en-US" dirty="0"/>
              <a:t>This module introduces Azure networking capabilities for secure communication between Azure resources, on-premises environments, and the internet.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Virtual Network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คือบริการเครือข่ายส่วนตัวบน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ที่ช่วยให้ทรัพยากรต่าง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Virtual Machines, Databases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สามารถสื่อสารกันได้อย่างปลอดภัย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รวมถึงเชื่อมต่อกับอินเทอร์เน็ต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เครือข่ายอื่น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และระบบภายในองค์กร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(On-Premises)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ทำหน้าที่อะไร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ช่วยจัดการด้านเครือข่ายใน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โดยรองรับ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Isolation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แยกเครือข่าย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Segmentation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แบ่งเครือข่ายเป็นส่วนย่อย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Internet Connectivity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เชื่อมต่ออินเทอร์เน็ต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Cross-Network Connectivity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เชื่อมต่อกับเครือข่ายอื่น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องค์กรสามารถสร้าง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แยกสำหรับ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Production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Development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Testing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เพื่อป้องกันการเข้าถึงข้ามระบบโดยไม่จำเป็น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Public Endpoint vs Private Endpoint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Public Endpoint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ทรัพยากรมี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Public IP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เข้าถึงได้จากอินเทอร์เน็ต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Web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ที่ให้บริการภายนอก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Corporate Website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Public API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เข้าถึงได้จากทุกที่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ต้องดูแลด้าน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เพิ่มเติม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Private Endpoint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IP Address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ไม่เปิดออกสู่อินเทอร์เน็ต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สื่อสารภายในเครือข่าย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เท่านั้น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Server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Internal Application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Account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ปลอดภัยกว่า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ลดความเสี่ยงจากการโจมตีภายนอก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Network Security Groups (NSG)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NSG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ทำหน้าที่เป็น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Firewall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ระดับเครือข่าย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ใช้กำหนดกฎการเข้าและออกของข้อมูล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ควบคุมด้วย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Source IP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Destination IP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Port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Protocol</a:t>
            </a: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Peering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Peering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ใช้เชื่อมต่อ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เข้าด้วยกัน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แม้ว่าจะอยู่คนละ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ก็ตาม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Private Backbone Network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ไม่ต้องวิ่งผ่าน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Public Internet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Latency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ปลอดภัยสูง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การเชื่อมต่อกับ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On-Premises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รองรับการเชื่อมต่อระหว่าง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Point-to-Site VPN (P2S)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เชื่อมต่อจากอุปกรณ์ผู้ใช้รายบุคคล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พนักงานทำงานจากบ้าน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Remote Access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เหมาะกับผู้ใช้รายคน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Site-to-Site VPN (S2S)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เชื่อมต่อเครือข่ายทั้งองค์กรกับ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สำนักงานใหญ่เชื่อม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เชื่อมต่อทั้งสาขา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ExpressRoute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การเชื่อมต่อแบบ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Private Dedicated Connection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Public Internet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Bandwidth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Latency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ความปลอดภัยสูง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ธนาคาร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หน่วยงานภาครัฐ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องค์กรขนาดใหญ่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VPN Gateway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คือบริการที่ช่วยเชื่อมต่อเครือข่าย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กับผู้ใช้งานหรือระบบภายนอกผ่านอินเทอร์เน็ตอย่างปลอดภัย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โดยใช้การเข้ารหัสข้อมูล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(Encrypted Tunnel) เพื่อให้ข้อมูลรับส่งได้อย่างปลอดภัยราวกับอยู่ในเครือข่ายเดียวกัน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และเครือข่ายภายนอกผ่าน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VPN Tunnel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ที่เข้ารหัสข้อมูลทั้งหมด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รูปแบบการเชื่อมต่อของ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VPN Gateway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สไลด์แสดง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รูปแบบหลัก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Point-to-Site (P2S)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เชื่อมต่อจากอุปกรณ์ของผู้ใช้รายบุคคลเข้าสู่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Laptop / PC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Internet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VPN Gateway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อุปกรณ์แต่ละเครื่องเชื่อมต่อโดยตรงกับ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VPN Gateway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VPN Client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เชื่อมต่อแบบเข้ารหัส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พนักงานทำงานจากบ้าน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Remote Workers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Mobile Users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ผู้ดูแลระบบ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พนักงานฝ่าย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อยู่ต่างจังหวัด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VPN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ได้อย่างปลอดภัย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Site-to-Site (S2S)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เชื่อมต่อเครือข่ายขององค์กรกับ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สำนักงานใหญ่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(VPN Device)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Internet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VPN Gateway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เชื่อมเครือข่ายทั้งสำนักงาน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VPN Device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Firewall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ผู้ใช้ไม่ต้องเชื่อมต่อ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VPN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ทีละคน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ใช้เทคโนโลยี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IPSec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IKE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สำนักงานสาขา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 Center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Hybrid Cloud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สำนักงานใหญ่มี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Site-to-Site VPN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สามารถเข้าถึงระบบภายในองค์กรได้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Network-to-Network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-to-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Virtual Network 2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แห่งเข้าด้วยกัน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VPN Gateway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Internet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VPN Gateway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</a:t>
            </a: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เข้าด้วยกัน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สื่อสารผ่าน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Private Tunnel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ที่เข้ารหัส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Cross-Region Architecture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Disaster Recovery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Multi-Region Deployment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Global Applications</a:t>
            </a: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Production Environment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อยู่ที่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Southeast Asia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Disaster Recovery Site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อยู่ที่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Japan East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เชื่อมต่อกันด้วย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-to-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VPN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VPN Gateway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เข้ารหัสข้อมูลระหว่างทาง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ป้องกันการดักฟังข้อมูล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รองรับมาตรฐาน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VPN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ระดับองค์กร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Hybrid Cloud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On-Premises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รองรับการย้ายระบบขึ้น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แบบค่อยเป็นค่อยไป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Cost Effective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ค่าใช้จ่ายต่ำกว่า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Private Circuit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เหมาะสำหรับองค์กรขนาดเล็กถึงกลาง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VPN Gateway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เป็นบริการเชื่อมต่อเครือข่ายแบบปลอดภัยผ่าน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VPN Tunnel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รูปแบบสำคัญ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Point-to-Site (P2S)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ผู้ใช้งานรายบุคคลเชื่อมต่อเข้า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Site-to-Site (S2S)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เชื่อมเครือข่ายองค์กรกับ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Network-to-Network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-to-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หลายแห่งเข้าด้วยกัน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ExpressRoute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คือบริการเชื่อมต่อเครือข่ายแบบ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Private Connection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ระหว่างองค์กรและ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โดยไม่ต้องวิ่งผ่าน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Public Internet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ช่วยเพิ่มความเร็ว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ความเสถียร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และความปลอดภัยในการเชื่อมต่อ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วงจรเชื่อมต่อเฉพาะ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(Dedicated Private Connection)"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ระหว่าง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ขององค์กรกับ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Cloud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โครงสร้างการเชื่อมต่อ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สไลด์แสดงการเชื่อมต่อ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ส่วนสำคัญ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Your Network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เครือข่ายองค์กร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ประกอบด้วย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Office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Center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On-Premises Router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เป็นจุดเริ่มต้นของการเชื่อมต่อ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Connectivity Provider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ผู้ให้บริการเครือข่ายที่เชื่อมองค์กรเข้ากับ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ประกอบด้วย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Peering Location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จุดเชื่อมต่อระหว่างองค์กรและ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Network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Cross Connection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วงจรเครือข่ายเฉพาะสำหรับรับส่งข้อมูล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Microsoft Cloud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เชื่อมต่อเข้าถึงบริการของ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ได้โดยตรง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Services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365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Virtual Machines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SQL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Teams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Exchange Online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SharePoint Online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ExpressRoute Circuit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หัวใจสำคัญของบริการคือ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ExpressRoute Circuit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เป็นการเชื่อมต่อแบบ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Private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ExpressRoute Circuit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Network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/ Microsoft 365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ข้อมูลจะวิ่งบนเครือข่ายส่วนตัวของผู้ให้บริการและ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Public Internet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เพิ่มเสถียรภาพ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ExpressRoute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More Reliable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มีความน่าเชื่อถือสูงกว่า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ลดปัญหาจาก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Internet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สาธารณะ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Workload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สำคัญขององค์กร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Mission-Critical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Faster Speeds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ความเร็วสูงกว่า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Bandwidth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รองรับการส่งข้อมูลปริมาณมาก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Analytics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Backup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Consistent Latency (Latency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คงที่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การตอบสนองสม่ำเสมอ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ลดความผันผวนของเครือข่าย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Real-Time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Higher Security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ความปลอดภัยสูงกว่า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ไม่ต้องเปิดการเชื่อมต่อผ่าน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Internet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ลดความเสี่ยงจากการโจมตีภายนอก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เหมาะกับองค์กรที่มีข้อกำหนดด้าน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Compliance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ควรเลือกใช้เมื่อใด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เลือก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VPN Gateway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ต้องการต้นทุนต่ำ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เชื่อมต่อสำนักงานขนาดเล็ก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Remote Access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ทั่วไป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เลือก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ExpressRoute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ระบบสำคัญต่อธุรกิจ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SLA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มีการรับส่งข้อมูลจำนวนมาก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มีข้อกำหนดด้าน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Compliance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ExpressRoute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คือบริการเชื่อมต่อเครือข่ายส่วนตัวระหว่างองค์กรกับ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ที่ไม่ผ่าน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Public Internet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ช่วยให้ได้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ความเร็วสูงกว่า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Latency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คงที่กว่า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ความปลอดภัยสูงกว่า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ความน่าเชื่อถือสูงกว่า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จึงเหมาะสำหรับองค์กรขนาดใหญ่และระบบที่มีความสำคัญต่อธุรกิจ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DNS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Domain Name System (DNS)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ที่ทำหน้าที่แปลงชื่อโดเมน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www.contoso.com)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IP Address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เพื่อให้ผู้ใช้งานสามารถเข้าถึงเว็บไซต์หรือบริการต่าง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DNS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ช่วยให้การค้นหาโดเมนทำได้รวดเร็ว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เชื่อถือได้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และกระจายการให้บริการทั่วโลกผ่าน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Global Network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DNS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ทำงานอย่างไร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จากตัวอย่างในสไลด์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User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Query: www.contoso.com ?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Response: 10.0.1.5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เมื่อผู้ใช้พิมพ์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www.contoso.com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จะค้นหา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IP Address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ที่ตรงกับโดเมนนั้น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และส่งกลับ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10.0.1.5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เพื่อให้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Browser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เชื่อมต่อไปยังปลายทางได้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DNS Global Infrastructure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มีเซิร์ฟเวอร์กระจายอยู่ทั่วโลก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US West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Europe West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Asia East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ทุกแห่งเชื่อมต่อผ่าน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Global Network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Anycast Routing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หัวใจของ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DNS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Anycast Routing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เมื่อผู้ใช้ส่ง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DNS Query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จะส่งคำขอไปยัง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DNS Server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ที่ใกล้และพร้อมใช้งานที่สุด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ผู้ใช้ในประเทศไทย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Query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ถูกส่งไปยัง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DNS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ในเอเชีย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ผู้ใช้ในยุโรป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Query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ถูกส่งไปยัง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DNS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ในยุโรป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ตอบสนองเร็วขึ้น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Latency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เพิ่มความน่าเชื่อถือ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รองรับผู้ใช้ทั่วโลก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DNS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High Availability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กระจายทั่วโลก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ลดความเสี่ยงจากจุดล้มเหลวเดียว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(Single Point of Failure)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รองรับการใช้งานระดับ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Enterprise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Fast Resolution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Anycast Routing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ค้นหา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ได้รวดเร็ว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ลดเวลาโหลดเว็บไซต์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Global Scale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เว็บไซต์ระดับโลก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Cloud Applications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Enterprise Services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Integration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เชื่อมต่อกับบริการ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Virtual Machines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App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Load Balancer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Traffic Manager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ตัวอย่างการใช้งานจริง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Corporate Website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www.company.com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 Service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ทำหน้าที่นำผู้ใช้งานไปยังเว็บไซต์ขององค์กร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Multi-Region Application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Users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ที่ใกล้ที่สุด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ช่วยเพิ่มประสิทธิภาพการเข้าถึงบริการ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ที่ช่วยแปลงชื่อโดเมนเป็น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IP Address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Global Network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Anycast Routing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เพื่อส่ง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Query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ไปยัง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DNS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ที่ใกล้ที่สุด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ทำให้การเข้าถึงเว็บไซต์และแอปพลิเคชันมีความรวดเร็ว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เสถียร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และรองรับผู้ใช้งานทั่วโลก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https://learn.microsoft.com/training/modules/describe-azure-storage-services/1-introduction</a:t>
            </a:r>
          </a:p>
          <a:p>
            <a:endParaRPr lang="en-US" dirty="0"/>
          </a:p>
          <a:p>
            <a:r>
              <a:rPr lang="en-US" dirty="0"/>
              <a:t>This module introduces Azure storage services, covering storage accounts, redundancy options, the different storage services available, and tools for migrating and moving data.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Storage Account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ซึ่งเป็นบริการศูนย์กลางสำหรับจัดเก็บข้อมูลบน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โดยรองรับข้อมูลหลายรูปแบบ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และมีตัวเลือกการทำสำเนาข้อมูล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(Redundancy)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เพื่อเพิ่มความทนทานและความพร้อมใช้งาน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Account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เปรียบเสมือน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กล่องเก็บข้อมูลหลัก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ที่สามารถเก็บไฟล์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NoSQL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ข้อความคิว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Lake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ภายใต้บัญชีเดียว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Storage Account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คืออะไร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Account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Container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ระดับบนสุดที่ใช้จัดเก็บบริการ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 ของ Azure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ชื่อบัญชีต้องไม่ซ้ำกันทั่ว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(Globally Unique)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ใช้ตัวอักษรพิมพ์เล็กและตัวเลข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ความยาว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3-24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ตัวอักษร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Storage Services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Account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Account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หนึ่งบัญชีสามารถมีบริการได้หลายประเภท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A. Blob Storage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สำหรับจัดเก็บข้อมูลแบบ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Object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Files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Images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Videos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Backups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Lake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นามสกุลที่เกี่ยวข้อง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.blob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.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dfs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เก็บรูปภาพเว็บไซต์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เก็บไฟล์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PDF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 Lake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Analytics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B. Azure Files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File Share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SMB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NFS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Shared Folder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File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Lift-and-Shift File Share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C. Queue Storage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บริการจัดเก็บข้อความแบบ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Queue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Async Messaging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Decoupled Systems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 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Queue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 B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Event-Driven Architecture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รองรับระบบขนาดใหญ่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D. Table Storage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ฐานข้อมูล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NoSQL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Key-Value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Telemetry Data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IoT Data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Application Metadata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ข้อมูลที่ต้องการ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Scale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Blobไฟล์และ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Object Data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FilesShared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Files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Queueข้อความสำหรับระบบ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Async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TableNoSQL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Structured Data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Redundancy Options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การทำสำเนาข้อมูล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มีตัวเลือกการทำสำเนาเพื่อป้องกันข้อมูลสูญหาย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LRS (Locally Redundant Storage)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ชุดภายใน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ต้นทุนต่ำ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Hardware Failure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Durability: 11 Nines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ZRS (Zone-Redundant Storage)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เก็บข้อมูลข้าม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Availability Zones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ล่มบางส่วน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High Availability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Durability: 12 Nines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GRS (Geo-Redundant Storage)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ทำสำเนาข้อมูลไปยัง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อื่น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Disaster Recovery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Regional Failure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Durability: 16 Nines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GZRS (Geo-Zone Redundant Storage)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รวมข้อดีของ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ZRS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ป้องกันทั้งระดับ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Durability: 16 Nines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RA-GRS (Read Access GRS)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เหมือน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GRS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แต่สามารถอ่านข้อมูลจาก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สำรองได้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Read Access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ระหว่างเหตุขัดข้อง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RA-GZRS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ระดับสูงสุด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Zone Protection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Regional Protection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Read Access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สำรอง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Durability: 16 Nines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ตัวอย่างทางธุรกิจ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Mobile Banking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Transaction Logs → Blob 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Event Messages → Queue 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Customer Documents → Blob 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Metadata → Table Storage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เลือก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GZRS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RA-GZRS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Business Continuity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Storage Account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เป็นศูนย์กลางสำหรับจัดเก็บข้อมูลบน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โดยรองรับบริการหลัก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4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Blob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ไฟล์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,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รูปภาพ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, Data Lake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Files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File Share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Queue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Message Queue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Table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NoSQL Data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พร้อมตัวเลือก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Redundancy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หลายระดับตั้งแต่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LRS, ZRS, GRS, GZRS, RA-GRS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RA-GZRS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เพื่อเพิ่มความทนทานและความพร้อมใช้งานของข้อมูล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Durability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คืออะไร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Durability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วัดความน่าจะเป็นที่ข้อมูลจะ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ไม่สูญหาย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ภายในระยะเวลาหนึ่ง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โดยทั่วไปคิดเป็นรายปี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ยิ่งมีเลข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9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มากเท่าไร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โอกาสข้อมูลสูญหายยิ่งน้อยลงเท่านั้น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11 Nines</a:t>
            </a:r>
            <a:r>
              <a:rPr lang="th-TH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99.999999999%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ตัวเลือกการทำสำเนาข้อมูล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(Redundancy) ของ Azure Storage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ซึ่งช่วยป้องกันข้อมูลสูญหายจากความเสียหายของฮาร์ดแวร์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, Data Center, Availability Zone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หรือแม้กระทั่งทั้ง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LRS (Locally Redundant Storage)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การทำงาน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สำเนา</a:t>
            </a:r>
            <a:r>
              <a:rPr lang="th-TH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อยู่ภายใน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เดียวกัน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Datacenter 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 Copy 1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 Copy 2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└─ Copy 3</a:t>
            </a:r>
          </a:p>
          <a:p>
            <a:pPr fontAlgn="t"/>
            <a:endParaRPr lang="th-TH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ต้นทุนต่ำที่สุด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Disk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เสีย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ล่ม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Durability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11 Nines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= 99.999999999%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ZRS (Zone-Redundant Storage)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การทำงาน</a:t>
            </a:r>
            <a:r>
              <a:rPr lang="th-TH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เก็บข้อมูลกระจายไปยัง</a:t>
            </a:r>
            <a:r>
              <a:rPr lang="th-TH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 Availability Zones</a:t>
            </a:r>
            <a:r>
              <a:rPr lang="th-TH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เดียวกัน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Zone 1 ─ Copy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Zone 2 ─ Copy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Zone 3 ─ Copy</a:t>
            </a:r>
          </a:p>
          <a:p>
            <a:pPr fontAlgn="t"/>
            <a:endParaRPr lang="th-TH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ล่ม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High Availability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ข้อมูลยังใช้งานได้แม้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หนึ่งล้ม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ยังอยู่ใน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Durability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12 Nines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= 99.9999999999%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GRS (Geo-Redundant Storage)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การทำงาน</a:t>
            </a:r>
            <a:r>
              <a:rPr lang="th-TH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LRS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ทั้งใน</a:t>
            </a:r>
            <a:r>
              <a:rPr lang="th-TH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Primary Region</a:t>
            </a:r>
            <a:r>
              <a:rPr lang="th-TH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Secondary Region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Primary Region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 Copy 1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 Copy 2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└─ Copy 3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 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 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Secondary Region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 Copy 4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 Copy 5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└─ Copy 6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รวมอย่างน้อย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6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สำเนา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Regional Disaster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Disaster Recovery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ใช้งานข้าม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Durability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16 Nines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= 99.99999999999999%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RA-GRS (Read-Access Geo-Redundant Storage)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เหมือน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GRS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แต่เพิ่มความสามารถ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Read Access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สามารถอ่านข้อมูลจาก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Secondary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ก่อนเกิด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Failover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ลดภาระ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Primary Region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เพิ่มความพร้อมใช้งาน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Reporting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Secondary Site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5. GZRS (Geo-Zone Redundant Storage)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รวมข้อดีของ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ZRS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GRS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การทำงาน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Primary Region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 Zone 1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 Zone 2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└─ Zone 3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 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 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Secondary Region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└─ Replicated Copy</a:t>
            </a:r>
          </a:p>
          <a:p>
            <a:pPr fontAlgn="t"/>
            <a:endParaRPr lang="th-TH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Zone Failure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Regional Failure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Disaster Recovery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Durability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16 Nines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6. RA-GZRS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ระดับสูงสุดของ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Storage Redundancy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ได้ทุกอย่างจาก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GZRS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Read Access Secondary Region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Mission-Critical Systems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Banking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Financial Services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Healthcare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Global Applications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สรุปบริการจัดเก็บข้อมูลหลักของ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ที่ออกแบบมาให้รองรับข้อมูลหลายประเภท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โดยเลือกใช้ตามลักษณะงานและรูปแบบข้อมูล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Azure Blobs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บริการจัดเก็บข้อมูลแบบ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Object Storage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รูปภาพ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วิดีโอ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เอกสาร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Backup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Log Files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Lake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เก็บข้อมูลได้ขนาดใหญ่มาก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Lake Storage Gen2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Big Data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Analytics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เก็บเอกสารลูกค้า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เก็บไฟล์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PDF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เก็บภาพจากเว็บไซต์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Lake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Power BI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Fabric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Azure Files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File Share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Protocol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SMB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NFS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ใช้งานเหมือน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Network Drive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เข้าถึงได้ทั้ง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On-Premises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ใช้แทน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File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แบบเดิมได้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Shared Drive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แผนกบัญชีแชร์เอกสารร่วมกัน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Lift-and-Shift File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ขึ้น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Azure Queues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Message Queue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Asynchronous Processing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Event-Driven Systems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Background Jobs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ลดการเชื่อมต่อแบบตรงระหว่างระบบ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รองรับระบบขนาดใหญ่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ข้อความได้สูงสุด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64 KB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Message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Application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Queue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Background Processor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ระบบรับคำสั่งซื้อ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ระบบส่ง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Email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ระบบสร้างรายงาน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Azure Disks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Virtual Machines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Block-Level Storage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Hard Disk ของ VM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จัดการทั้งหมด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OS Disk ของ VM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Disk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 Disk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5. Azure Tables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ฐานข้อมูลแบบ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NoSQL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ลักษณะข้อมูล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Structured Data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Non-relational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Scale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ราคาประหยัด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Key-Value Storage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IoT Data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Metadata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Session Data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Telemetry Data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วิธีการย้ายข้อมูลและระบบขึ้น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โดยแบ่งเป็น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แนวทางหลักตามขนาดข้อมูลและรูปแบบการเชื่อมต่อ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Azure Migrate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Migrate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เป็นบริการสำหรับย้ายระบบขึ้น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ผ่านเครือข่าย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(Online Migration)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 "Discover → Assess → Migrate"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ช่วยให้องค์กรสามารถสำรวจ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และย้ายระบบจาก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On-Premises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ไปยัง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ผ่านเครื่องมือเดียว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คุณสมบัติหลัก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Discovery and Assessment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สำรวจระบบเดิมก่อนย้าย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Inventory Server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Dependence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ประเมินทรัพยากรที่ต้องใช้บน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ประมาณค่าใช้จ่าย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ลดความเสี่ยงก่อนการ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Migration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Server Migration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ขึ้น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Windows Server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Linux Server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VMware VM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Hyper-V VM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Lift-and-Shift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Migration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ย้ายฐานข้อมูลไป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SQL Server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MySQL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PostgreSQL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Downtime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ระหว่างการย้าย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App Migration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Web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ขึ้น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IIS Web Application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ASP.NET Applications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ปรับไปใช้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App Service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ISV Tool Integration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รองรับการทำงานร่วมกับเครื่องมือ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Migration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จากผู้ผลิตรายอื่น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เพิ่มทางเลือกในการย้ายระบบ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Center Migration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Hybrid Cloud Transformation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Azure Data Box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Data Box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เป็นเครื่อง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Appliance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จัดส่งให้ลูกค้า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เพื่อนำไปคัดลอกข้อมูลขนาดใหญ่และส่งกลับไปยัง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ส่งฮาร์ดดิสก์แทนส่งข้อมูลผ่านอินเทอร์เน็ต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คุณสมบัติหลัก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Offline Bulk Data Transfer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ใช้สำหรับย้ายข้อมูลขนาดใหญ่มาก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หลายสิบเทราไบต์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หลายร้อยเทราไบต์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การส่งผ่านอินเทอร์เน็ตใช้เวลานานเกินไป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ความจุ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ในสไลด์ระบุ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สูงสุดประมาณ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80 TB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ต่ออุปกรณ์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การใช้งาน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สั่ง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Data Box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ส่งอุปกรณ์มาให้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คัดลอกข้อมูลลงเครื่อง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ส่งกลับ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Upload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ข้อมูลเข้าสู่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กรณีใช้งาน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One-time Bulk Migration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ย้ายข้อมูลจำนวนมากครั้งเดียว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Archive Files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Lake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Backup Data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Periodic Large Upload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มีข้อมูลจำนวนมากต้องส่งขึ้น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เป็นประจำ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Media Files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Scientific Data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Manufacturing Data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Export from Azure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ส่งข้อมูลออกจาก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กลับมายังองค์กร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การเข้ารหัสข้อมูล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การติดตามสถานะผ่าน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Portal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การลบข้อมูลตามมาตรฐาน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NIST 800-88r1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ตัวอย่างในธุรกิจ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ขึ้น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Azure Migrate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ใช้ย้าย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ย้าย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Lake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ขนาด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50 TB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Azure Data Box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เพราะการ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Upload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Internet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อาจใช้เวลาหลายสัปดาห์หรือหลายเดือน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มีเครื่องมือ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Migration 2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กลุ่มหลัก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Migrate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สำหรับย้าย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ผ่านเครือข่ายแบบ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Online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Data Box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สำหรับย้าย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ข้อมูลขนาดใหญ่มาก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ระดับหลายสิบ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TB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ขึ้นไป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ผ่านอุปกรณ์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จัดส่งให้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การย้ายข้อมูล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(File Movement)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ระหว่างเครื่องคอมพิวเตอร์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, On-Premises Storage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Storage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โดยแต่ละเครื่องมือเหมาะกับรูปแบบการใช้งานที่แตกต่างกัน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AzCopy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AzCopy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เป็นเครื่องมือแบบ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Command Line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สำหรับคัดลอกและซิงค์ข้อมูลระหว่าง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Storage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Upload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Download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ไฟล์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คัดลอกข้อมูลระหว่าง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Accounts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รองรับการทำงานอัตโนมัติผ่าน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Script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ประสิทธิภาพสูงสำหรับข้อมูลจำนวนมาก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รองรับการย้ายข้อมูลข้าม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Provider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บางประเภท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รูปแบบการซิงค์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One-way Synchronization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Source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Destination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ข้อมูลจะไหลทางเดียวจากต้นทางไปปลายทาง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Migration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Batch Transfer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Scheduled Jobs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Automation Scripts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DevOps Workflows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เร็วที่สุด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Automation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เหมาะกับข้อมูลจำนวนมาก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Azure Storage Explorer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Explorer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เป็นโปรแกรม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GUI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สำหรับบริหารจัดการ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Graphical User Interface (GUI)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ใช้งานได้บน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Windows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macOS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Linux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AzCopy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เบื้องหลังในการรับส่งข้อมูล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Blob, File Share, Queue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Table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ผู้ดูแลระบบ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นักพัฒนา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ผู้ที่ไม่ต้องการใช้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Command Line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Drag &amp; Drop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ไฟล์เข้า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Blob Storage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ดาวน์โหลดไฟล์จาก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Files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Queue Messages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มีเครื่องมือย้ายและจัดการไฟล์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ประเภทหลัก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AzCopy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Command Line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สำหรับการย้ายข้อมูลและ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Automation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Explorer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GUI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Storage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File Sync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ซิงค์ไฟล์ระหว่าง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On-Premises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Files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มองเห็นข้อมูลแบบ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Visual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ไม่ต้องจำคำสั่ง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Azure File Sync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File Sync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เป็นบริการสำหรับซิงค์ไฟล์ระหว่าง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File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ภายในองค์กรกับ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Files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คุณสมบัติ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Bi-directional Sync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Cloud Tiering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SMB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NFS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FTPS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Multi-site Caching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รูปแบบการซิงค์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File Server 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↕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Files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↕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File Server B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ซิงค์สองทางอัตโนมัติ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Tiering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ไฟล์ที่ใช้งานบ่อย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เก็บไว้ใน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Local Server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ไฟล์ที่ใช้งานไม่บ่อย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ลดพื้นที่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มองเห็นเป็นไฟล์เดียวกันทั้งหมด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Hybrid Cloud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Branch Office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File Server Modernization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Distributed Office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สำนักงานใหญ่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+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สาขา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สำนักงานใหญ่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↕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Files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↕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สาขา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 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ทุกสาขาเห็นไฟล์ชุดเดียวกัน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https://learn.microsoft.com/training/modules/describe-azure-identity-access-security/1-introduction</a:t>
            </a:r>
          </a:p>
          <a:p>
            <a:endParaRPr lang="en-US" dirty="0"/>
          </a:p>
          <a:p>
            <a:r>
              <a:rPr lang="en-US" dirty="0"/>
              <a:t>This module covers Azure identity, access management, and security services.</a:t>
            </a:r>
          </a:p>
          <a:p>
            <a:r>
              <a:rPr lang="en-US" dirty="0"/>
              <a:t>We will explore directory services, authentication methods, access controls, security models, and threat protection capabilities.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Entra ID Ecosystem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ซึ่งเป็นศูนย์กลางด้าน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Identity and Access Management (IAM)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ของ Microsoft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ใช้สำหรับการยืนยันตัวตน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การจัดการสิทธิ์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การเชื่อมต่อแอปพลิเคชัน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และการบริหารอุปกรณ์ในองค์กร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Entra ID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คืออะไร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Entra ID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ชื่อเดิม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Active Directory)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Identity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Access Management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(Users)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ผู้ดูแลระบบ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(IT Administrators)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นักพัฒนา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(App Developers)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ผู้ใช้งานบริการ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(Subscribers)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ความสามารถหลักของ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Entra ID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Authentication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การยืนยันตัวตน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ทำหน้าที่ตรวจสอบว่าผู้ใช้เป็นใคร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ในสไลด์แสดง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MFA (Multi-Factor Authentication)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Password Reset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Smart Lockout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Banned Passwords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ผู้ใช้ล็อกอิน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365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ใส่รหัสผ่าน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ยืนยันผ่านมือถือ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เข้าถึงระบบได้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ลดความเสี่ยงจากรหัสผ่านรั่วไหล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Zero Trust Security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Single Sign-On (SSO)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ผู้ใช้ล็อกอินครั้งเดียว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แล้วสามารถใช้งานได้หลายระบบ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One identity, many apps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Login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เพียงครั้งเดียวแล้วเข้าใช้งาน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Outlook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Teams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SharePoint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Salesforce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ServiceNow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ได้ทันที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ลดจำนวนรหัสผ่าน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Productivity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ลดภาระ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Help Desk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App Management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จัดการการเข้าถึง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ตัวอย่างในสไลด์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SaaS 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 Proxy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My Apps Portal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ควบคุมสิทธิ์การเข้าถึงระบบ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เชื่อมต่อแอปภายนอก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จัดการแอปทั้งหมดจากส่วนกลาง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Device Management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จัดการอุปกรณ์ที่เชื่อมต่อกับองค์กร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Device Registration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Intune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Device-based Conditional Access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องค์กรกำหนดว่า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เข้าถึงข้อมูลลูกค้าได้เฉพาะจาก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Notebook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ของบริษัท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Entra ID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จะตรวจสอบสถานะอุปกรณ์ก่อนอนุญาตเข้าใช้งาน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Hybrid Work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BYOD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ควบคุมความปลอดภัยอุปกรณ์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Entra Connect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บริการเชื่อมต่อระหว่าง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On-Premises Active Directory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Entra ID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หน้าที่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Sync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ข้อมูลผู้ใช้งาน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On-Prem AD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↕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Entra Connect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↕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Entra ID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พนักงานถูกสร้างใน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Active Directory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บัญชีถูกซิงค์ไป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365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Hybrid Identity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ผู้ใช้ใช้งานบัญชีเดียวกัน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ลดการบริหารจัดการซ้ำซ้อน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Entra Domain Services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Domain Services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Managed Service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Kerberos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LDAP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NTLM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เดิมที่ยังต้องพึ่งพา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Domain Join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LDAP Authentication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Windows Integrated Authentication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องค์กรไม่ต้องสร้าง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Domain Controller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ดูแลให้ทั้งหมด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Domain Services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Availability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Patch Management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Legacy Application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LDAP Authentication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สามารถใช้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Microsoft Entra Domain Services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โดยไม่ต้องติดตั้ง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Active Directory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กลุ่มผู้ใช้งานในระบบ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IT Administrators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ใช้จัดการ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User Accounts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 Policies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MFA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Conditional Access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 Developers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ใช้พัฒนา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Modern Authentication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OAuth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OpenID Connect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Users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Login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Single Sign-On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Self-service Password Reset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Subscribers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ใช้บริหาร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Resources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วิธีการยืนยันตัวตน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(Authentication)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รูปแบบ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ได้แก่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Password Only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Multi-Factor Authentication (MFA)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Passwordless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Authentication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โดยพิจารณาทั้งด้าน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ความปลอดภัย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(Security)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ความสะดวกในการใช้งาน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(Convenience)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Password Only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การยืนยันตัวตนด้วยรหัสผ่านเพียงอย่างเดียว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ใช้ปัจจัยเดียว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(1 Factor)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Something You Know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Password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PIN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ไม่ต้องใช้อุปกรณ์เพิ่มเติม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ข้อเสีย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Phishing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ถูกเดารหัสผ่านได้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มักมีการใช้รหัสผ่านซ้ำหลายระบบ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Multi-Factor Authentication (MFA)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การยืนยันตัวตนมากกว่า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ปัจจัย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ปัจจัยขึ้นไป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Something You Know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+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Something You Have / Are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Password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โทรศัพท์มือถือ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Authenticator App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Biometric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Password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+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Authenticator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Password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+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Fingerprint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Credential Attacks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ได้ส่วนใหญ่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Password Leak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เป็นมาตรฐานความปลอดภัยปัจจุบัน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ข้อเสีย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มีขั้นตอนเพิ่มขึ้น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ผู้ใช้ต้องยืนยันตัวตน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ครั้ง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Passwordless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Authentication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การยืนยันตัวตนโดยไม่ใช้รหัสผ่าน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Something You Have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+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Something You Are / Know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Smartphone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Windows Hello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Biometrics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FIDO2 Security Key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Authenticator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Approve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บนมือถือ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โดยไม่ต้องกรอกรหัสผ่าน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FIDO2 Security Key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เสียบ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Hardware Key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Login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Password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ให้ขโมย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Phishing Attack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Login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เร็วกว่า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MFA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แบบเดิม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สะดวกกว่า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ข้อเสีย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ต้องมีอุปกรณ์รองรับ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ต้องมีการตั้งค่าล่วงหน้า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Entra External ID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ที่ช่วยให้องค์กรสามารถทำงานร่วมกับบุคคลภายนอกองค์กรได้อย่างปลอดภัย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โดยไม่จำเป็นต้องสร้างบัญชีพนักงานใหม่ทุกครั้ง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กลุ่มผู้ใช้งานภายนอกที่รองรับ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ได้แก่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คู่ค้า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(Partners)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ผู้ขาย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(Vendors)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ซัพพลายเออร์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(Suppliers)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(Customers)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องค์กรภายนอกอื่น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B2B Collaboration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ใช้สำหรับเชิญบุคคลภายนอกเข้ามาทำงานร่วมกันภายใน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Tenant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ลักษณะการทำงาน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Partner / Vendor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Invitation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Your Tenant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Guest User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เมื่อเชิญเข้ามา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ผู้ใช้ภายนอกยังใช้บัญชีเดิมของตัวเอง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ปรากฏใน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Tenant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ในรูปแบบ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Guest User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องค์กรเป็นผู้กำหนดสิทธิ์การเข้าถึง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บริษัท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เชิญบริษัท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เข้ามาใช้งาน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Teams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SharePoint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OneDrive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โดยไม่ต้องสร้างบัญชีพนักงานใหม่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ทำงานร่วมกับ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Partner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ควบคุมสิทธิ์ได้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ลดการสร้างบัญชีซ้ำซ้อน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B2B Direct Connect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ใช้สำหรับความร่วมมือระหว่าง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องค์กรที่มี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Entra ID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Tenant 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↔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Tenant B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ทำงานร่วมกันโดยตรง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Mutual Two-Way Trust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Teams Shared Channels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สามารถแชร์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Channel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Tenant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โดยผู้ใช้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ไม่ต้องสลับ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Tenant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ไม่ต้องเพิ่มเป็น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Guest User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ระบุว่า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Seamless Cross-Tenant Collaboration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Not in Directory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กล่าวคือ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ผู้ใช้อีกฝั่งไม่จำเป็นต้องถูกสร้างเป็น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Guest User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Directory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บริษัทแม่กับบริษัทลูก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Teams Shared Channel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ร่วมกันได้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โดยใช้บัญชีเดิมของแต่ละองค์กร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External ID for Customers (CIAM)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ใช้สำหรับจัดการตัวตนของลูกค้า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(Customer Identity and Access Management)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กลุ่มผู้ใช้งาน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Consumers of your app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ลูกค้าเว็บไซต์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Mobile App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สมาชิกบริการออนไลน์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ลักษณะการทำงาน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Customer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Sign Up / Sign In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Your Application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Email Login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Google Account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Facebook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Account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Social Identity Providers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แอปธนาคาร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ลูกค้าสมัครสมาชิกและ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Login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Email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Social Login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OTP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ได้โดยใช้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External ID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ในสไลด์ระบุ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Your Published Apps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SaaS Application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Custom Application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แยกจาก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Tenant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ข้อมูลลูกค้าอยู่ใน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Separate Tenant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เพื่อแยกจากระบบพนักงานภายในองค์กร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เปรียบเทียบทั้ง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รูปแบบ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รูปแบบ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กลุ่มเป้าหมาย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Stored As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B2B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CollaborationPartner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,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VendorGuest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User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B2B Direct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Connectองค์กรอื่นไม่ต้องสร้าง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Guest User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External ID for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Customersลูกค้าSeparate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External ID Tenant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ตัวอย่างในองค์กร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B2B Collaboration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เชิญบริษัท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Outsource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เข้าถึง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Teams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SharePoint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Guest Account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B2B Direct Connect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บริษัทแม่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↔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บริษัทลูก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Shared Channel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ร่วมกัน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โดยไม่ต้องสร้าง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Guest User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External ID for Customers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Mobile Banking App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ให้ลูกค้าสมัครสมาชิกและยืนยันตัวตนผ่านระบบของธนาคาร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วิธีจำสำหรับ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AZ-900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ต้องการเชิญ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Partner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เข้ามาทำงาน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B2B Collaboration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ต้องการเชื่อมต่อกับอีกองค์กรผ่าน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Teams Shared Channel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B2B Direct Connect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ต้องการบริหารบัญชีลูกค้าของ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Application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External ID for Customers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Entra External ID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รองรับการทำงานกับผู้ใช้งานภายนอก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รูปแบบหลัก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B2B Collaboration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เชิญคู่ค้าเข้ามาเป็น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Guest User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B2B Direct Connect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เชื่อมต่อองค์กรต่อองค์กรผ่าน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Shared Channels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External ID for Customers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จัดการบัญชีลูกค้าของแอปพลิเคชัน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ช่วยให้องค์กรสามารถขยายการทำงานร่วมกับบุคคลภายนอกได้อย่างปลอดภัย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พร้อมยังคงควบคุมสิทธิ์การเข้าถึงและนโยบายความปลอดภัยจากส่วนกลาง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Conditional Access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คือเครื่องมือด้านความปลอดภัยของ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Entra ID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ที่ใช้ควบคุมการเข้าถึงระบบแบบ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"If-Then" Policy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แนวคิดสำคัญคือ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ตรวจสอบเงื่อนไข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(Signals) →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ตัดสินใจ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(Decision) →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บังคับใช้นโยบาย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(Enforcement)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หรือมักเรียกว่า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"Identity-driven Security"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ไม่ใช่ทุกคนจะได้รับสิทธิ์เหมือนกัน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แต่จะพิจารณาจากบริบทของการเข้าใช้งานในขณะนั้น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Signals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ข้อมูลที่ใช้ประเมิน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Conditional Access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จะรวบรวมข้อมูลหลายประเภทก่อนตัดสินใจ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User or Group Membership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ตรวจสอบว่าผู้ใช้เป็นใคร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พนักงานทั่วไป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ผู้บริหาร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Administrator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Guest User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กำหนดนโยบายต่างกันตามกลุ่มผู้ใช้ได้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IP Location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ตรวจสอบสถานที่หรือเครือข่ายที่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Login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ภายในบริษัท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ประเทศไทย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ต่างประเทศ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เครือข่ายที่มีความเสี่ยง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ลดความเสี่ยงจากการโจมตีจากต่างประเทศ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Device Platform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ตรวจสอบอุปกรณ์ที่ใช้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Windows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macOS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Android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iOS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กำหนดเงื่อนไขตามประเภทอุปกรณ์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 Targeted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ตรวจสอบว่าเข้าถึงแอปใด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365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Teams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Exchange Online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Portal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Salesforce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แอปสำคัญอาจต้องปลอดภัยมากกว่า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Real-Time Sign-In Risk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วิเคราะห์ความเสี่ยงของการ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Login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Real-Time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Impossible Travel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Anonymous IP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Suspicious Sign-in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Password Spray Attack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Zero Trust Security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Decision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การตัดสินใจ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หลังจากประเมิน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Signals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แล้ว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Conditional Access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จะตัดสินใจ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Allow Full Access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อนุญาตให้เข้าใช้งานได้ตามปกติ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พนักงานใช้งานจาก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Notebook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ของบริษัท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Login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จากประเทศไทย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ความเสี่ยงต่ำ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เข้าถึงได้ทันที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Require MFA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อนุญาต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แต่ต้องยืนยันตัวตนเพิ่ม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Login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จากต่างประเทศ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Login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จากอุปกรณ์ใหม่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Block Access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ปฏิเสธการเข้าใช้งาน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ความเสี่ยงสูง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ประเทศต้องห้าม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อุปกรณ์ไม่ปลอดภัย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ป้องกันการโจมตี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Enforcement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การบังคับใช้นโยบาย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เมื่อมีการตัดสินใจแล้ว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ระบบจะดำเนินการตาม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Policy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Grant with Conditions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อนุญาตให้เข้าใช้งานภายใต้เงื่อนไข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MFA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ก่อน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Passwordless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ต้องเปลี่ยนรหัสผ่าน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Require Compliant Device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อนุญาตเฉพาะอุปกรณ์ที่ผ่านมาตรฐานองค์กร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อุปกรณ์ต้อง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ลงทะเบียนกับ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Intune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Antivirus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เข้ารหัส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Disk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อัปเดต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Patch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ล่าสุด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Zero Trust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Limit Session or Block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จำกัดความสามารถของ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Session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อ่านได้แต่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Download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เปิดเอกสารได้แต่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Copy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Block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ทันที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Role-Based Access Control (RBAC)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คือระบบกำหนดสิทธิ์การเข้าถึงทรัพยากรบน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บทบาท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(Role)"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ของผู้ใช้งาน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แนวคิดสำคัญคือ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ให้สิทธิ์เท่าที่จำเป็น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(Least Privilege Principle)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ผู้ใช้แต่ละคนควรได้รับสิทธิ์เฉพาะที่จำเป็นต่อการทำงานเท่านั้น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RBAC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ทำงานอย่างไร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RBAC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องค์ประกอบหลัก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Security Principal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ผู้รับสิทธิ์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User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Group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Principal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Managed Identity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Role Definition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ทำอะไรได้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อ่านข้อมูล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Account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Scope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ทำที่ไหนได้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ทั้งองค์กร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Subscription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Group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Scope Hierarchy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สไลด์แสดงลำดับชั้นของสิทธิ์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Management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 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สิทธิ์ที่กำหนดด้านบน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จะถูกสืบทอด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(Inherited)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ไปยังระดับล่างทั้งหมด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Management Group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ระดับกว้างที่สุด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Management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 Subscription 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 Subscription B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└─ Subscription C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องค์กรขนาดใหญ่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Governance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Corporate IT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Reader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Management Group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ผู้ใช้จะสามารถอ่านข้อมูลได้ทุก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ใต้กลุ่มนั้น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Subscription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ระดับบริหาร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ภายในทั้งหมด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Infrastructure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Operations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Owner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ผู้ใช้จัดการทรัพยากรทั้งหมดใน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Resource Group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กลุ่มของทรัพยากรที่เกี่ยวข้องกัน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WebApp-RG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 VM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 Database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└─ Storage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Contributor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Group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สามารถสร้างและแก้ไขทรัพยากรภายใน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Group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นั้นได้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ทีมพัฒนา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ทีมโปรเจกต์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Resource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ระดับเฉพาะทรัพยากร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Account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Reader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เฉพาะ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ตัวหนึ่ง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ผู้ใช้จะมองเห็นเฉพาะ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Role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มาตรฐานที่ควรรู้สำหรับ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AZ-900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Owner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สิทธิ์สูงสุด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อ่าน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แก้ไข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กำหนดสิทธิ์ให้ผู้อื่น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จำง่าย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ทำได้ทุกอย่าง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รวมถึงมอบสิทธิ์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Contributor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แก้ไข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ไม่สามารถกำหนดสิทธิ์ให้ผู้อื่น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จำง่าย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แต่แจกสิทธิ์ไม่ได้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Reader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แก้ไขไม่ได้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ลบไม่ได้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จำง่าย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ดูได้อย่างเดียว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ตัวอย่างสถานการณ์จริง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ผู้บริหาร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Role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Reader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เพื่อดู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Dashboard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ทีมพัฒนา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Role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Contributor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Group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ของโปรเจกต์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Administrator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Role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Owner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Team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Role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เฉพาะ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SQL DB Contributor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ให้เฉพาะ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Database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Inheritance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ที่ข้อสอบชอบถาม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หากกำหนด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Reader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ผลลัพธ์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Resource Group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ทั้งหมดเป็น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Reader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Resources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ทั้งหมดเป็น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Reader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แต่ถ้ากำหนด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Reader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ผู้ใช้จะไม่สามารถเข้าถึง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Group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อื่นได้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วิธีจำสำหรับ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AZ-900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ใครให้สิทธิ์คนอื่นได้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Owner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ใครสร้างและลบ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Owner ✅ Contributor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ใครดูได้อย่างเดียว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Reader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สิทธิ์สืบทอดจากบนลงล่างหรือไม่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Yes (Inheritance)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RBAC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เป็นระบบควบคุมสิทธิ์ตามบทบาท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โดยใช้ลำดับชั้น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Management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และสิทธิ์จะถูกสืบทอดจากระดับบนลงระดับล่าง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Role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สำคัญสำหรับ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AZ-900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Owner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ทำได้ทุกอย่าง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รวมถึงกำหนดสิทธิ์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Contributor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แต่กำหนดสิทธิ์ไม่ได้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Reader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ดูข้อมูลได้อย่างเดียว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Zero Trust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เป็นแนวคิดด้าน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Cybersecurity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สมัยใหม่ที่มีหลักการว่า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"Never Trust, Always Verify"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อย่าเชื่อถือโดยอัตโนมัติ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ต้องตรวจสอบทุกครั้ง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ต่างจากแนวคิดเดิมที่เชื่อว่า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หากอยู่ในเครือข่ายองค์กรแล้วจะปลอดภัย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Zero Trust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จะถือว่า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ทุกผู้ใช้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ทุกอุปกรณ์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ทุกแอปพลิเคชัน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ทุกการเชื่อมต่อ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อาจมีความเสี่ยงได้เสมอ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จึงต้องมีการตรวจสอบและประเมินทุกครั้งก่อนอนุญาตให้เข้าถึงทรัพยากร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หลักการสำคัญของ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Zero Trust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สไลด์แสดง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หลักการหลัก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Verify Explicitly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ตรวจสอบทุกครั้งอย่างชัดเจน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ไม่ว่าผู้ใช้จะอยู่ภายในหรือภายนอกองค์กร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ต้องตรวจสอบก่อนทุกครั้ง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แนวทาง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Authenticate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Request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Authorize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Request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ประเมินข้อมูลทุกด้าน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พิจารณาจาก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Identity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Location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Classification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Risk Level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พนักงาน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Login Microsoft 365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ระบบตรวจสอบ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เป็นใคร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ใช้อุปกรณ์อะไร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มาจากประเทศใด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มีความเสี่ยงหรือไม่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ก่อนอนุญาตให้เข้าใช้งาน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Least Privilege Access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ให้สิทธิ์น้อยที่สุดเท่าที่จำเป็น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ผู้ใช้ควรได้รับสิทธิ์เฉพาะที่จำเป็นต่อการทำงาน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JIT (Just-In-Time)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ให้สิทธิ์เฉพาะช่วงเวลาที่จำเป็น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Admin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ได้สิทธิ์สูงเพียง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ชั่วโมง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หลังจากนั้นถูกยกเลิกอัตโนมัติ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JEA (Just-Enough Access)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ให้เฉพาะสิทธิ์ที่จำเป็น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Database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SQL Database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Virtual Machine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Risk-Based Policies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ใช้ความเสี่ยงมาช่วยตัดสินใจ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Risk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ต่ำ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Allow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Risk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ปานกลาง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Require MFA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Risk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Block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Policy-Based Controls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ควบคุมการเข้าถึงข้อมูลผ่านนโยบาย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ห้าม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Download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ข้อมูลจากอุปกรณ์ส่วนตัว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เข้าถึงได้เฉพาะอุปกรณ์ที่ผ่าน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Compliance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Assume Breach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สมมติว่าระบบถูกโจมตีแล้ว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Zero Trust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ไม่ได้ถามว่า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จะป้องกันไม่ให้ถูกโจมตีได้อย่างไร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แต่ถามว่า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ถ้าถูกเจาะแล้ว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จะจำกัดผลกระทบอย่างไร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แนวทาง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Segmentation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แบ่งระบบออกเป็นส่วนย่อย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Users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Apps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``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ลดการเคลื่อนที่ของผู้โจมตี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(Lateral Movement)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End-to-End Encryption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เข้ารหัสข้อมูลตลอดเส้นทาง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 in Transit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 at Rest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Analytics &amp; Threat Detection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ใช้ระบบวิเคราะห์และตรวจจับภัยคุกคาม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Defender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Sentinel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Risk-based Detection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หากบัญชีผู้ใช้ถูกขโมย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Zero Trust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จะยังตรวจสอบ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Device Compliance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MFA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Location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Risk Signals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ทำให้ผู้โจมตีไม่สามารถเข้าถึงระบบทั้งหมดได้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Zero Trust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เป็นแนวทางความปลอดภัยที่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แนะนำสำหรับองค์กรยุค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โดยยึดหลัก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Verify Explicitly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ตรวจสอบทุกครั้ง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Least Privilege Access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ให้สิทธิ์เท่าที่จำเป็น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Assume Breach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ออกแบบโดยสมมติว่าการโจมตีอาจเกิดขึ้นได้เสมอ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แนวคิดนี้ช่วยลดความเสี่ยงจากการโจมตีทางไซเบอร์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Hybrid Work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และเป็นพื้นฐานสำคัญของ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Entra ID, Conditional Access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Solutions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Defense in Depth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คือแนวคิดด้านความปลอดภัยที่ใช้การป้องกันหลายชั้น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(Multi-layer Security)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ลดผลกระทบ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และชะลอการโจมตี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ไม่มีระบบป้องกันชั้นเดียวที่ปลอดภัย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100%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จึงต้องมีการป้องกันหลายชั้นร่วมกัน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หากชั้นหนึ่งถูกเจาะ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ยังมีชั้นอื่นคอยป้องกันต่อ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Defense in Depth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การป้องกันเริ่มจาก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ชั้นนอกสุด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ไปจนถึง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(Data)"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ซึ่งเป็นเป้าหมายสุดท้ายของผู้โจมตี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Physical Security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Identity &amp; Access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Perimeter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Compute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Physical Security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หน้าที่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ป้องกันอุปกรณ์และศูนย์ข้อมูล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(Datacenter)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ระบบควบคุมการเข้าอาคาร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กล้องวงจรปิด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รปภ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.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ระบบสแกนบัตร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การป้องกันเซิร์ฟเวอร์ทางกายภาพ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ดูแล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ทั้งหมด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Building Access Controls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Hardware Security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Identity and Access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หน้าที่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ควบคุมว่าใครเข้าระบบได้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Entra ID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MFA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Passwordless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RBAC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Conditional Access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Actions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SSO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MFA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Audit Events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Access Reviews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ตรวจสอบตัวตนก่อนเสมอ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Perimeter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หน้าที่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ป้องกันการโจมตีจากภายนอกองค์กร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DDoS Protection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Firewall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Application Firewall (WAF)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Actions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DDoS Protection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Perimeter Firewall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ป้องกันการโจมตีขนาดใหญ่ก่อนเข้าถึงระบบ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Network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หน้าที่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จำกัดการสื่อสารภายในระบบ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Network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VNet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 Security Group (NSG)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Segmentation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Private Endpoint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Actions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Deny by Default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Restrict Inbound Access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Restrict Outbound Access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จำกัดการเคลื่อนที่ของผู้โจมตีภายในระบบ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(Lateral Movement)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5. Compute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หน้าที่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Virtual Machines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 Hardening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Patch Management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Defender for Servers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Endpoint Protection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Actions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Secure VM Access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Endpoint Protection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Keep Systems Patched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ลดช่องโหว่ของระบบปฏิบัติการและเครื่องเซิร์ฟเวอร์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6. Application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หน้าที่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ป้องกันช่องโหว่ใน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Software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Secure SDLC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Code Review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 Testing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Secret Management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Actions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Secure Development Lifecycle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Store Secrets in Key Vault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พัฒนาแอปพลิเคชันให้ปลอดภัยตั้งแต่ต้น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(Security by Design)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7. Data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ชั้นสำคัญที่สุด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หน้าที่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ปกป้องข้อมูล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ซึ่งเป็นเป้าหมายหลักของผู้โจมตี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Encryption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Access Controls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Backup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Loss Prevention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Actions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Encryption at Rest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Encryption in Transit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Regulatory Compliance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 Classification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รักษา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Confidentiality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ความลับ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Integrity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ความถูกต้อง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Availability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ความพร้อมใช้งาน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CIA Triad</a:t>
            </a:r>
          </a:p>
          <a:p>
            <a:pPr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การปกป้องข้อมูลบน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ส่วนสำคัญ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Encryption at Rest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ข้อมูลขณะจัดเก็บ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Encryption in Transit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ข้อมูลขณะรับส่ง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lvl="0"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Key Vault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ศูนย์กลางจัดการ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Secret, Key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Certificate)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Encryption at Rest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หมายถึง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การเข้ารหัสข้อมูลขณะที่ถูกจัดเก็บอยู่ในระบบ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Disks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Accounts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SQL Database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Managed Disk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Storage Account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เมื่อข้อมูลถูกบันทึกลง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จะเข้ารหัสข้อมูลอัตโนมัติ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แม้ว่าจะมีการเข้าถึง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Device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โดยไม่ได้รับอนุญาต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ข้อมูลก็ยังอ่านไม่ได้หากไม่มี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Key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ที่ถูกต้อง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เทคโนโลยีที่ใช้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ในสไลด์ระบุ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AES-256 Encryption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ซึ่งเป็นมาตรฐานการเข้ารหัสที่ได้รับการยอมรับทั่วโลก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ที่ใช้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Service-managed Keys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บริหารจัดการ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Key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ไม่ต้องดูแลคีย์เอง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Customer-managed Keys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เพิ่มเติม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องค์กรสามารถเก็บและควบคุม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Key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เองผ่าน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Key Vault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ธนาคาร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ภาครัฐ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Compliance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Encryption in Transit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หมายถึง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การเข้ารหัสข้อมูลขณะกำลังเคลื่อนที่ผ่านเครือข่าย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ตัวอย่างในสไลด์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 Tier ↔ API Service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↔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API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User Device ↔ Azure Storage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Notebook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↔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ข้อมูลถูกเข้ารหัสก่อนส่งผ่านเครือข่าย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โปรโตคอลที่ใช้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TLS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Transport Layer Security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HTTPS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Secure HTTP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VPN Tunnel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Secure Network Connection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ป้องกันการดักฟังข้อมูล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Man-in-the-Middle Attack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รักษาความลับของข้อมูลระหว่างทาง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จำง่าย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At Rest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Stored Data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Disk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 Transit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Moving Data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Browser → Website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 → API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User → Azure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Azure Key Vault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Key Vault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เป็นบริการสำหรับเก็บข้อมูลลับ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(Secrets)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และคีย์เข้ารหัสอย่างปลอดภัย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ทำไมต้องใช้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Key Vault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แนวทางที่ไม่ดี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C#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string password = "Admin123";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ฝัง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Password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ไว้ใน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Source Code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เสี่ยงต่อการรั่วไหล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แนวทางที่ดี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Key Vault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Secret Retrieval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เก็บความลับแยกจาก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Code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ปลอดภัยกว่า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Key Vault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จัดเก็บอะไรได้บ้าง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Secrets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ข้อมูลลับ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Password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API Key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Connection String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Tokens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Encryption Keys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คีย์เข้ารหัส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RSA Keys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Elliptic Curve Keys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Encryption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Signing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Rotation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Certificates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Digital Certificates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TLS Certificates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SSL Certificates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ใช้กับ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Websites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APIs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Key Vault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Centralized Management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Secret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ทุกอย่างในที่เดียว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Access Control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RBAC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Entra ID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ควบคุมการเข้าถึง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Rotation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หมุน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Key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Key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ถูกขโมย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Audit Logging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ตรวจสอบได้ว่า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ใครเข้าถึง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Key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เมื่อใด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ทำอะไร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ตัวอย่างในองค์กร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Mobile Banking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Encryption at Rest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ถูกเข้ารหัสด้วย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AES-256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Encryption in Transit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Mobile App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HTTPS/TLS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Key Vault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API Keys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Credentials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SSL Certificates</a:t>
            </a:r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th-TH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การปกป้องข้อมูลบน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ประกอบด้วย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แนวคิดหลัก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Encryption at Rest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ปกป้องข้อมูลที่ถูกจัดเก็บ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Encryption in Transit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ปกป้องข้อมูลระหว่างการรับส่ง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Key Vault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Secrets, Encryption Keys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Certificates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อย่างปลอดภัย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แนะนำให้ใช้ทั้ง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แนวทางร่วมกัน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เพื่อให้ข้อมูลได้รับการปกป้องตลอดวงจรการใช้งาน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ตั้งแต่การจัดเก็บ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การรับส่ง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และการบริหารคีย์เข้ารหัส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Defender for Cloud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เป็นแพลตฟอร์มด้านความปลอดภัยสำหรับ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ที่ช่วยองค์กรในการ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ประเมินความปลอดภัย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(Assess)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เสริมความแข็งแกร่งของระบบ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(Secure)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ตรวจจับและตอบสนองต่อภัยคุกคาม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(Defend)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ครอบคลุมทั้ง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Azure Native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Hybrid Cloud (Azure Arc)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Multicloud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(AWS, Google Cloud)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เสาหลักของ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Defender for Cloud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Continuously Assess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ประเมินสถานะความปลอดภัยอย่างต่อเนื่อง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Defender for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จะตรวจสอบสภาพแวดล้อม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อย่างสม่ำเสมอเพื่อค้นหาความเสี่ยงและช่องโหว่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Actions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Identify and Track Vulnerabilities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ค้นหาช่องโหว่ด้านความปลอดภัย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Configuration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ที่ไม่ปลอดภัย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VM Vulnerability Scans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สแกน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Windows VM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สแกน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Linux VM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ค้นหา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Missing Patches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Container Registry Assessments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Container Images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ตรวจหา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Vulnerabilities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ก่อน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Deploy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SQL Server Assessments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SQL Configuration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ค้นหาความเสี่ยงด้านฐานข้อมูล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Defender for Endpoint Integration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Defender for Endpoint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เพื่อวิเคราะห์ความเสี่ยงของเครื่องปลายทาง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รู้สถานะความปลอดภัยขององค์กรอยู่ตลอดเวลา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(Know Your Security Posture)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Secure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เพิ่มความปลอดภัยให้ทรัพยากรและบริการ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เมื่อพบความเสี่ยง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Defender for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จะเสนอแนะแนวทางแก้ไข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Actions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Microsoft Cloud Security Benchmark (MCSB)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มาตรฐานความปลอดภัยของ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ใช้ประเมินว่าทรัพยากรอยู่ในระดับที่ปลอดภัยหรือไม่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Azure Policy Integration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เชื่อมต่อกับ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Policy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เพื่อบังคับใช้นโยบายความปลอดภัย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Encryption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Logging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Private Endpoint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Prioritized Recommendations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เสนอคำแนะนำตามลำดับความสำคัญ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Enable MFA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Patch VM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Remove Public IP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Secure Score Tracking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คะแนนความปลอดภัยขององค์กร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0 ────────────── 100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คะแนนสูง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ปลอดภัยมากขึ้น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Scope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รองรับในระดับ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Management Group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Subscription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Tenant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Hardening Infrastructure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และลดช่องโหว่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Defend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ตรวจจับและตอบสนองต่อภัยคุกคาม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Defender for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ทำหน้าที่เป็นระบบ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Threat Protection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Actions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Security Alert Generation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แจ้งเตือนเมื่อพบพฤติกรรมต้องสงสัย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Kill-Chain Attack Correlation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วิเคราะห์การโจมตีหลายขั้นตอน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Recon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Credential Theft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Privilege Escalation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Lateral Movement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เชื่อมโยงเป็นเหตุการณ์เดียว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Remediation Guidance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แนะนำวิธีแก้ไขปัญหา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Port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Patch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MFA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Advanced Threat Protection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ตรวจจับ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Malware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Ransomware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Crypto Mining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SQL Attacks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 Attacks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Just-In-Time (JIT) VM Access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Port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บริหาร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เฉพาะเวลาที่จำเป็น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RDP (3389)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SSH (22)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ปกติจะถูกปิดตลอดเวลา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Detect + Respond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ต่อภัยคุกคามแบบ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Real-Time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https://learn.microsoft.com/training/paths/describe-azure-management-governance/</a:t>
            </a:r>
          </a:p>
          <a:p>
            <a:endParaRPr lang="en-US" dirty="0"/>
          </a:p>
          <a:p>
            <a:r>
              <a:rPr lang="en-US" dirty="0"/>
              <a:t>Welcome to Learning Path 3: Describe Azure Management and Governance.</a:t>
            </a:r>
          </a:p>
          <a:p>
            <a:r>
              <a:rPr lang="en-US" dirty="0"/>
              <a:t>This learning path covers four modules on cost management, governance and compliance tools, resource deployment and management, and monitoring tools.</a:t>
            </a:r>
          </a:p>
          <a:p>
            <a:r>
              <a:rPr lang="en-US" dirty="0"/>
              <a:t>By the end, you will understand how to control costs, enforce policies, manage resources across environments, and monitor the health of your Azure workloads.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https://learn.microsoft.com/training/modules/describe-cost-management-azure/1-introduction</a:t>
            </a:r>
          </a:p>
          <a:p>
            <a:endParaRPr lang="en-US" dirty="0"/>
          </a:p>
          <a:p>
            <a:r>
              <a:rPr lang="en-US" dirty="0"/>
              <a:t>This module introduces cost management in Azure.</a:t>
            </a:r>
          </a:p>
          <a:p>
            <a:r>
              <a:rPr lang="en-US" dirty="0"/>
              <a:t>We will explore the factors that affect Azure costs, the tools for estimating and monitoring spend, resource tags for organization, and optimization strategies.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ค่าใช้จ่ายบน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(Azure Costs)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ไม่ได้ขึ้นอยู่กับปริมาณการใช้งานเพียงอย่างเดียว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แต่ยังมีปัจจัยหลายด้านที่ส่งผลต่อค่าใช้จ่ายรายเดือนขององค์กร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Resource Type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ประเภทของทรัพยากร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ขนาด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และการตั้งค่าของทรัพยากรส่งผลต่อราคาโดยตรง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B-Series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ราคาถูกกว่า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D-Series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ราคาสูงขึ้น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M-Series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ราคาสูงมาก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Standard HDD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Standard SSD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Premium SSD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มีค่าใช้จ่ายต่างกัน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Region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เดียวกัน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East US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≠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Japan East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≠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Southeast Asia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อาจมีราคาต่างกัน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สิ่งที่ควรจำ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ขนาด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ใหญ่ขึ้น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ค่าใช้จ่ายสูงขึ้น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ต่างกัน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ราคาอาจต่างกัน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Consumption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การใช้งาน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ใช้โมเดล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Pay-As-You-Go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จ่ายตามการใช้งานจริง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ใช้มาก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=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จ่ายมาก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ใช้น้อย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=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จ่ายน้อย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24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ชั่วโมง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ค่าบริการสูง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8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ชั่วโมง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ค่าบริการต่ำกว่า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Commitment-Based Discounts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มีส่วนลดกรณีใช้งานระยะยาว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Reserved Instances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Savings Plans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ลดต้นทุนได้เมื่อคาดการณ์การใช้งานได้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Geography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ตำแหน่งที่ตั้ง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Transfer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มีผลต่อค่าใช้จ่าย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Region Pricing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ค่าบริการในแต่ละ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ไม่เท่ากัน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Transfer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การรับส่งข้อมูลข้าม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Thailand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Japan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อาจมีค่าใช้จ่ายเพิ่มเติม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สิ่งที่ควรจำ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การส่งข้อมูลออกจาก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(Outbound Traffic)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มักมีค่าใช้จ่าย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การส่งข้อมูลข้าม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อาจมีค่าใช้จ่ายเพิ่ม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Azure Marketplace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Marketplace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มีบริการจาก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Vendor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ภายนอก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 Solutions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Backup Solutions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Monitoring Tools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องค์กรซื้อ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Firewall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Third-party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Antivirus Solution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Enterprise Backup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Marketplace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ค่าใช้จ่ายจะถูกเพิ่มใน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Bill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สิ่งที่ควรจำ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Marketplace Cost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เป็นค่าใช้จ่ายเพิ่มเติมจาก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Services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ปกติ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5. Subscription Type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มีผลต่อสิทธิประโยชน์และค่าใช้จ่าย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Free Trial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Credit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ฟรี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Free Services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บางส่วน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Pay-As-You-Go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จ่ายตามจริง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Enterprise Agreement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อาจได้ราคาพิเศษ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ส่วนลดตามสัญญาองค์กร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Customer Agreement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รูปแบบการคิดค่าใช้จ่ายและสิทธิประโยชน์แตกต่างกัน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สิ่งที่ควรจำ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ส่งผลต่อราคาที่ได้รับ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6. Maintenance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การดูแลทรัพยากร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หนึ่งในสาเหตุที่พบบ่อยที่สุดของค่าใช้จ่ายเกินงบประมาณ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ที่ไม่ได้ใช้งาน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ถูกปิดแต่ยังมี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Disk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Public IP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ยังถูกจองอยู่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Account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ยังเก็บข้อมูล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Snapshot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ที่ลืมลบ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Shutdown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หลายคนคิดว่า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ไม่เสียเงินแล้ว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แต่จริง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Disk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ยังคิดค่าบริการ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Backup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ยังคิดค่าบริการ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IP Address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อาจยังคิดค่าใช้จ่าย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สิ่งที่ควรจำ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Unused Resources = Cost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ควรตรวจสอบและ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Cleanup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เป็นประจำ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วิธีลดต้นทุน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Right-size VM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Reserved Instances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ที่ไม่ได้ใช้งาน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Cost Management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อย่างสม่ำเสมอ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Pricing Calculator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เป็นเครื่องมือออนไลน์ฟรีที่ช่วยประมาณค่าใช้จ่ายของบริการ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ก่อนที่จะสร้าง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(Provision)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ทรัพยากรจริง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"Estimate before you deploy"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คำนวณงบประมาณก่อนลงทุนจริง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เพื่อช่วยวางแผนค่าใช้จ่ายและลดความเสี่ยงจากงบประมาณบานปลาย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Pricing Calculator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ใช้ทำอะไร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ประมาณค่าใช้จ่ายก่อนสร้างทรัพยากร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สามารถคำนวณค่าใช้จ่ายล่วงหน้าสำหรับ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AI Services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OpenAI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Fabric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และบริการอื่น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รู้ต้นทุนก่อนเริ่มโครงการ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ช่วยวางแผนงบประมาณ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ออกแบบทั้ง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Solution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สามารถคำนวณได้ทั้ง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เดี่ยว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 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เครื่อง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SQL Database 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Account 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Solution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ทั้งระบบ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Web App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+ Database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+ Storage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+ Backup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+ Networking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คำนวณเป็นต้นทุนรวมต่อเดือนหรือปีได้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เปรียบเทียบตัวเลือกต่าง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Pricing Calculator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ช่วยเปรียบเทียบว่า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Region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ไหนคุ้มกว่า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East US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Japan East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Southeast Asia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ค่าใช้จ่ายอาจไม่เท่ากัน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Tier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ไหนเหมาะกว่า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Standard SSD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Premium SSD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Redundancy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แบบใด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ZRS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GZRS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เพื่อดูผลกระทบต่อค่าใช้จ่าย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ใช้เป็นข้อมูลสำหรับขออนุมัติงบประมาณ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องค์กรจำนวนมากใช้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Pricing Calculator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เพื่อจัดทำ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Project Cost Estimate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Budget Proposal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Business Case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ก่อนเริ่มโครงการ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เสนอระบบใหม่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App Service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SQL Database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Backup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รวมค่าใช้จ่าย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50,000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บาท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/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เดือน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ใช้เป็นเอกสารประกอบการอนุมัติได้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กลับมาทบทวนได้เมื่อ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Architecture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เปลี่ยน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เมื่อมีการเปลี่ยนแปลง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Database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เพิ่มผู้ใช้งาน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เปลี่ยน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สามารถกลับมาปรับประมาณการได้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ช่วยให้ค่าใช้จ่ายจริงสอดคล้องกับแผน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6.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ไม่ได้สร้าง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จริง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ประเด็นสำคัญที่ข้อสอบมักถาม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Pricing Calculator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เป็นเครื่องมือเพื่อการประมาณการเท่านั้น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ไม่ได้สร้าง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ไม่มีค่าใช้จ่ายเกิดขึ้น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Pricing Calculator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วางแผนล่วงหน้า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Cost Management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ติดตามค่าใช้จ่ายจริง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Cost Management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เป็นเครื่องมือสำหรับติดตาม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และเพิ่มประสิทธิภาพค่าใช้จ่ายบน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หลังจากที่มีการใช้งานทรัพยากรจริงแล้ว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Pricing Calculator =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วางแผนก่อนใช้งาน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Cost Management =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บริหารค่าใช้จ่ายระหว่างใช้งานจริง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Cost Analysis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วิเคราะห์ค่าใช้จ่าย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ช่วยให้มองเห็นว่า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ถูกใช้งานและเสียค่าใช้จ่ายกับอะไรบ้าง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สามารถวิเคราะห์ได้ตาม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Billing Cycle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Subscription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Group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Type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Region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ดูว่าเดือนนี้ค่าใช้จ่ายมาจาก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Machines 40%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20%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25%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Networking 15%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มองเห็นแนวโน้มค่าใช้จ่าย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ค้นหาค่าใช้จ่ายผิดปกติ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วิเคราะห์รายจ่ายแต่ละบริการ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Budget Line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ในสไลด์แสดงเส้น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Budget Line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ใช้เปรียบเทียบว่า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ค่าใช้จ่ายจริงสูงหรือต่ำกว่างบประมาณที่ตั้งไว้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Cost Alerts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แจ้งเตือนเมื่อค่าใช้จ่ายผิดปกติ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ระบบสามารถแจ้งเตือนอัตโนมัติเมื่อค่าใช้จ่ายเข้าใกล้หรือเกินงบประมาณ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Budget Alerts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หากตั้ง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Budget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100,000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บาท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/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เดือน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แจ้งเตือนเมื่อ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50%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75%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90%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100%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ของงบประมาณ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Credit Alerts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Credit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Sponsorship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Enterprise Agreement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แจ้งเตือนเมื่อ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Credit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ใกล้หมด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Department Spending Quota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กำหนดวงเงินให้แต่ละหน่วยงาน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IT = 300,000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บาท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Marketing = 100,000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บาท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ช่องทางแจ้งเตือน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Email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Azure Portal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Budgets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กำหนดงบประมาณ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ช่วยควบคุมค่าใช้จ่ายล่วงหน้า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สามารถกำหนดได้ในระดับ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Subscription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Group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Type</a:t>
            </a: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Automation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เมื่อถึงงบประมาณ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Cost Management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สามารถเชื่อมต่อกับ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Automation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เมื่อใช้จ่ายครบ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90%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Email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Ticket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แจ้ง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Teams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เมื่อครบ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100%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หยุด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บางตัว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➡️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จำกัดการใช้งานบางส่วน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Automation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Power Automate)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Common Tasks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Cost Management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ช่วยได้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Spot Sudden Spend Increases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ตรวจพบค่าใช้จ่ายเพิ่มขึ้นผิดปกติ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เมื่อคืนมีคนสร้าง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ขนาดใหญ่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ค่าใช้จ่ายพุ่งขึ้น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Cost Analysis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จะมองเห็นทันที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Find Idle Resources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ค้นหาทรัพยากรที่ไม่ได้ใช้งาน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เปิดอยู่แต่ไม่มีการใช้งาน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Disk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ถูกทิ้งไว้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Public IP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ไม่ได้ใช้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ช่วยลดต้นทุน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Validate Tagging and Budgets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ตรวจสอบการใช้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Tags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Budget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Department = IT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Project =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MobileBanking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Environment = Production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ช่วยแยกต้นทุนตาม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โครงการ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ฝ่ายงาน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ได้ง่ายขึ้น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Tags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คือการกำหนดป้ายกำกับ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(Key-Value Pair)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ให้กับทรัพยากรบน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เพื่อช่วยในการจัดกลุ่ม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ค้นหา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บริหารจัดการ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และควบคุมต้นทุน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Tags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ช่วยอะไรได้บ้าง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Resource Management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จัดการทรัพยากรได้ง่ายขึ้น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ช่วยค้นหาและจัดกลุ่มทรัพยากรตาม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Workload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Environment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Owner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Business Unit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ค้นหา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ได้เร็ว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จัดกลุ่มระบบได้ง่าย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ช่วยบริหาร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Environment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ขนาดใหญ่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Cost Management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ช่วยจัดสรรค่าใช้จ่าย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Tag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สามารถใช้แบ่งต้นทุนตาม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ฝ่ายงาน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โครงการ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Chargeback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Showback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Budget Tracking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Cost Allocation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Operations Management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ช่วยงานปฏิบัติการและ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SLA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จัดกลุ่มทรัพยากรตามระดับความสำคัญ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Monitoring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Incident Management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Service Management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SLA Reporting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Operations Team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สามารถทราบได้ทันทีว่าระบบใดเป็นระบบสำคัญ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Security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จัดหมวดหมู่ข้อมูลตามระดับความปลอดภัย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Tag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ช่วยระบุความสำคัญของข้อมูล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บังคับใช้นโยบายความปลอดภัย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Governance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Compliance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5. Governance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รองรับการกำกับดูแลและ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Compliance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ช่วยระบุทรัพยากรที่เกี่ยวข้องกับข้อกำหนดทางกฎหมายหรือมาตรฐาน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Audit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Compliance Tracking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Policy Enforcement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6. Workload Automation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ใช้ร่วมกับระบบ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Automation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Tag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สามารถใช้เป็นเงื่อนไขในการทำ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Automation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Automation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สามารถสั่ง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ทุกคืน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ทุกเช้า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Manual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Automation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Power Automate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Policy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หลักในการ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ลดค่าใช้จ่ายบน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โดยใช้โปรแกรมส่วนลดและโมเดลการคิดค่าบริการที่เหมาะกับลักษณะการใช้งานของแต่ละ Workload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เลือกโมเดลค่าใช้จ่ายให้เหมาะกับรูปแบบการใช้งาน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เพื่อให้ได้ต้นทุนต่ำที่สุด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Reservations (Azure Reservations)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เป็นการจองการใช้งานทรัพยากรล่วงหน้า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ระยะเวลาที่เลือกได้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หลักการ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องค์กรตกลงใช้งานทรัพยากรตามระยะเวลาที่กำหนด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จึงให้ส่วนลดเมื่อเทียบกับ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Pay-As-You-Go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Workload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ที่ใช้งานต่อเนื่อง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Production Systems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Database Server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Virtual Machine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ที่ทำงาน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24x7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Reserved Instance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จะมีต้นทุนต่ำกว่าการจ่ายรายชั่วโมง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ประหยัดได้มาก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คาดการณ์ค่าใช้จ่ายง่าย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ข้อควรระวัง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ต้องมั่นใจว่าจะใช้งานในระยะยาว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Savings Plan for Compute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เป็นโมเดลการประหยัดค่าใช้จ่ายแบบยืดหยุ่นกว่า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Reservation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หลักการ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Commit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ค่าใช้จ่ายขั้นต่ำต่อชั่วโมง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$10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ต่อชั่วโมง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จะให้ส่วนลดกับบริการ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Compute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ที่อยู่ในเงื่อนไข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ความแตกต่างจาก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Reservation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Reservation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ผูกกับ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เฉพาะ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 D4s_v5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Savings Plan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ไม่ผูกกับ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หนึ่ง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สามารถย้ายการใช้งานได้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วันนี้ใช้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 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พรุ่งนี้ใช้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App Service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 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เดือนหน้าใช้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Container Apps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ยังคงได้รับส่วนลด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Workload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ที่เปลี่ยนแปลงได้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Cloud-Native Applications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DevOps Environment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Dynamic Compute Usage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ยืดหยุ่นสูงกว่า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Reservation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ได้ส่วนลดโดยไม่ล็อกกับ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Spot Virtual Machines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เป็นการใช้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Capacity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ส่วนเกินของ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ในราคาที่ถูกกว่าปกติมาก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หลักการ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นำทรัพยากรที่ยังไม่มีลูกค้าใช้งานมาให้เช่า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ในราคาพิเศษ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ข้อสำคัญ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หยุดเครื่อง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ยึดเครื่องคืน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(Evict)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ได้ทุกเวลา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Capacity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กลับไปใช้งาน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Batch Processing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Rendering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AI Training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Test Environment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Simulation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Production Database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Core Banking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Business-Critical Systems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ราคาถูกมาก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บางกรณีลดได้ถึง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70%-90%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เมื่อเทียบกับ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ปกติ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แนวทางการเลือกใช้งาน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(Decision Guide)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Workload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คงที่และทำงานตลอด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Reservations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Domain Controller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Server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Production VM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Workload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ที่ยืดหยุ่น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Savings Plan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Container Apps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Dynamic Workloads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Workload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ที่ยอมให้หยุดได้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Spot VM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Testing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AI Training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Batch Jobs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ทางเลือกหลักในการลดต้นทุน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Reservations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Commitment 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3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Workload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คงที่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Savings Plan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Commitment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ตามการใช้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Compute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ยืดหยุ่นกว่า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Reservation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Spot VM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Capacity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ส่วนเกินของ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ราคาถูกที่สุด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เหมาะกับงานที่ยอมให้หยุดได้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https://learn.microsoft.com/training/modules/describe-features-tools-azure-for-governance-compliance/1-introduction</a:t>
            </a:r>
          </a:p>
          <a:p>
            <a:endParaRPr lang="en-US" dirty="0"/>
          </a:p>
          <a:p>
            <a:r>
              <a:rPr lang="en-US" dirty="0"/>
              <a:t>This module covers the features and tools Azure provides for governance and compliance.</a:t>
            </a:r>
          </a:p>
          <a:p>
            <a:r>
              <a:rPr lang="en-US" dirty="0"/>
              <a:t>We will explore Microsoft Purview for data governance, Azure Policy for enforcing standards, resource locks for preventing accidental changes, and the Service Trust Portal for compliance documentation.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Purview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คือแพลตฟอร์มด้าน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Governance, Data Discovery, Compliance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Risk Management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ของ 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ที่ช่วยให้องค์กรสามารถค้นหา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จัดหมวดหมู่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และกำกับดูแลข้อมูลได้จากศูนย์กลางเดียว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รู้ว่าข้อมูลอยู่ที่ไหน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,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เป็นข้อมูลประเภทใด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,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มาจากไหน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,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และใครเข้าถึงได้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แหล่งข้อมูลที่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Purview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Purview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สามารถเชื่อมต่อข้อมูลจากหลายสภาพแวดล้อม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On-Premises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ข้อมูลภายในองค์กร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SQL Server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File Server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Warehouse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Multicloud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AWS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Google Cloud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SaaS Applications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365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Dynamics 365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Salesforce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Power Platform</a:t>
            </a: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ความสามารถหลักของ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Purview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Data Discovery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ค้นหาข้อมูลทั่วทั้งองค์กร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ช่วยตอบคำถาม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ข้อมูลอยู่ที่ไหน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ใครเป็นเจ้าของ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ใช้งานที่ใดบ้าง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ค้นหาคำว่า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Customer Data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Purview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สามารถค้นหาได้จาก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SQL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Lake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SharePoint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365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Silos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หาแหล่งข้อมูลได้ง่าย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Productivity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ของทีม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Data Classification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จัดประเภทข้อมูลอัตโนมัติ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Purview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สามารถตรวจจับข้อมูลสำคัญได้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หมายเลขบัตรประชาชน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หมายเลขบัตรเครดิต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ข้อมูลลูกค้า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ข้อมูลทางการเงิน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ประเภทการจัดหมวดหมู่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Public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Internal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Confidential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Highly Confidential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ปกป้องข้อมูลสำคัญ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Compliance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สนับสนุน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Security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Data Lineage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ติดตามเส้นทางของข้อมูล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ตอบคำถามว่า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ข้อมูลมาจากไหน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และถูกแปลงอย่างไร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CRM System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Factory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Lake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Power BI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Purview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แสดงความสัมพันธ์ทั้งหมดได้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เข้าใจที่มาของข้อมูล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ตรวจสอบคุณภาพข้อมูล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วิเคราะห์ผลกระทบเมื่อข้อมูลเปลี่ยน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ผลลัพธ์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 Governed Data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Purview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วิเคราะห์ข้อมูลแล้ว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องค์กรจะได้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Governed Data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ข้อมูลที่มีการกำกับดูแลอย่างเหมาะสม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ส่วนที่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1: Risk and Compliance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เน้นด้านการบริหารความเสี่ยงและการปฏิบัติตามข้อกำหนด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Protect Sensitive Data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ปกป้องข้อมูลสำคัญ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Identify Data Risks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ค้นหาความเสี่ยงด้านข้อมูล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Regulatory Compliance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รองรับมาตรฐานต่าง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ISO 27001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GDPR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PDPA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PCI-DSS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Powered by Microsoft 365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เชื่อมกันได้กับ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Information Protection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Loss Prevention (DLP)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Insider Risk Management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ส่วนที่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2: Unified Data Governance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บริหารข้อมูลทั้งหมดจากศูนย์กลางเดียว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 Estate Mapping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สร้างแผนที่ข้อมูลทั่วทั้งองค์กร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 Classification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จัดประเภทข้อมูล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 Lineage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ติดตามเส้นทางข้อมูล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Access Control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ควบคุมการเข้าถึงข้อมูล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Insights at Scale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สร้างมุมมองภาพรวมระดับองค์กร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Policy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คือบริการด้าน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Governance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ที่ช่วยให้องค์กรสามารถกำหนดมาตรฐาน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(Policy)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และตรวจสอบว่าทรัพยากรบน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ปฏิบัติตามมาตรฐานที่กำหนดหรือไม่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"Define, Assign, Evaluate, Remediate"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กำหนดนโยบาย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นำไปใช้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ตรวจสอบความสอดคล้อง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แก้ไขอัตโนมัติ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Policy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ทำงานอย่างไร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จากภาพสไลด์มีขั้นตอนหลัก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4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Define Policy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กำหนดกฎหรือนโยบายที่องค์กรต้องการ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Encryption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Monitoring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ห้ามสร้าง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Public IP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ต้องติด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Tag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ตัวอย่างจากสไลด์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Policy Definitions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Monitor unencrypted SQL Database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Monitor OS vulnerabilities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Monitor missing Endpoint Protection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Initiative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Initiative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คือการรวม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Policy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หลายรายการเข้าด้วยกัน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เปรียบเหมือน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Policy =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กฎ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 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Initiative =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ชุดของกฎหลายข้อ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ตัวอย่างในสไลด์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Initiative: Enable Monitoring in Security Center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ประกอบด้วย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Monitor unencrypted SQL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Monitor OS vulnerabilities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Monitor missing Endpoint Protection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Policy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อื่น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อีกจำนวนมาก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บริหารง่ายขึ้น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บังคับใช้หลายมาตรฐานพร้อมกัน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Compliance Framework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Assign to Scope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กำหนดว่าจะใช้นโยบายกับระดับใด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สไลด์แสดง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Scope Hierarchy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Management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Subscription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↓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Management Group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ใช้กับทั้งองค์กร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Subscription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หนึ่ง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Group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ใช้เฉพาะ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Group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สิ่งสำคัญ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Policy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จะถูก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Inherited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สืบทอด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จากบนลงล่าง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Assign Policy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Management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Subscription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Group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ใต้ระดับนั้น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จะได้รับ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Policy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เดียวกันโดยอัตโนมัติ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Evaluate Resources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จะตรวจสอบทุก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เทียบกับ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Policy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ตัวอย่างในสไลด์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Compliant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เป็นไปตามนโยบาย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Compliant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เป็นไปตามนโยบาย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SQL Database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Non-Compliant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ไม่เป็นไปตามนโยบาย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Encryption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Monitoring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Auto-Remediation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หนึ่งในความสามารถสำคัญของ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Policy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Auto-Remediate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ไม่เป็นไปตาม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Policy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แนะนำวิธีแก้ไข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แก้ไขให้อัตโนมัติ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Tag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Policy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สามารถเพิ่ม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Tag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Diagnostic Log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ไม่เปิด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Policy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ให้เอง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ผลลัพธ์ที่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Policy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ช่วยได้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Governance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ควบคุมมาตรฐานทั้งองค์กร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Compliance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รองรับมาตรฐานต่าง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ISO 27001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PCI-DSS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CIS Benchmark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Regulatory Controls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ลดการตั้งค่าที่ไม่ปลอดภัย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Cost Management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ควบคุมการสร้าง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ที่ไม่จำเป็น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Consistency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ทุกทีมใช้มาตรฐานเดียวกัน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ตัวอย่างการใช้งานจริง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ธนาคาร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องค์กรกำหนดว่า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Account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Encryption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Policy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แจ้ง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ที่ไม่ผ่านมาตรฐาน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แก้ไขให้อัตโนมัติ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หากกำหนด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DevOps Team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Tag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Environment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CostCenter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Owner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Cost Management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Resource Locks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เป็นกลไกป้องกันความผิดพลาดจากการลบหรือแก้ไขทรัพยากรสำคัญโดยไม่ได้ตั้งใจ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ล็อกทรัพยากรเพื่อป้องกัน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Human Error"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แม้ว่าผู้ใช้งานจะมีสิทธิ์ระดับสูง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(Owner)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ก็ยังไม่สามารถลบหรือแก้ไข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นั้นถูก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Lock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เอาไว้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Lock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2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Delete Lock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CanNotDelete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ป้องกันการลบ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สิ่งที่ทำได้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Read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Modify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แก้ไข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สิ่งที่ทำไม่ได้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Delete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Account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สำคัญสำหรับ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Production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ติดตั้ง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Delete Lock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ผลลัพธ์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เปลี่ยน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Configuration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แก้ไข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Settings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 Account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Production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Account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Key Vault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Critical Resources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ReadOnly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Lock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ป้องกันทั้งการลบและแก้ไข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สิ่งที่ทำได้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Read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สิ่งที่ทำไม่ได้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Modify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Delete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Production Resource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ReadOnly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Lock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ผลลัพธ์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ดูข้อมูลได้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เปลี่ยน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Configuration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❌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ลบไม่ได้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Inheritance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การสืบทอด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Lock)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หลักการ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ถ้าติด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Lock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Group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ทุกตัวภายใน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จะได้รับ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Lock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เดียวกัน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โดยอัตโนมัติ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ภายในมี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ทั้งหมดจะถูกล็อก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ลบไม่ได้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Trust Portal (STP)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คือเว็บไซต์ของ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ที่รวบรวมข้อมูลด้าน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ความปลอดภัย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Privacy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ความเป็นส่วนตัว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Compliance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การปฏิบัติตามข้อกำหนด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ของบริการ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ไว้ในที่เดียว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แหล่งรวมเอกสาร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Compliance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อย่างเป็นทางการของ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Microsoft"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IT Administrator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Security Team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Compliance Team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Auditor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Risk Management Team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Trust Portal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ใช้ทำอะไร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เข้าถึงข้อมูล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Security, Privacy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Compliance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เป็นศูนย์รวมเอกสารเกี่ยวกับ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365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Dynamics 365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Power Platform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ตัวอย่างข้อมูล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ISO 27001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SOC Reports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GDPR Documentation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PCI-DSS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Privacy Documentation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ตรวจสอบความสอดคล้องตามมาตรฐาน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ใช้ตอบคำถามด้าน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Audit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ใช้ประกอบกระบวนการ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Risk Assessment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ดูรายละเอียดมาตรการรักษาความปลอดภัยของ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อธิบายว่า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ปกป้อง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Services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อย่างไร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Physical Security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 Security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Encryption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Incident Response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 Protection Controls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ใช้ตอบคำถาม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เก็บข้อมูลอย่างไร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ใช้มาตรฐานใด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มีการเข้ารหัสข้อมูลหรือไม่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ต้องใช้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Entra Account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การเข้าถึง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Login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ด้วย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Microsoft Entra Work Account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School Account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เหตุผล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เพราะเอกสารบางรายการ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เป็นเอกสารสำหรับลูกค้า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Compliance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เชิงลึก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My Library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พื้นที่เก็บเอกสารที่สนใจ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ความสามารถ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Save Documents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Pin Documents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Subscribe Notifications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5. All Documents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เป็นศูนย์รวมเอกสารทั้งหมด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Audit Reports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Compliance Reports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Whitepapers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Certifications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Regulatory Documents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ค้นหาเอกสารได้จากจุดเดียว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ลดเวลาในการเตรียม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Audit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สนับสนุน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Compliance Review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6.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ดาวน์โหลดรายงานย้อนหลังได้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สไลด์ระบุว่า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Reports and documents available for download for at least 12 months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หมายความว่า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สามารถดาวน์โหลดรายงานและเอกสารย้อนหลังได้อย่างน้อย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12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เดือน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Audit Report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ล่าสุด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SOC Report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ปีที่ผ่านมา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Compliance Assessment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https://learn.microsoft.com/training/modules/describe-features-tools-manage-deploy-azure-resources/1-introduction</a:t>
            </a:r>
          </a:p>
          <a:p>
            <a:endParaRPr lang="en-US" dirty="0"/>
          </a:p>
          <a:p>
            <a:r>
              <a:rPr lang="en-US" dirty="0"/>
              <a:t>This module introduces the tools for managing and deploying Azure resources.</a:t>
            </a:r>
          </a:p>
          <a:p>
            <a:r>
              <a:rPr lang="en-US" dirty="0"/>
              <a:t>We will cover the Azure portal and command-line tools, Azure Arc for hybrid and multicloud management, and Azure Resource Manager with ARM templates and Bicep.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Azure Portal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Graphical User Interface (GUI)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Web-based Console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ที่ใช้งานผ่าน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Browser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Monitoring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Cost Management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ใช้งานง่าย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ไม่ต้องจำคำสั่ง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เหมาะกับผู้เริ่มต้น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Dashboard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Visualization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Virtual Machine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ดูสถานะ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User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Administrator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ผู้เริ่มต้นใช้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งานที่ไม่ได้ทำซ้ำบ่อย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Cloud Shell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Browser-based Shell Environment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Command Line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ที่ทำงานบน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Browser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ไม่ต้องติดตั้งอะไรบนเครื่อง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CLI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พร้อมใช้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PowerShell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พร้อมใช้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Login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ใช้ได้จากทุกอุปกรณ์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Portal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คลิก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Shell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→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เริ่มพิมพ์คำสั่งได้ทันที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ผู้ดูแลระบบ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Developer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Automation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ขนาดเล็ก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Azure PowerShell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Command Line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Scripting Tool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PowerShell Cmdlets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สำหรับบริหาร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Windows Admin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Automation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ขั้นสูง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Script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ซ้ำได้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Integration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Ecosystem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ดีมาก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System Administrator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Infrastructure Team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Automation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Azure CLI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Command Line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Cross-platform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สามารถใช้งานได้บน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Windows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Linux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macOS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ใช้งานได้ทุก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Platform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ได้รับความนิยมใน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DevOps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Bash Script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Linux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ได้ดี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DevOps Engineers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Engineers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Linux Administrators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5. Copilot in Azure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AI-Assisted Management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ลักษณะ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AI Assistant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ให้ผู้ใช้สั่งงานด้วยภาษาธรรมชาติ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จุดเด่น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ไม่ต้องจำคำสั่ง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ใช้ภาษาธรรมชาติ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ช่วยวิเคราะห์ข้อมูล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Productivity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Arc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คือบริการที่ช่วยให้องค์กรสามารถบริหารจัดการทรัพยากรจากหลายสภาพแวดล้อมผ่าน Azure Portal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Resource Manager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ได้จากศูนย์กลางเดียว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"Manage anywhere as if it were Azure"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ไม่ว่าทรัพยากรจะอยู่ใน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Azure,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ภายในองค์กร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อื่น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ก็สามารถจัดการด้วยเครื่องมือ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Governance, Security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Monitoring ของ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Arc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คืออะไร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Arc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ทำหน้าที่เชื่อมโยงทรัพยากรต่าง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ๆ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เข้าสู่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Management Plane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Arc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│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├── Azure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├── On-Premises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└── Other Clouds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เมื่อเชื่อมต่อแล้ว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สามารถใช้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Azure Policy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Azure Monitor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RBAC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Microsoft Defender for Cloud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Tags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Compliance Reporting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ได้เหมือนเป็น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ปกติ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Azure Resources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ทรัพยากรที่อยู่บน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อยู่แล้ว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Accounts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SQL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 Services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ในสไลด์ระบุว่า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Native Azure resources managed through Azure Resource Manager with policy, monitoring, and compliance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Management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ได้เต็มรูปแบบ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Governance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Compliance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On-Premises Resources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Arc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สามารถนำทรัพยากรใน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 Center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ขององค์กรเข้าสู่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Servers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Windows Server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Linux Server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Kubernetes Clusters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AKS on-premises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Kubernetes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ภายในองค์กร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SQL Server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SQL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ที่ติดตั้งภายในองค์กร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Azure Data Services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บริการข้อมูลแบบ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Hybrid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Virtual Machines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ที่อยู่ใน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VMware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Hyper-V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แม้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จะยังอยู่ในองค์กร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แต่สามารถ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Policy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Monitor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Defender for Cloud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ได้เหมือนอยู่บน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Other Clouds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Arc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Multi-cloud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Cloud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อื่น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AWS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Google Cloud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Virtual Machines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Kubernetes Clusters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SQL Server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Data Services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องค์กรไม่จำเป็นต้องย้ายทุกอย่างมา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ยังคงใช้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AWS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Google Cloud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แต่บริหารจาก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สิ่งที่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Arc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ช่วยได้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Governance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Policy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กับทุกสภาพแวดล้อม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Plain Text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ต้องติด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Tag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Monitoring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ต้องเข้ารหัสข้อมูล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Show more lines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Security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Defender for Cloud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On-Premises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AWS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Google Cloud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Dashboard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Monitoring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Monitor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Performance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Logs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Alerts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จากทุก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Environment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Compliance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ตรวจสอบมาตรฐาน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ISO 27001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PCI-DSS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CIS Benchmark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ได้จากจุดเดียว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หัวใจ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ของการบริหารจัดการทรัพยากรบน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นั่นคือ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Resource Manager (ARM)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รวมถึงเครื่องมือสำหรับทำ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Infrastructure as Code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IaC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ได้แก่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ARM Templates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Bicep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ทุกครั้งที่คุณสร้าง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VM, Storage, Network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Database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ไม่ว่าจะผ่าน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Portal, CLI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PowerShell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คำสั่งทั้งหมดจะถูกส่งผ่าน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Resource Manager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ก่อนเสมอ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Azure Resource Manager (ARM)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ARM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Service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สำหรับ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Authentication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Authorization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Deployment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Resource Management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Orchestration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ทั้งหมด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ไม่ว่าคุณจะใช้เครื่องมือใด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Portal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CLI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PowerShell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SDK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REST API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สุดท้ายจะเรียกผ่าน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ARM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เหมือนกัน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หน้าที่หลักของ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ARM</a:t>
            </a: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Authentication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ตรวจสอบตัวตน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Entra ID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Principal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Managed Identity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Authorization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ตรวจสอบสิทธิ์ผ่าน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RBAC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Policy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Orchestration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จัดการการสร้าง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หลายตัวให้ทำงานสัมพันธ์กัน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Azure Resource Manager Request Flow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ผู้ใช้กด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Create VM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Portal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ลำดับการทำงาน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Portal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Request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ARM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ตรวจสอบสิทธิ์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ARM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Policy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ARM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ARM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ส่งคำสั่งไป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Services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ที่เกี่ยวข้อง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Compute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Network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ถูกสร้างสำเร็จ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ข้อดีของ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ARM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Resource Deployment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แบบ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Consistent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Policy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RBAC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IaC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Automation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Infrastructure as Code (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IaC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IaC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คืออะไร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“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กำหนด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Infrastructure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Code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แทนการคลิกผ่านหน้าจอ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”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แทนที่จะ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คลิกสร้าง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คลิกสร้าง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Storage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คลิกสร้าง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Network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เราสามารถเขียนไฟล์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Code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แล้ว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Deploy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ทั้งระบบในครั้งเดียว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ประโยชน์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ทำซ้ำได้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Human Error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เวอร์ชันคอนโทรลได้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DevOps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มาตรฐานเดียวกันทุก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Environment</a:t>
            </a: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ARM Templates </a:t>
            </a: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ARM Template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คือไฟล์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JSON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ที่อธิบาย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Infrastructure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ข้อดี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มาตรฐานดั้งเดิมของ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Service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Deploy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ผ่าน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ARM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ได้โดยตรง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ข้อเสีย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JSON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ค่อนข้างยาว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อ่านยาก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⚠️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ซับซ้อนเมื่อระบบใหญ่ขึ้น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5. Bicep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Bicep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คือภาษา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IaC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รุ่นใหม่ของ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ลักษณะ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Declarative DSL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(Domain Specific Language)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พัฒนาขึ้นเพื่อแทน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ARM Template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เมื่อ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Deploy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Bicep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จะถูก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Compile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ARM Template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อัตโนมัติ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https://learn.microsoft.com/training/modules/describe-monitoring-tools-azure/1-introduction</a:t>
            </a:r>
          </a:p>
          <a:p>
            <a:endParaRPr lang="en-US" dirty="0"/>
          </a:p>
          <a:p>
            <a:r>
              <a:rPr lang="en-US" dirty="0"/>
              <a:t>This module introduces the monitoring tools available in Azure.</a:t>
            </a:r>
          </a:p>
          <a:p>
            <a:r>
              <a:rPr lang="en-US" dirty="0"/>
              <a:t>We will cover Azure Advisor for personalized recommendations, Azure Service Health for tracking Azure and resource health, and Azure Monitor for comprehensive telemetry collection and analysis.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Advisor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เป็นบริการที่ทำหน้าที่วิเคราะห์สภาพแวดล้อม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ขององค์กร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และให้คำแนะนำ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(Recommendations)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ตาม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Best Practices ของ 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เพื่อช่วยปรับปรุง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ความน่าเชื่อถือ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(Reliability)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ความปลอดภัย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(Security)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ประสิทธิภาพ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(Performance)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การปฏิบัติงาน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(Operational Excellence)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ต้นทุน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(Cost)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แนวคิดสำคัญ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: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Advisor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เปรียบเสมือน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"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ที่ปรึกษาอัตโนมัติของ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Azure"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ที่คอยบอกว่าอะไรควรปรับปรุงเพื่อให้ระบบดีขึ้น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ปลอดภัยขึ้น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และประหยัดขึ้น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Advisor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ทำงานอย่างไร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Advisor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วิเคราะห์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ที่ใช้งานอยู่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Configuration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เปรียบเทียบกับ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Best Practices ของ Microsoft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สร้าง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Recommendations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เฉพาะสำหรับ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Environment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ของคุณ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หมวดคำแนะนำหลัก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Reliability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ความน่าเชื่อถือ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ช่วยลดความเสี่ยงที่ระบบจะหยุดทำงาน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ตัวอย่างคำแนะนำ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Backup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ไม่ได้ใช้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Availability Zone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Geo-Replication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Application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Single Point of Failure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Availability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Downtime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รองรับ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Business Continuity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Mobile Banking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เพียงเครื่องเดียว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Advisor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อาจแนะนำ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Availability Set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Availability Zone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Security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ความปลอดภัย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ช่วยค้นหาช่องโหว่ด้าน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ตัวอย่างคำแนะนำ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MFA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Microsoft Defender for Cloud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Public Access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ที่ไม่จำเป็น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แก้ไข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Configuration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ลดความเสี่ยงด้าน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Cybersecurity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ป้องกันการโจมตี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Security Posture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Account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Public Access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Advisor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อาจแนะนำ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Public Network Access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Performance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ประสิทธิภาพ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ช่วยปรับปรุง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Performance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ตัวอย่างคำแนะนำ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เปลี่ยน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Size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Premium SSD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Database Tier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แก้ปัญหา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Compute Bottleneck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เพิ่มความเร็วการตอบสนอง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Latency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เพิ่มประสบการณ์ผู้ใช้งาน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Database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มีการใช้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สูงมาก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Advisor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อาจแนะนำ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Upgrade SQL Tier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4. Operational Excellence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ช่วยปรับปรุงกระบวนการบริหารจัดการ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ตัวอย่างคำแนะนำ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Enable Monitoring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Enable Diagnostics Logs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Improve Automation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Improve Deployment Practices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เพิ่มความสามารถในการบริหารจัดการ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Manual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สนับสนุน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DevOps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Monitor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Advisor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อาจแนะนำ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Monitoring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Diagnostic Logs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5. Cost (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ต้นทุน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ช่วยลดค่าใช้จ่ายบน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ตัวอย่างคำแนะนำ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Right-size VM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ที่ไม่ได้ใช้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Reservations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Savings Plan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เป้าหมาย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ลดค่าใช้จ่าย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ใช้ทรัพยากรอย่างคุ้มค่า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เพิ่ม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ROI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CPU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เพียง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5%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Advisor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อาจแนะนำ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ลดขนาด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Service Health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เป็นบริการที่ช่วยติดตามและแจ้งเตือนสถานะการทำงานของ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ตั้งแต่ระดับโลก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ไปจนถึงระดับ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ขององค์กร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1. Azure Status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มุมมองระดับโลก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(Global View)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แสดงสถานะของ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Services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Regions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ทั่วโลก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East US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West Europe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Japan East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Southeast Asia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ใช้ดูอะไร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มีปัญหาระดับ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Global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หรือไม่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ใดมี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Incident</a:t>
            </a:r>
          </a:p>
          <a:p>
            <a:pPr lvl="0"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Planned Maintenance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หรือไม่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เหมาะสำหรับ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ทุกคน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ลูกค้าทั่วไป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ไม่ต้อง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Login Azure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คำถามที่ตอบได้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"Azure Southeast Asia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มีปัญหาหรือไม่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?"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Azure Status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2. Service Health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มุมมองเฉพาะองค์กร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ในสไลด์ระบุ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Your services, your regions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Health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จะแสดงเฉพาะ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Services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ที่องค์กรใช้อยู่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Regions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ที่เกี่ยวข้องกับองค์กร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องค์กรใช้งาน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SQL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Southeast Asia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Japan East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หากเกิด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Incident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Health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จะบอกว่า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องค์กรได้รับผลกระทบหรือไม่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การแจ้งเตือน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ในสไลด์มีรูปกระดิ่ง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แสดงถึง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Personalized Alerts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แจ้งเตือนผ่าน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Email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SMS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Alerts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ITSM Integration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ประเภทของข้อมูล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Issues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เหตุขัดข้องของบริการ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Planned Maintenance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การบำรุงรักษาที่วางแผนไว้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Health Advisories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คำแนะนำที่อาจส่งผลต่อระบบ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ตัวอย่าง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Microsoft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ประกาศ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Maintenance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Japan East</a:t>
            </a: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Health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จะแจ้งเฉพาะลูกค้าที่มี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Region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นั้น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3. Resource Health</a:t>
            </a: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มุมมองระดับ</a:t>
            </a:r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รายตัว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ใช้ดูสถานะของ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รายตัว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Virtual Machine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SQL Database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App Service</a:t>
            </a:r>
          </a:p>
          <a:p>
            <a:pPr lvl="0"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Storage Account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ตรวจสอบอะไรได้</a:t>
            </a:r>
            <a:endParaRPr lang="en-US" sz="882" b="1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ทำงานปกติหรือไม่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ถูกหยุดโดย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หรือไม่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เกิดปัญหาจาก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Platform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หรือไม่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✅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มีประวัติ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Health Events</a:t>
            </a:r>
          </a:p>
          <a:p>
            <a:pPr fontAlgn="t"/>
            <a:b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</a:b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Azure Status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ดูสถานะ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Azure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ทั่วโลก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Service Health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ดูบริการที่องค์กรใช้งาน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และรับแจ้งเตือนเฉพาะส่วนที่เกี่ยวข้อง</a:t>
            </a:r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r>
              <a:rPr lang="en-US" sz="882" b="1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Resource Health</a:t>
            </a:r>
          </a:p>
          <a:p>
            <a:pPr fontAlgn="t"/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ดูสถานะของ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Resource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รายตัว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เช่น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VM </a:t>
            </a:r>
            <a:r>
              <a:rPr lang="en-US" sz="882" b="0" i="0" kern="1200" dirty="0" err="1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หรือ</a:t>
            </a:r>
            <a:r>
              <a:rPr lang="en-US" sz="882" b="0" i="0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 Database</a:t>
            </a:r>
          </a:p>
          <a:p>
            <a:pPr fontAlgn="t"/>
            <a:endParaRPr lang="en-US" sz="882" b="0" i="0" kern="1200" dirty="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URL: https://learn.microsoft.com/training/modules/describe-monitoring-tools-azure/4-describe-azure-monitor</a:t>
            </a:r>
          </a:p>
          <a:p>
            <a:endParaRPr lang="en-US" dirty="0"/>
          </a:p>
          <a:p>
            <a:r>
              <a:rPr lang="en-US" dirty="0"/>
              <a:t>Azure Monitor is a comprehensive platform for collecting, analyzing, and acting on telemetry from Azure, on-premises, and multicloud environments.</a:t>
            </a:r>
          </a:p>
          <a:p>
            <a:r>
              <a:rPr lang="en-US" dirty="0"/>
              <a:t>It gathers logs and metrics from applications, operating systems, and network layers, stores the data centrally, and makes it available through dashboards, queries, and alerts.</a:t>
            </a:r>
          </a:p>
          <a:p>
            <a:r>
              <a:rPr lang="en-US" dirty="0"/>
              <a:t>Log Analytics is the tool in the Azure portal for writing and running queries against collected data, from simple error filtering to advanced trend analysis.</a:t>
            </a:r>
          </a:p>
          <a:p>
            <a:r>
              <a:rPr lang="en-US" dirty="0"/>
              <a:t>Azure Monitor Alerts notify you when defined conditions are met. Alerts can be metric-based, such as CPU above 80 percent, or log-based for specific error patterns. Action groups control notification and response.</a:t>
            </a:r>
          </a:p>
          <a:p>
            <a:r>
              <a:rPr lang="en-US" dirty="0"/>
              <a:t>Application Insights monitors web application performance, including request rates, response times, failure rates, dependency calls, and page load times. Synthetic availability tests verify your application is responding even during low-traffic periods.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jpeg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jpe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0.jpeg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0.jpeg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jpeg"/><Relationship Id="rId4" Type="http://schemas.openxmlformats.org/officeDocument/2006/relationships/image" Target="../media/image26.jpeg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2.jpeg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7.jpeg"/><Relationship Id="rId5" Type="http://schemas.openxmlformats.org/officeDocument/2006/relationships/image" Target="../media/image27.jpeg"/><Relationship Id="rId4" Type="http://schemas.openxmlformats.org/officeDocument/2006/relationships/image" Target="../media/image20.jpeg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0.jpeg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7.jpeg"/><Relationship Id="rId4" Type="http://schemas.openxmlformats.org/officeDocument/2006/relationships/image" Target="../media/image20.jpeg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7.jpeg"/><Relationship Id="rId5" Type="http://schemas.openxmlformats.org/officeDocument/2006/relationships/image" Target="../media/image27.jpeg"/><Relationship Id="rId4" Type="http://schemas.openxmlformats.org/officeDocument/2006/relationships/image" Target="../media/image20.jpeg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7E11D7A2-B01C-A8A3-A191-67F185635D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4" name="Picture 3" descr="Microsoft Learn Spark possibility">
            <a:extLst>
              <a:ext uri="{FF2B5EF4-FFF2-40B4-BE49-F238E27FC236}">
                <a16:creationId xmlns:a16="http://schemas.microsoft.com/office/drawing/2014/main" id="{92DBCEC2-8AE9-3782-893D-A626AAC4C12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223228" y="2573202"/>
            <a:ext cx="5344642" cy="168195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271FB7A-72FC-2B10-878C-854A9CF5A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34741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  <p15:guide id="8" orient="horz" pos="162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88338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9824"/>
          <a:stretch/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F739926-D45E-64CA-0DB0-97104E14A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19028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 userDrawn="1">
          <p15:clr>
            <a:srgbClr val="FBAE40"/>
          </p15:clr>
        </p15:guide>
        <p15:guide id="2" orient="horz" pos="264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AB8950-CE1F-05A6-2114-49B53E68C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14116FB-E904-DC73-7B06-3E2245263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AC2502E-5D9F-F851-3464-EDB3AAD612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818177"/>
            <a:ext cx="5033361" cy="280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4130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 userDrawn="1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 userDrawn="1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 userDrawn="1">
          <p15:clr>
            <a:srgbClr val="954F72"/>
          </p15:clr>
        </p15:guide>
        <p15:guide id="40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_2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0DCC4-9FA9-09C4-BB96-6B9979AA2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00A7934-B6A5-1A91-FBCA-710DD07CE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82F77F-F413-CFB2-A490-42936771DA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389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F9FBD2C-38D6-C1BF-620A-300B1F4C5C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1338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9712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 userDrawn="1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 userDrawn="1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 userDrawn="1">
          <p15:clr>
            <a:srgbClr val="954F7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-BI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A94852-62BE-D975-5820-B3227B110B53}"/>
              </a:ext>
            </a:extLst>
          </p:cNvPr>
          <p:cNvSpPr/>
          <p:nvPr userDrawn="1"/>
        </p:nvSpPr>
        <p:spPr bwMode="auto">
          <a:xfrm>
            <a:off x="1" y="0"/>
            <a:ext cx="7036066" cy="6858000"/>
          </a:xfrm>
          <a:prstGeom prst="rect">
            <a:avLst/>
          </a:prstGeom>
          <a:solidFill>
            <a:srgbClr val="F4F3F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749038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3B5AFD-1A0C-9C6A-B579-7F4B791823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7554590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8B296A1-E2FF-6AD0-056E-6FFA0EA08B6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10568728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8F4ACC-A223-94FA-AF57-8B62501B0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1659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8133D48-744E-F029-079E-2E16C28098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ltGray">
          <a:xfrm>
            <a:off x="7554590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09D3DDE-EAFB-B57D-9147-8827F7743E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ltGray">
          <a:xfrm>
            <a:off x="10568728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FDB12BE-8B16-4DC3-C014-945C54E8CD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ltGray">
          <a:xfrm>
            <a:off x="9061659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0375802-7BB3-7A20-1210-E5FEEE1A56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8165231" y="457200"/>
            <a:ext cx="2849035" cy="2874212"/>
          </a:xfrm>
          <a:prstGeom prst="roundRect">
            <a:avLst>
              <a:gd name="adj" fmla="val 21738"/>
            </a:avLst>
          </a:prstGeom>
          <a:blipFill>
            <a:blip r:embed="rId2"/>
            <a:stretch>
              <a:fillRect/>
            </a:stretch>
          </a:blipFill>
          <a:effectLst>
            <a:outerShdw blurRad="314198" dist="111760" dir="8040000" algn="ctr" rotWithShape="0">
              <a:schemeClr val="tx1">
                <a:alpha val="22000"/>
              </a:schemeClr>
            </a:outerShdw>
          </a:effectLst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4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</a:t>
            </a:r>
            <a:br>
              <a:rPr lang="en-US"/>
            </a:br>
            <a:r>
              <a:rPr lang="en-US"/>
              <a:t>add your picture here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D3ECBC57-006B-CB8F-1EDC-04C18F0D0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969660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page_Big headline_Lear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61096-DA6C-ED52-FA05-5031C6CAB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2E59AFC-909D-1098-D672-A384B9746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081" y="2448062"/>
            <a:ext cx="10430257" cy="1015663"/>
          </a:xfrm>
        </p:spPr>
        <p:txBody>
          <a:bodyPr anchor="b" anchorCtr="0"/>
          <a:lstStyle>
            <a:lvl1pPr>
              <a:defRPr sz="6600" spc="-100" baseline="0">
                <a:latin typeface="+mn-lt"/>
              </a:defRPr>
            </a:lvl1pPr>
          </a:lstStyle>
          <a:p>
            <a:r>
              <a:rPr lang="en-US"/>
              <a:t>Big headline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AE3F76B-93DD-2A11-C7C5-3051EECE97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278313"/>
            <a:ext cx="471268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77A8E4-EDF0-DDB3-8098-28D44E234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6410" y="4278313"/>
            <a:ext cx="376595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750801D-F318-C32F-F1A8-2EB08A5D1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9405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68" userDrawn="1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36" userDrawn="1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73569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707281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A4E92E8-A50E-5AB4-8891-983AC58DB6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199" y="1386766"/>
            <a:ext cx="1101160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47809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8189027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790AA64-2857-089A-38D7-2F214254E9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200" y="1594155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5AAAF14-6312-27D6-344A-FC49DD3F11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4340E81D-820D-EB95-DECF-8E23BA57E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61833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3CBC165-170D-08C9-3B02-A3330AE9A5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056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82E19E-C6C9-5DF7-1994-AFE741475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1591056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4C53E4F-2958-0FC0-1745-B9DBECE7A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27343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 userDrawn="1">
          <p15:clr>
            <a:srgbClr val="954F72"/>
          </p15:clr>
        </p15:guide>
        <p15:guide id="9" pos="2150">
          <p15:clr>
            <a:srgbClr val="954F72"/>
          </p15:clr>
        </p15:guide>
        <p15:guide id="10" pos="2544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88" userDrawn="1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99DE518-C598-A940-A59E-AD0A05432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4E25ABE-71E1-BA48-6C8C-383755934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B7E7F6E-4D9D-5F8C-A5F0-526CA973BE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2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DAE155-2008-5357-51E8-E6B1FA7558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2085764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0B703353-C9ED-0F6F-D7CB-28042BD05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1603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940B0D9-7832-B819-D230-4F210761A2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0D492BA-29A5-F31A-7F93-39ADE3E5ED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2862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EDCFC9-DB25-88C3-92DA-E2554C14A2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01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6EDDB5AC-BBCB-7CEB-9BCA-27715FCAD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35124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23481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44443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2988" userDrawn="1">
          <p15:clr>
            <a:srgbClr val="FBAE40"/>
          </p15:clr>
        </p15:guide>
        <p15:guide id="42" pos="5352" userDrawn="1">
          <p15:clr>
            <a:srgbClr val="FBAE40"/>
          </p15:clr>
        </p15:guide>
        <p15:guide id="43" orient="horz" pos="108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3924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50327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4C1821-6346-D755-83F0-EC5D04C1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8BC1E6-3311-A73F-871A-923C49C012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8C01D0-23FB-7438-A9BF-8E99080C9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571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F7E24-0716-000F-A23E-D45713ECDD7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30DA7-1CDF-18F6-E151-AAB77695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C534918-4E28-3067-DE75-AAF487EA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3586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6FC6DD5-F717-45AB-C65A-E483E17C4FE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974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14A3419-0299-D6E2-EAEC-B759C421A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444237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87FC08B-CC69-ED5E-1E89-0FB4958D4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979816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9E0A83-7ED9-6F5C-AEC4-5B98F5388F70}"/>
              </a:ext>
            </a:extLst>
          </p:cNvPr>
          <p:cNvSpPr/>
          <p:nvPr userDrawn="1"/>
        </p:nvSpPr>
        <p:spPr bwMode="auto">
          <a:xfrm>
            <a:off x="0" y="0"/>
            <a:ext cx="12192000" cy="4572000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7ADEB9F-DC30-5B40-6D59-13194450FB0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720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0ADD2377-43F1-3C9F-D5EF-EBBBA2C54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2611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581150"/>
            <a:ext cx="7535862" cy="443072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BA3E60F0-F025-04E8-0E46-71699A62E4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17414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D105096-7BC3-1383-8EE1-744002B706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31728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22435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ACB92EB-B163-EB38-0156-C028F872F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471466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190326-CB8A-9A65-714A-07CD312C3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4712685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90DBB6-E167-EFBB-7028-7961583956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93988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 userDrawn="1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 userDrawn="1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8356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B1DE51-5CDE-B96B-62FD-3A69CF69288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8128000" y="0"/>
            <a:ext cx="4064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59737277-FC4D-0B1F-1FD5-5CD35AF44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4390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photos_with Cap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6CBF8D-4C8A-D667-58CE-C8A22C93DED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4200" y="1591310"/>
            <a:ext cx="5365752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F2BCABA-7928-0037-D0EF-38F1FAAC53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575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056B6E8-083F-87EA-AD66-DF2D022A25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6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6242049" y="1591310"/>
            <a:ext cx="5357813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575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4976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999AE8AC-4BD3-270C-095A-CBDB57EBD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43504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photos_with Cap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6CBF8D-4C8A-D667-58CE-C8A22C93DED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4200" y="1591310"/>
            <a:ext cx="3481388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F2BCABA-7928-0037-D0EF-38F1FAAC53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575104"/>
            <a:ext cx="347907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056B6E8-083F-87EA-AD66-DF2D022A25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6443"/>
            <a:ext cx="347761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353560" y="1591310"/>
            <a:ext cx="3481388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74792" y="4575104"/>
            <a:ext cx="3476891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83855" y="4976442"/>
            <a:ext cx="347761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AAE6802-21C6-E5BE-3A2D-31CF010C9EF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8128000" y="1591309"/>
            <a:ext cx="3486092" cy="2684159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80D639A-857F-73A5-343B-28EC4082B8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3626" y="4571913"/>
            <a:ext cx="3485371" cy="187857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712E1C1-EE18-EA11-6D06-673117B00DC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28000" y="4973784"/>
            <a:ext cx="3486092" cy="15654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8BE8869C-5952-747A-C0D5-069DD40B24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6689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photos_with Cap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58661F-95C1-B4E4-0A23-B8DF22E7890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5842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0B31DB7-7E61-84AD-6FD2-E7035923C5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575104"/>
            <a:ext cx="253569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C05A197-25AD-0D46-72B3-478F9182C5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C00AC3-107E-A09F-8DF5-09CDA496E0E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 bwMode="ltGray">
          <a:xfrm>
            <a:off x="34290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E8CE4D2-B387-0A2B-B7D1-7F14B892048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13125" y="4575104"/>
            <a:ext cx="2534111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6618941-6CC1-7AAC-4FE2-94D7D46F79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22188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A62A022-68CB-A937-A489-4F6F1B7467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62484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7F06D45-B145-3780-49F6-BE617DDBDE4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40462" y="4575104"/>
            <a:ext cx="2534111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B0B40D6-1117-8B24-4089-BB3CEF4DAF3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34836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41013BA-5459-4F89-B59D-0ADC194876D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78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9C586E8F-D3A3-C215-76A4-E3A03A5104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76259" y="4575104"/>
            <a:ext cx="2534111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11900E2-1D2D-6D0A-7E29-8FAEA637B2C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82208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59C58CD9-BE7F-91A5-A489-7701C46FA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066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4251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292233"/>
            <a:ext cx="7535862" cy="3279768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64000" y="4830309"/>
            <a:ext cx="7535862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073063" y="5231647"/>
            <a:ext cx="75268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F30B2090-3FEF-BD7A-3D1A-F15263CE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292232"/>
            <a:ext cx="3121026" cy="5565768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9AA33E8-65E2-5482-066C-B301F74B3F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2" y="2210101"/>
            <a:ext cx="2113253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0198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90A9B-98DE-E407-1677-225E1CB27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60FA2C5-0F45-1F96-1312-4AD604060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7958667" y="1348398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58406-DE31-8249-0E02-6D12B150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8887" y="1759165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02C46-D31C-FDEF-C231-716FBE6417F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7724775" y="2041526"/>
            <a:ext cx="4467225" cy="331152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914400" tIns="0" rIns="914400" bIns="14630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website screenshot here or click or tap 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FD7D075-9E51-3CE8-5505-AE5C8CAB04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A9016-5747-B1D1-36DE-145A4E94C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481D8892-E962-43F0-5F5F-08F524F7E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424348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99355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Off-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89885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220598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771955"/>
            <a:ext cx="8778782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2263564"/>
            <a:ext cx="87750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358903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8408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 userDrawn="1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139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009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full pag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2F35014-FB65-ACD9-730E-E1D616E561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3"/>
              </a:gs>
            </a:gsLst>
            <a:lin ang="16200000" scaled="1"/>
            <a:tileRect/>
          </a:gradFill>
        </p:spPr>
        <p:txBody>
          <a:bodyPr vert="horz" wrap="square" lIns="585216" tIns="91440" rIns="0" bIns="45720" rtlCol="0">
            <a:spAutoFit/>
          </a:bodyPr>
          <a:lstStyle>
            <a:lvl1pPr marL="0" indent="0">
              <a:buNone/>
              <a:defRPr kumimoji="0" lang="en-US" sz="1999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</a:defRPr>
            </a:lvl1pPr>
          </a:lstStyle>
          <a:p>
            <a:pPr marL="228600" lvl="0" indent="-228600"/>
            <a:r>
              <a:rPr lang="en-US"/>
              <a:t>Click to enter title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C3CADB3-1E72-D613-A509-B863360A3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2E0005-D466-9A2B-2F72-437D2E7450DA}"/>
              </a:ext>
            </a:extLst>
          </p:cNvPr>
          <p:cNvSpPr txBox="1">
            <a:spLocks/>
          </p:cNvSpPr>
          <p:nvPr userDrawn="1"/>
        </p:nvSpPr>
        <p:spPr>
          <a:xfrm>
            <a:off x="295276" y="770467"/>
            <a:ext cx="11604624" cy="5504921"/>
          </a:xfrm>
          <a:prstGeom prst="rect">
            <a:avLst/>
          </a:prstGeom>
          <a:solidFill>
            <a:srgbClr val="FFFFFF"/>
          </a:solidFill>
        </p:spPr>
        <p:txBody>
          <a:bodyPr vert="horz" lIns="274320" tIns="182880" rIns="182880" bIns="182880" rtlCol="0">
            <a:noAutofit/>
          </a:bodyPr>
          <a:lstStyle>
            <a:lvl1pPr marL="0" indent="0" algn="l" defTabSz="914132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20000"/>
              <a:buFontTx/>
              <a:buNone/>
              <a:defRPr lang="en-US" sz="1400" b="0" i="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Segoe UI Semibold" charset="0"/>
                <a:cs typeface="Segoe UI Semibold" charset="0"/>
              </a:defRPr>
            </a:lvl1pPr>
            <a:lvl2pPr marL="0" indent="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10000"/>
              <a:buFont typeface="Arial" charset="0"/>
              <a:buNone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2pPr>
            <a:lvl3pPr marL="288925" indent="-22225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20000"/>
              <a:buFont typeface="Arial" charset="0"/>
              <a:buChar char="•"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3pPr>
            <a:lvl4pPr marL="631825" indent="-18288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charset="0"/>
              <a:buChar char="•"/>
              <a:tabLst/>
              <a:defRPr lang="en-US" sz="18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4pPr>
            <a:lvl5pPr marL="1162685" indent="-194310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/>
              <a:buChar char="•"/>
              <a:defRPr lang="en-US" sz="1600" b="0" i="0" kern="1200" dirty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5pPr>
            <a:lvl6pPr marL="1873781" indent="-228533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26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92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57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2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E9E9E9"/>
              </a:buClr>
              <a:buSzPct val="120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Segoe UI Semibold" charset="0"/>
            </a:endParaRPr>
          </a:p>
        </p:txBody>
      </p:sp>
      <p:sp>
        <p:nvSpPr>
          <p:cNvPr id="9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3EC8DAD9-3274-7DD3-8458-A6CF6E36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438" y="1083733"/>
            <a:ext cx="11020425" cy="4885267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167848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right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D107E2-140D-CB86-9FA1-B9481E49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404276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7F5E94-C055-4558-A211-EF7933FCA8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4155"/>
            <a:ext cx="404276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A89B3FAE-417F-41EF-9D05-0D6CAF8EC7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582613"/>
            <a:ext cx="5799138" cy="5692775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690523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F055FC1-EF87-C5EC-9545-B346C73AC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389" y="2081710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BA1527-2F4C-29A6-6A08-4FBA5CAE4E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6389" y="3587124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81DC28-90DC-14C9-6ED7-101D16E58F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389" y="4077778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0281408E-274B-89C6-8571-F986E6EE6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7414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B2054C5-1258-8F24-CB3E-C0C7AA294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1258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6043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D9E8228-6949-BCF9-F825-22D65A43DB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2080227"/>
            <a:ext cx="3361943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DD9B65-7B9C-E803-654B-692D90202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5640" y="2276475"/>
            <a:ext cx="7114222" cy="1689099"/>
          </a:xfr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1pPr>
            <a:lvl2pPr marL="155448" indent="0"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2pPr>
            <a:lvl3pPr marL="265176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D724FF2-BFB6-0799-B9AE-F83BA9177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35951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592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Gradient_Dark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  Description automatically generated">
            <a:extLst>
              <a:ext uri="{FF2B5EF4-FFF2-40B4-BE49-F238E27FC236}">
                <a16:creationId xmlns:a16="http://schemas.microsoft.com/office/drawing/2014/main" id="{09C25A02-AC19-00D7-AA19-15FBBBA075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952" cy="6856285"/>
          </a:xfrm>
          <a:prstGeom prst="rect">
            <a:avLst/>
          </a:prstGeom>
        </p:spPr>
      </p:pic>
      <p:pic>
        <p:nvPicPr>
          <p:cNvPr id="6" name="MS logo white - EMF">
            <a:extLst>
              <a:ext uri="{FF2B5EF4-FFF2-40B4-BE49-F238E27FC236}">
                <a16:creationId xmlns:a16="http://schemas.microsoft.com/office/drawing/2014/main" id="{15F18C2F-44AE-47B2-AF66-6F44850A45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D261202-B43E-AFEC-1247-D8B93E325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9911" y="2769057"/>
            <a:ext cx="8193024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F89D852-EFBA-6F99-2050-8532FF783C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2042" y="4215827"/>
            <a:ext cx="819302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BD8134C-9DAE-AC17-E85E-797425358B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82042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BD6AF20-3445-2A80-6CE8-04C04421E1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2471054" y="6446520"/>
            <a:ext cx="633679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4357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>
          <p15:clr>
            <a:srgbClr val="FBAE40"/>
          </p15:clr>
        </p15:guide>
        <p15:guide id="2" orient="horz" pos="2647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5F3B42E-49D5-A402-BB55-46E458419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459291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1C4BDD7D-AB67-C540-A18F-6434E586C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916344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arningPath2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DE894E4-791C-907F-1385-BF33ADCFF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188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7064">
          <p15:clr>
            <a:srgbClr val="FBAE40"/>
          </p15:clr>
        </p15:guide>
        <p15:guide id="41" orient="horz" pos="3638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ption_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B19F3EF-E352-4C65-98EB-C1D64E0A72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460" y="1456896"/>
            <a:ext cx="10210404" cy="7772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5"/>
              </a:lnSpc>
              <a:spcBef>
                <a:spcPts val="882"/>
              </a:spcBef>
              <a:buNone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93C46D7-E811-4904-971C-BDAE52869A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9460" y="2499114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5"/>
              </a:lnSpc>
              <a:spcBef>
                <a:spcPts val="882"/>
              </a:spcBef>
              <a:buNone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84EFDE3-C2B4-4663-8852-A0D2423EB1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89460" y="3545276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367" rtl="0" eaLnBrk="1" fontAlgn="auto" latinLnBrk="0" hangingPunct="1">
              <a:lnSpc>
                <a:spcPts val="1765"/>
              </a:lnSpc>
              <a:spcBef>
                <a:spcPts val="882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98D09561-FD4E-3066-64C2-824D66760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67A521-F4FD-E8EE-E376-D23CEA34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4A61D4-2EBC-3C89-B9B9-A7E300634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2366625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5C7F07-21BA-232C-099C-2DFC70761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3412787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271408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ption_4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DF9284C-6F78-4885-87E1-4AAD9E8090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460" y="1456896"/>
            <a:ext cx="10210404" cy="7772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5"/>
              </a:lnSpc>
              <a:spcBef>
                <a:spcPts val="882"/>
              </a:spcBef>
              <a:buNone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E9EA958-BE84-43C9-98F0-0C08E8EDD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2366625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0E35C16-1FD5-43B8-8A48-E2CAEC4A6E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9460" y="2499114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5"/>
              </a:lnSpc>
              <a:spcBef>
                <a:spcPts val="882"/>
              </a:spcBef>
              <a:buNone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C78D634-25BA-4087-A772-1E555254B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3412787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F7B3EC7-70FC-4307-BB11-53CB4E14FF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89460" y="3545276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367" rtl="0" eaLnBrk="1" fontAlgn="auto" latinLnBrk="0" hangingPunct="1">
              <a:lnSpc>
                <a:spcPts val="1765"/>
              </a:lnSpc>
              <a:spcBef>
                <a:spcPts val="882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1CE9993-705A-488D-910E-290FD0A52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4458949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DC5585A5-DAB7-4EFE-A980-497178E03B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89460" y="4591438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367" rtl="0" eaLnBrk="1" fontAlgn="auto" latinLnBrk="0" hangingPunct="1">
              <a:lnSpc>
                <a:spcPts val="1765"/>
              </a:lnSpc>
              <a:spcBef>
                <a:spcPts val="882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03F58DC3-B4E8-1391-2AF6-4FE989430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B21E8C-92C0-72B7-D04D-01894741A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45696836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ption_5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389460" y="1456896"/>
            <a:ext cx="10210404" cy="6456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5"/>
              </a:lnSpc>
              <a:spcBef>
                <a:spcPts val="882"/>
              </a:spcBef>
              <a:buNone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A35CC4-D06B-40B4-91B1-CDA133426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2205973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389460" y="2309426"/>
            <a:ext cx="10210404" cy="6489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5"/>
              </a:lnSpc>
              <a:spcBef>
                <a:spcPts val="882"/>
              </a:spcBef>
              <a:buNone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9B8E47-3705-4496-95DB-2F04B3952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3061779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1389460" y="3165232"/>
            <a:ext cx="10210404" cy="6489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367" rtl="0" eaLnBrk="1" fontAlgn="auto" latinLnBrk="0" hangingPunct="1">
              <a:lnSpc>
                <a:spcPts val="1765"/>
              </a:lnSpc>
              <a:spcBef>
                <a:spcPts val="882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1F4189-FC32-45CA-8DDD-889412FB1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3917585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1389460" y="4021038"/>
            <a:ext cx="10210404" cy="6489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367" rtl="0" eaLnBrk="1" fontAlgn="auto" latinLnBrk="0" hangingPunct="1">
              <a:lnSpc>
                <a:spcPts val="1765"/>
              </a:lnSpc>
              <a:spcBef>
                <a:spcPts val="882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EE9FF8-98D9-46AE-9E3D-2F72E00C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4773391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1389460" y="4876845"/>
            <a:ext cx="10210404" cy="6489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367" rtl="0" eaLnBrk="1" fontAlgn="auto" latinLnBrk="0" hangingPunct="1">
              <a:lnSpc>
                <a:spcPts val="1765"/>
              </a:lnSpc>
              <a:spcBef>
                <a:spcPts val="882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91010A63-B7F0-F2E2-B929-AA7970F28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826457-AD96-78F4-E9DC-B4CC7DCCE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4305509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5AC9CC-CBA7-2165-37C5-00D2CAABA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863338" cy="37151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94A1388-BD3C-450C-8D99-7C21AEFDA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414357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Learn-with Head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294CE2C-953A-10B8-F580-7F93E4F1234F}"/>
              </a:ext>
            </a:extLst>
          </p:cNvPr>
          <p:cNvGrpSpPr/>
          <p:nvPr userDrawn="1"/>
        </p:nvGrpSpPr>
        <p:grpSpPr>
          <a:xfrm>
            <a:off x="0" y="0"/>
            <a:ext cx="12192001" cy="1289051"/>
            <a:chOff x="0" y="0"/>
            <a:chExt cx="12192001" cy="128905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7080A99-448F-6067-0FC9-8A3F1093BB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125" b="79253"/>
            <a:stretch/>
          </p:blipFill>
          <p:spPr>
            <a:xfrm>
              <a:off x="0" y="1"/>
              <a:ext cx="12192001" cy="128905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129612-B6F9-E264-C307-D22FBB0EACA2}"/>
                </a:ext>
              </a:extLst>
            </p:cNvPr>
            <p:cNvSpPr/>
            <p:nvPr userDrawn="1"/>
          </p:nvSpPr>
          <p:spPr bwMode="auto">
            <a:xfrm>
              <a:off x="7315200" y="0"/>
              <a:ext cx="1454150" cy="82550"/>
            </a:xfrm>
            <a:prstGeom prst="rect">
              <a:avLst/>
            </a:prstGeom>
            <a:solidFill>
              <a:srgbClr val="E8E6D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605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B6A3D4E9-A69B-36D6-0102-4B231B875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911032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36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7E11D7A2-B01C-A8A3-A191-67F185635D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4" name="Picture 3" descr="Microsoft Learn Spark possibility">
            <a:extLst>
              <a:ext uri="{FF2B5EF4-FFF2-40B4-BE49-F238E27FC236}">
                <a16:creationId xmlns:a16="http://schemas.microsoft.com/office/drawing/2014/main" id="{92DBCEC2-8AE9-3782-893D-A626AAC4C12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223228" y="2573202"/>
            <a:ext cx="5344642" cy="168195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271FB7A-72FC-2B10-878C-854A9CF5A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60326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  <p15:guide id="8" orient="horz" pos="162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0571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9824"/>
          <a:stretch/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F739926-D45E-64CA-0DB0-97104E14A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48282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>
          <p15:clr>
            <a:srgbClr val="FBAE40"/>
          </p15:clr>
        </p15:guide>
        <p15:guide id="2" orient="horz" pos="2647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AB8950-CE1F-05A6-2114-49B53E68C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14116FB-E904-DC73-7B06-3E2245263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AC2502E-5D9F-F851-3464-EDB3AAD612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818177"/>
            <a:ext cx="5033361" cy="280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81669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>
          <p15:clr>
            <a:srgbClr val="954F72"/>
          </p15:clr>
        </p15:guide>
        <p15:guide id="40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_2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0DCC4-9FA9-09C4-BB96-6B9979AA2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00A7934-B6A5-1A91-FBCA-710DD07CE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82F77F-F413-CFB2-A490-42936771DA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389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F9FBD2C-38D6-C1BF-620A-300B1F4C5C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1338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2237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>
          <p15:clr>
            <a:srgbClr val="954F7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-BI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A94852-62BE-D975-5820-B3227B110B53}"/>
              </a:ext>
            </a:extLst>
          </p:cNvPr>
          <p:cNvSpPr/>
          <p:nvPr userDrawn="1"/>
        </p:nvSpPr>
        <p:spPr bwMode="auto">
          <a:xfrm>
            <a:off x="1" y="0"/>
            <a:ext cx="7036066" cy="6858000"/>
          </a:xfrm>
          <a:prstGeom prst="rect">
            <a:avLst/>
          </a:prstGeom>
          <a:solidFill>
            <a:srgbClr val="F4F3F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749038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3B5AFD-1A0C-9C6A-B579-7F4B791823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7554590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8B296A1-E2FF-6AD0-056E-6FFA0EA08B6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10568728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8F4ACC-A223-94FA-AF57-8B62501B0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1659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8133D48-744E-F029-079E-2E16C28098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ltGray">
          <a:xfrm>
            <a:off x="7554590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09D3DDE-EAFB-B57D-9147-8827F7743E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ltGray">
          <a:xfrm>
            <a:off x="10568728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FDB12BE-8B16-4DC3-C014-945C54E8CD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ltGray">
          <a:xfrm>
            <a:off x="9061659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0375802-7BB3-7A20-1210-E5FEEE1A56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8165231" y="457200"/>
            <a:ext cx="2849035" cy="2874212"/>
          </a:xfrm>
          <a:prstGeom prst="roundRect">
            <a:avLst>
              <a:gd name="adj" fmla="val 21738"/>
            </a:avLst>
          </a:prstGeom>
          <a:blipFill>
            <a:blip r:embed="rId2"/>
            <a:stretch>
              <a:fillRect/>
            </a:stretch>
          </a:blipFill>
          <a:effectLst>
            <a:outerShdw blurRad="314198" dist="111760" dir="8040000" algn="ctr" rotWithShape="0">
              <a:schemeClr val="tx1">
                <a:alpha val="22000"/>
              </a:schemeClr>
            </a:outerShdw>
          </a:effectLst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4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</a:t>
            </a:r>
            <a:br>
              <a:rPr lang="en-US"/>
            </a:br>
            <a:r>
              <a:rPr lang="en-US"/>
              <a:t>add your picture here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D3ECBC57-006B-CB8F-1EDC-04C18F0D0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765439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page_Big headline_Lear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61096-DA6C-ED52-FA05-5031C6CAB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2E59AFC-909D-1098-D672-A384B9746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081" y="2448062"/>
            <a:ext cx="10430257" cy="1015663"/>
          </a:xfrm>
        </p:spPr>
        <p:txBody>
          <a:bodyPr anchor="b" anchorCtr="0"/>
          <a:lstStyle>
            <a:lvl1pPr>
              <a:defRPr sz="6600" spc="-100" baseline="0">
                <a:latin typeface="+mn-lt"/>
              </a:defRPr>
            </a:lvl1pPr>
          </a:lstStyle>
          <a:p>
            <a:r>
              <a:rPr lang="en-US"/>
              <a:t>Big headline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AE3F76B-93DD-2A11-C7C5-3051EECE97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278313"/>
            <a:ext cx="471268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77A8E4-EDF0-DDB3-8098-28D44E234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6410" y="4278313"/>
            <a:ext cx="376595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750801D-F318-C32F-F1A8-2EB08A5D1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96520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68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36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3263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A4E92E8-A50E-5AB4-8891-983AC58DB6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199" y="1386766"/>
            <a:ext cx="1101160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224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8189027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790AA64-2857-089A-38D7-2F214254E9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200" y="1594155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5AAAF14-6312-27D6-344A-FC49DD3F11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4340E81D-820D-EB95-DECF-8E23BA57E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58865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3CBC165-170D-08C9-3B02-A3330AE9A5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056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82E19E-C6C9-5DF7-1994-AFE741475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1591056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4C53E4F-2958-0FC0-1745-B9DBECE7A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56439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88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99DE518-C598-A940-A59E-AD0A05432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4E25ABE-71E1-BA48-6C8C-383755934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B7E7F6E-4D9D-5F8C-A5F0-526CA973BE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2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DAE155-2008-5357-51E8-E6B1FA7558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2085764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0B703353-C9ED-0F6F-D7CB-28042BD05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65081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940B0D9-7832-B819-D230-4F210761A2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0D492BA-29A5-F31A-7F93-39ADE3E5ED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2862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EDCFC9-DB25-88C3-92DA-E2554C14A2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01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6EDDB5AC-BBCB-7CEB-9BCA-27715FCAD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51046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4716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03558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2988">
          <p15:clr>
            <a:srgbClr val="FBAE40"/>
          </p15:clr>
        </p15:guide>
        <p15:guide id="42" pos="5352">
          <p15:clr>
            <a:srgbClr val="FBAE40"/>
          </p15:clr>
        </p15:guide>
        <p15:guide id="43" orient="horz" pos="1085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68675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3840">
          <p15:clr>
            <a:srgbClr val="FBAE40"/>
          </p15:clr>
        </p15:guide>
        <p15:guide id="42" pos="6216">
          <p15:clr>
            <a:srgbClr val="FBAE40"/>
          </p15:clr>
        </p15:guide>
        <p15:guide id="43" orient="horz" pos="1284">
          <p15:clr>
            <a:srgbClr val="FBAE40"/>
          </p15:clr>
        </p15:guide>
        <p15:guide id="44" pos="3940">
          <p15:clr>
            <a:srgbClr val="FBAE40"/>
          </p15:clr>
        </p15:guide>
        <p15:guide id="45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4C1821-6346-D755-83F0-EC5D04C1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8BC1E6-3311-A73F-871A-923C49C012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8C01D0-23FB-7438-A9BF-8E99080C9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5891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3840">
          <p15:clr>
            <a:srgbClr val="FBAE40"/>
          </p15:clr>
        </p15:guide>
        <p15:guide id="42" pos="6216">
          <p15:clr>
            <a:srgbClr val="FBAE40"/>
          </p15:clr>
        </p15:guide>
        <p15:guide id="43" orient="horz" pos="1284">
          <p15:clr>
            <a:srgbClr val="FBAE40"/>
          </p15:clr>
        </p15:guide>
        <p15:guide id="44" pos="3940">
          <p15:clr>
            <a:srgbClr val="FBAE40"/>
          </p15:clr>
        </p15:guide>
        <p15:guide id="45" orient="horz" pos="216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F7E24-0716-000F-A23E-D45713ECDD7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30DA7-1CDF-18F6-E151-AAB77695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C534918-4E28-3067-DE75-AAF487EA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277447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6FC6DD5-F717-45AB-C65A-E483E17C4FE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974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14A3419-0299-D6E2-EAEC-B759C421A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43621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87FC08B-CC69-ED5E-1E89-0FB4958D4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775346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9E0A83-7ED9-6F5C-AEC4-5B98F5388F70}"/>
              </a:ext>
            </a:extLst>
          </p:cNvPr>
          <p:cNvSpPr/>
          <p:nvPr userDrawn="1"/>
        </p:nvSpPr>
        <p:spPr bwMode="auto">
          <a:xfrm>
            <a:off x="0" y="0"/>
            <a:ext cx="12192000" cy="4572000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7ADEB9F-DC30-5B40-6D59-13194450FB0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720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0ADD2377-43F1-3C9F-D5EF-EBBBA2C54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776064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44938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581150"/>
            <a:ext cx="7535862" cy="443072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BA3E60F0-F025-04E8-0E46-71699A62E4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17414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D105096-7BC3-1383-8EE1-744002B706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31728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71491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ACB92EB-B163-EB38-0156-C028F872F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471466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190326-CB8A-9A65-714A-07CD312C3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4712685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90DBB6-E167-EFBB-7028-7961583956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69942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8356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B1DE51-5CDE-B96B-62FD-3A69CF69288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8128000" y="0"/>
            <a:ext cx="4064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59737277-FC4D-0B1F-1FD5-5CD35AF44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8605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photos_with Cap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6CBF8D-4C8A-D667-58CE-C8A22C93DED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4200" y="1591310"/>
            <a:ext cx="5365752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F2BCABA-7928-0037-D0EF-38F1FAAC53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575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056B6E8-083F-87EA-AD66-DF2D022A25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6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6242049" y="1591310"/>
            <a:ext cx="5357813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575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4976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999AE8AC-4BD3-270C-095A-CBDB57EBD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42229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photos_with Cap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6CBF8D-4C8A-D667-58CE-C8A22C93DED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4200" y="1591310"/>
            <a:ext cx="3481388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F2BCABA-7928-0037-D0EF-38F1FAAC53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575104"/>
            <a:ext cx="347907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056B6E8-083F-87EA-AD66-DF2D022A25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6443"/>
            <a:ext cx="347761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353560" y="1591310"/>
            <a:ext cx="3481388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74792" y="4575104"/>
            <a:ext cx="3476891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83855" y="4976442"/>
            <a:ext cx="347761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AAE6802-21C6-E5BE-3A2D-31CF010C9EF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8128000" y="1591309"/>
            <a:ext cx="3486092" cy="2684159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80D639A-857F-73A5-343B-28EC4082B8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3626" y="4571913"/>
            <a:ext cx="3485371" cy="187857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712E1C1-EE18-EA11-6D06-673117B00DC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28000" y="4973784"/>
            <a:ext cx="3486092" cy="15654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8BE8869C-5952-747A-C0D5-069DD40B24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18735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photos_with Cap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58661F-95C1-B4E4-0A23-B8DF22E7890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5842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0B31DB7-7E61-84AD-6FD2-E7035923C5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575104"/>
            <a:ext cx="253569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C05A197-25AD-0D46-72B3-478F9182C5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C00AC3-107E-A09F-8DF5-09CDA496E0E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 bwMode="ltGray">
          <a:xfrm>
            <a:off x="34290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E8CE4D2-B387-0A2B-B7D1-7F14B892048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13125" y="4575104"/>
            <a:ext cx="2534111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6618941-6CC1-7AAC-4FE2-94D7D46F79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22188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A62A022-68CB-A937-A489-4F6F1B7467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62484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7F06D45-B145-3780-49F6-BE617DDBDE4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40462" y="4575104"/>
            <a:ext cx="2534111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B0B40D6-1117-8B24-4089-BB3CEF4DAF3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34836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41013BA-5459-4F89-B59D-0ADC194876D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78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9C586E8F-D3A3-C215-76A4-E3A03A5104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76259" y="4575104"/>
            <a:ext cx="2534111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11900E2-1D2D-6D0A-7E29-8FAEA637B2C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82208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59C58CD9-BE7F-91A5-A489-7701C46FA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3442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78574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292233"/>
            <a:ext cx="7535862" cy="3279768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64000" y="4830309"/>
            <a:ext cx="7535862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073063" y="5231647"/>
            <a:ext cx="75268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F30B2090-3FEF-BD7A-3D1A-F15263CE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292232"/>
            <a:ext cx="3121026" cy="5565768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9AA33E8-65E2-5482-066C-B301F74B3F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2" y="2210101"/>
            <a:ext cx="2113253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3338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90A9B-98DE-E407-1677-225E1CB27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60FA2C5-0F45-1F96-1312-4AD604060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7958667" y="1348398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58406-DE31-8249-0E02-6D12B150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8887" y="1759165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02C46-D31C-FDEF-C231-716FBE6417F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7724775" y="2041526"/>
            <a:ext cx="4467225" cy="331152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914400" tIns="0" rIns="914400" bIns="14630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website screenshot here or click or tap 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FD7D075-9E51-3CE8-5505-AE5C8CAB04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A9016-5747-B1D1-36DE-145A4E94C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481D8892-E962-43F0-5F5F-08F524F7E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331359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91128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Off-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538038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857223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771955"/>
            <a:ext cx="8778782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2263564"/>
            <a:ext cx="87750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018437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88895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4CCBFB5E-1851-2876-A431-5DF81265739D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72241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860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220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full pag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2F35014-FB65-ACD9-730E-E1D616E561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3"/>
              </a:gs>
            </a:gsLst>
            <a:lin ang="16200000" scaled="1"/>
            <a:tileRect/>
          </a:gradFill>
        </p:spPr>
        <p:txBody>
          <a:bodyPr vert="horz" wrap="square" lIns="585216" tIns="91440" rIns="0" bIns="45720" rtlCol="0">
            <a:spAutoFit/>
          </a:bodyPr>
          <a:lstStyle>
            <a:lvl1pPr marL="0" indent="0">
              <a:buNone/>
              <a:defRPr kumimoji="0" lang="en-US" sz="1999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</a:defRPr>
            </a:lvl1pPr>
          </a:lstStyle>
          <a:p>
            <a:pPr marL="228600" lvl="0" indent="-228600"/>
            <a:r>
              <a:rPr lang="en-US"/>
              <a:t>Click to enter title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C3CADB3-1E72-D613-A509-B863360A3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2E0005-D466-9A2B-2F72-437D2E7450DA}"/>
              </a:ext>
            </a:extLst>
          </p:cNvPr>
          <p:cNvSpPr txBox="1">
            <a:spLocks/>
          </p:cNvSpPr>
          <p:nvPr userDrawn="1"/>
        </p:nvSpPr>
        <p:spPr>
          <a:xfrm>
            <a:off x="295276" y="770467"/>
            <a:ext cx="11604624" cy="5504921"/>
          </a:xfrm>
          <a:prstGeom prst="rect">
            <a:avLst/>
          </a:prstGeom>
          <a:solidFill>
            <a:srgbClr val="FFFFFF"/>
          </a:solidFill>
        </p:spPr>
        <p:txBody>
          <a:bodyPr vert="horz" lIns="274320" tIns="182880" rIns="182880" bIns="182880" rtlCol="0">
            <a:noAutofit/>
          </a:bodyPr>
          <a:lstStyle>
            <a:lvl1pPr marL="0" indent="0" algn="l" defTabSz="914132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20000"/>
              <a:buFontTx/>
              <a:buNone/>
              <a:defRPr lang="en-US" sz="1400" b="0" i="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Segoe UI Semibold" charset="0"/>
                <a:cs typeface="Segoe UI Semibold" charset="0"/>
              </a:defRPr>
            </a:lvl1pPr>
            <a:lvl2pPr marL="0" indent="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10000"/>
              <a:buFont typeface="Arial" charset="0"/>
              <a:buNone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2pPr>
            <a:lvl3pPr marL="288925" indent="-22225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20000"/>
              <a:buFont typeface="Arial" charset="0"/>
              <a:buChar char="•"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3pPr>
            <a:lvl4pPr marL="631825" indent="-18288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charset="0"/>
              <a:buChar char="•"/>
              <a:tabLst/>
              <a:defRPr lang="en-US" sz="18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4pPr>
            <a:lvl5pPr marL="1162685" indent="-194310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/>
              <a:buChar char="•"/>
              <a:defRPr lang="en-US" sz="1600" b="0" i="0" kern="1200" dirty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5pPr>
            <a:lvl6pPr marL="1873781" indent="-228533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26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92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57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2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E9E9E9"/>
              </a:buClr>
              <a:buSzPct val="120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Segoe UI Semibold" charset="0"/>
            </a:endParaRPr>
          </a:p>
        </p:txBody>
      </p:sp>
      <p:sp>
        <p:nvSpPr>
          <p:cNvPr id="9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3EC8DAD9-3274-7DD3-8458-A6CF6E36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438" y="1083733"/>
            <a:ext cx="11020425" cy="4885267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196756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right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D107E2-140D-CB86-9FA1-B9481E49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404276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7F5E94-C055-4558-A211-EF7933FCA8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4155"/>
            <a:ext cx="404276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A89B3FAE-417F-41EF-9D05-0D6CAF8EC7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582613"/>
            <a:ext cx="5799138" cy="5692775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386027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F055FC1-EF87-C5EC-9545-B346C73AC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389" y="2081710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BA1527-2F4C-29A6-6A08-4FBA5CAE4E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6389" y="3587124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81DC28-90DC-14C9-6ED7-101D16E58F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389" y="4077778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0281408E-274B-89C6-8571-F986E6EE6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83962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B2054C5-1258-8F24-CB3E-C0C7AA294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87226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6043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D9E8228-6949-BCF9-F825-22D65A43DB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2080227"/>
            <a:ext cx="3361943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DD9B65-7B9C-E803-654B-692D90202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5640" y="2276475"/>
            <a:ext cx="7114222" cy="1689099"/>
          </a:xfr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1pPr>
            <a:lvl2pPr marL="155448" indent="0"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2pPr>
            <a:lvl3pPr marL="265176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D724FF2-BFB6-0799-B9AE-F83BA9177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48402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592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adient_Dark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  Description automatically generated">
            <a:extLst>
              <a:ext uri="{FF2B5EF4-FFF2-40B4-BE49-F238E27FC236}">
                <a16:creationId xmlns:a16="http://schemas.microsoft.com/office/drawing/2014/main" id="{09C25A02-AC19-00D7-AA19-15FBBBA075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952" cy="6856285"/>
          </a:xfrm>
          <a:prstGeom prst="rect">
            <a:avLst/>
          </a:prstGeom>
        </p:spPr>
      </p:pic>
      <p:pic>
        <p:nvPicPr>
          <p:cNvPr id="6" name="MS logo white - EMF">
            <a:extLst>
              <a:ext uri="{FF2B5EF4-FFF2-40B4-BE49-F238E27FC236}">
                <a16:creationId xmlns:a16="http://schemas.microsoft.com/office/drawing/2014/main" id="{15F18C2F-44AE-47B2-AF66-6F44850A45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D261202-B43E-AFEC-1247-D8B93E325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9911" y="2769057"/>
            <a:ext cx="8193024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F89D852-EFBA-6F99-2050-8532FF783C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2042" y="4215827"/>
            <a:ext cx="819302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BD8134C-9DAE-AC17-E85E-797425358B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82042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BD6AF20-3445-2A80-6CE8-04C04421E1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2471054" y="6446520"/>
            <a:ext cx="633679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2442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>
          <p15:clr>
            <a:srgbClr val="FBAE40"/>
          </p15:clr>
        </p15:guide>
        <p15:guide id="2" orient="horz" pos="2647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5F3B42E-49D5-A402-BB55-46E458419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044055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1C4BDD7D-AB67-C540-A18F-6434E586C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57716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ption_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B19F3EF-E352-4C65-98EB-C1D64E0A72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460" y="1456896"/>
            <a:ext cx="10210404" cy="7772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5"/>
              </a:lnSpc>
              <a:spcBef>
                <a:spcPts val="882"/>
              </a:spcBef>
              <a:buNone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93C46D7-E811-4904-971C-BDAE52869A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9460" y="2499114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5"/>
              </a:lnSpc>
              <a:spcBef>
                <a:spcPts val="882"/>
              </a:spcBef>
              <a:buNone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84EFDE3-C2B4-4663-8852-A0D2423EB1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89460" y="3545276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367" rtl="0" eaLnBrk="1" fontAlgn="auto" latinLnBrk="0" hangingPunct="1">
              <a:lnSpc>
                <a:spcPts val="1765"/>
              </a:lnSpc>
              <a:spcBef>
                <a:spcPts val="882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98D09561-FD4E-3066-64C2-824D66760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67A521-F4FD-E8EE-E376-D23CEA34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4A61D4-2EBC-3C89-B9B9-A7E300634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2366625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5C7F07-21BA-232C-099C-2DFC70761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3412787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542492"/>
      </p:ext>
    </p:extLst>
  </p:cSld>
  <p:clrMapOvr>
    <a:masterClrMapping/>
  </p:clrMapOvr>
  <p:transition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ption_4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DF9284C-6F78-4885-87E1-4AAD9E8090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9460" y="1456896"/>
            <a:ext cx="10210404" cy="7772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5"/>
              </a:lnSpc>
              <a:spcBef>
                <a:spcPts val="882"/>
              </a:spcBef>
              <a:buNone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E9EA958-BE84-43C9-98F0-0C08E8EDD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2366625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0E35C16-1FD5-43B8-8A48-E2CAEC4A6E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9460" y="2499114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5"/>
              </a:lnSpc>
              <a:spcBef>
                <a:spcPts val="882"/>
              </a:spcBef>
              <a:buNone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C78D634-25BA-4087-A772-1E555254B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3412787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F7B3EC7-70FC-4307-BB11-53CB4E14FF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89460" y="3545276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367" rtl="0" eaLnBrk="1" fontAlgn="auto" latinLnBrk="0" hangingPunct="1">
              <a:lnSpc>
                <a:spcPts val="1765"/>
              </a:lnSpc>
              <a:spcBef>
                <a:spcPts val="882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1CE9993-705A-488D-910E-290FD0A52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4458949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DC5585A5-DAB7-4EFE-A980-497178E03B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89460" y="4591438"/>
            <a:ext cx="10210404" cy="78118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367" rtl="0" eaLnBrk="1" fontAlgn="auto" latinLnBrk="0" hangingPunct="1">
              <a:lnSpc>
                <a:spcPts val="1765"/>
              </a:lnSpc>
              <a:spcBef>
                <a:spcPts val="882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Segoe UI Regular 14/18. The quick brown fox jumps over the lazy dog. The quick brown fox jumps over the lazy dog. The quick brown fox jumps over the lazy dog.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03F58DC3-B4E8-1391-2AF6-4FE989430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B21E8C-92C0-72B7-D04D-01894741A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1429784"/>
      </p:ext>
    </p:extLst>
  </p:cSld>
  <p:clrMapOvr>
    <a:masterClrMapping/>
  </p:clrMapOvr>
  <p:transition>
    <p:fade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ption_5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389460" y="1456896"/>
            <a:ext cx="10210404" cy="64562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5"/>
              </a:lnSpc>
              <a:spcBef>
                <a:spcPts val="882"/>
              </a:spcBef>
              <a:buNone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A35CC4-D06B-40B4-91B1-CDA133426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2205973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389460" y="2309426"/>
            <a:ext cx="10210404" cy="6489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ts val="1765"/>
              </a:lnSpc>
              <a:spcBef>
                <a:spcPts val="882"/>
              </a:spcBef>
              <a:buNone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9B8E47-3705-4496-95DB-2F04B3952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3061779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1389460" y="3165232"/>
            <a:ext cx="10210404" cy="6489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367" rtl="0" eaLnBrk="1" fontAlgn="auto" latinLnBrk="0" hangingPunct="1">
              <a:lnSpc>
                <a:spcPts val="1765"/>
              </a:lnSpc>
              <a:spcBef>
                <a:spcPts val="882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1F4189-FC32-45CA-8DDD-889412FB1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3917585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1389460" y="4021038"/>
            <a:ext cx="10210404" cy="6489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367" rtl="0" eaLnBrk="1" fontAlgn="auto" latinLnBrk="0" hangingPunct="1">
              <a:lnSpc>
                <a:spcPts val="1765"/>
              </a:lnSpc>
              <a:spcBef>
                <a:spcPts val="882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EE9FF8-98D9-46AE-9E3D-2F72E00C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89695" y="4773391"/>
            <a:ext cx="101969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1389460" y="4876845"/>
            <a:ext cx="10210404" cy="6489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marR="0" indent="0" algn="l" defTabSz="914367" rtl="0" eaLnBrk="1" fontAlgn="auto" latinLnBrk="0" hangingPunct="1">
              <a:lnSpc>
                <a:spcPts val="1765"/>
              </a:lnSpc>
              <a:spcBef>
                <a:spcPts val="882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568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800" b="0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1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91010A63-B7F0-F2E2-B929-AA7970F28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826457-AD96-78F4-E9DC-B4CC7DCCE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5761152"/>
      </p:ext>
    </p:extLst>
  </p:cSld>
  <p:clrMapOvr>
    <a:masterClrMapping/>
  </p:clrMapOvr>
  <p:transition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pic>
        <p:nvPicPr>
          <p:cNvPr id="4" name="Picture 3" descr="Microsoft Learn Spark possibility">
            <a:extLst>
              <a:ext uri="{FF2B5EF4-FFF2-40B4-BE49-F238E27FC236}">
                <a16:creationId xmlns:a16="http://schemas.microsoft.com/office/drawing/2014/main" id="{5DD74BAF-F737-DF24-4119-69612D6CEE2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223228" y="2573202"/>
            <a:ext cx="5344642" cy="168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89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lk-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419B008-216D-CA1F-2D39-75B36E6A6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573338"/>
            <a:ext cx="11021125" cy="1676929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Microsoft Learn</a:t>
            </a:r>
            <a:br>
              <a:rPr lang="en-US"/>
            </a:br>
            <a:r>
              <a:rPr lang="en-US"/>
              <a:t>presentation title or event name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A0EBFEA-E746-E760-148D-6B55E33CE9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3" y="4445908"/>
            <a:ext cx="11021124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865899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5253737" cy="1107996"/>
          </a:xfrm>
        </p:spPr>
        <p:txBody>
          <a:bodyPr wrap="square" anchor="b" anchorCtr="0">
            <a:spAutoFit/>
          </a:bodyPr>
          <a:lstStyle>
            <a:lvl1pPr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3" y="3962400"/>
            <a:ext cx="5249572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72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16C68DE-B737-469C-0510-1CE6FB0FC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5253737" cy="1107996"/>
          </a:xfrm>
        </p:spPr>
        <p:txBody>
          <a:bodyPr wrap="square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3" y="3962400"/>
            <a:ext cx="5249572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418948DF-F884-6F7D-BBB8-7CABA65728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72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6A99E2-B1B8-F05E-79FB-6E5F6BA21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539"/>
            <a:ext cx="8680865" cy="553998"/>
          </a:xfrm>
        </p:spPr>
        <p:txBody>
          <a:bodyPr wrap="square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86739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418948DF-F884-6F7D-BBB8-7CABA65728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31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518B55A-6C79-359D-87CF-515B5B5F6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5253737" cy="1107996"/>
          </a:xfrm>
        </p:spPr>
        <p:txBody>
          <a:bodyPr wrap="square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418948DF-F884-6F7D-BBB8-7CABA65728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1143F6-2E66-B7DD-83D0-10E3BEE18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3915473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rgbClr val="FFA38B"/>
                </a:gs>
                <a:gs pos="97531">
                  <a:srgbClr val="8DC8E8"/>
                </a:gs>
                <a:gs pos="65000">
                  <a:srgbClr val="CD9BCF"/>
                </a:gs>
                <a:gs pos="34000">
                  <a:srgbClr val="FFB3BB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D47B2CB-325C-5073-D8C2-698C29B7BD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2043" y="4262120"/>
            <a:ext cx="5249572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120714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C7D666-BCD6-C322-9710-8EA204E62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91996" cy="6857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5253737" cy="1107996"/>
          </a:xfrm>
        </p:spPr>
        <p:txBody>
          <a:bodyPr wrap="square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3" y="3962400"/>
            <a:ext cx="5249572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418948DF-F884-6F7D-BBB8-7CABA65728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02A72DD-8168-61B6-9FF1-1DF8840DE8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ltGray">
          <a:xfrm>
            <a:off x="8547960" y="2099733"/>
            <a:ext cx="2863181" cy="2863181"/>
          </a:xfrm>
          <a:prstGeom prst="roundRect">
            <a:avLst>
              <a:gd name="adj" fmla="val 21738"/>
            </a:avLst>
          </a:prstGeo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32841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3A552F5-A279-E01D-8684-06A66C8E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4" y="2425541"/>
            <a:ext cx="4419602" cy="1107996"/>
          </a:xfrm>
        </p:spPr>
        <p:txBody>
          <a:bodyPr wrap="square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4" y="3962400"/>
            <a:ext cx="4419602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418948DF-F884-6F7D-BBB8-7CABA65728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02A72DD-8168-61B6-9FF1-1DF8840DE8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ltGray">
          <a:xfrm>
            <a:off x="6066182" y="1209017"/>
            <a:ext cx="4419601" cy="4419601"/>
          </a:xfrm>
          <a:prstGeom prst="roundRect">
            <a:avLst>
              <a:gd name="adj" fmla="val 21738"/>
            </a:avLst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58894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339337" cy="1107996"/>
          </a:xfrm>
        </p:spPr>
        <p:txBody>
          <a:bodyPr wrap="square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3" y="4260778"/>
            <a:ext cx="4335897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418948DF-F884-6F7D-BBB8-7CABA65728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9C6438B-8AA6-6FF8-579B-E6859D9CFF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3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E5E791-B100-3AA7-21F7-E48EDD0B5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3915473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rgbClr val="FFA38B"/>
                </a:gs>
                <a:gs pos="97531">
                  <a:srgbClr val="8DC8E8"/>
                </a:gs>
                <a:gs pos="65000">
                  <a:srgbClr val="CD9BCF"/>
                </a:gs>
                <a:gs pos="34000">
                  <a:srgbClr val="FFB3BB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521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icroso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4200" y="1435100"/>
            <a:ext cx="11018838" cy="1612749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5601323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4200" y="1435100"/>
            <a:ext cx="11018838" cy="16127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1026" name="Picture 2" descr="A black triangle on a white background  Description automatically generated">
            <a:extLst>
              <a:ext uri="{FF2B5EF4-FFF2-40B4-BE49-F238E27FC236}">
                <a16:creationId xmlns:a16="http://schemas.microsoft.com/office/drawing/2014/main" id="{D34FB095-B792-8E28-D887-870C3ECB52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1892" y="6232204"/>
            <a:ext cx="287452" cy="457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32530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6F2E5AA-B8E1-2D99-BFF6-55964406C1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0" y="1961079"/>
            <a:ext cx="11018521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2400"/>
              </a:lnSpc>
              <a:buNone/>
              <a:defRPr sz="2000" b="0" i="0" spc="0">
                <a:solidFill>
                  <a:srgbClr val="000000"/>
                </a:solidFill>
                <a:latin typeface="+mj-lt"/>
              </a:defRPr>
            </a:lvl1pPr>
            <a:lvl2pPr marL="0" indent="0">
              <a:lnSpc>
                <a:spcPts val="2400"/>
              </a:lnSpc>
              <a:buNone/>
              <a:defRPr spc="0">
                <a:solidFill>
                  <a:srgbClr val="000000"/>
                </a:solidFill>
                <a:latin typeface="+mn-lt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1"/>
            <a:r>
              <a:rPr lang="en-US"/>
              <a:t>Large: subhead Segoe UI Regular 20/24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4F7BF36-6F86-1AAC-B730-8494CAF9A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3075739"/>
            <a:ext cx="11018521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b="0" spc="0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 spc="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Medium: paragraph 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45546AD-A5A5-3F3C-BA37-4B19AEF2A5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4200" y="4593491"/>
            <a:ext cx="11018521" cy="153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000" spc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000" spc="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0" indent="0">
              <a:lnSpc>
                <a:spcPct val="100000"/>
              </a:lnSpc>
              <a:buNone/>
              <a:defRPr>
                <a:solidFill>
                  <a:srgbClr val="000000"/>
                </a:solidFill>
              </a:defRPr>
            </a:lvl5pPr>
          </a:lstStyle>
          <a:p>
            <a:pPr lvl="1"/>
            <a:r>
              <a:rPr lang="en-US"/>
              <a:t>Small: caption body copy Segoe Regular 10/12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0ACF05F-2419-331C-73AA-1456DD524A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2338" y="4385524"/>
            <a:ext cx="11018521" cy="153888"/>
          </a:xfrm>
          <a:prstGeom prst="rect">
            <a:avLst/>
          </a:prstGeom>
        </p:spPr>
        <p:txBody>
          <a:bodyPr tIns="0"/>
          <a:lstStyle>
            <a:lvl1pPr marL="0" indent="0">
              <a:buNone/>
              <a:defRPr lang="en-US" sz="1000" b="1" kern="120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Small: caption title Segoe UI Bold 10/12. 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10E3B9C-87B7-FCD5-21F0-3C1505450B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2338" y="3385527"/>
            <a:ext cx="11018521" cy="2204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Medium: body copy Segoe UI Regular 14/18</a:t>
            </a:r>
          </a:p>
        </p:txBody>
      </p:sp>
    </p:spTree>
    <p:extLst>
      <p:ext uri="{BB962C8B-B14F-4D97-AF65-F5344CB8AC3E}">
        <p14:creationId xmlns:p14="http://schemas.microsoft.com/office/powerpoint/2010/main" val="38779229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89" y="2030760"/>
            <a:ext cx="9570435" cy="307777"/>
          </a:xfrm>
        </p:spPr>
        <p:txBody>
          <a:bodyPr wrap="square">
            <a:spAutoFit/>
          </a:bodyPr>
          <a:lstStyle>
            <a:lvl1pPr marL="0" indent="0">
              <a:buNone/>
              <a:defRPr lang="en-US" sz="20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342900" marR="0" lvl="0" indent="-342900" algn="l" defTabSz="932742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D5746-9BA1-20FD-9CB7-A3691927C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98998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84200" y="1435100"/>
            <a:ext cx="5211763" cy="1612749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89688" y="1435100"/>
            <a:ext cx="5219700" cy="1612749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544984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84200" y="1435100"/>
            <a:ext cx="5212080" cy="140346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4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1800" b="0"/>
            </a:lvl2pPr>
            <a:lvl3pPr marL="450850" indent="0">
              <a:buFont typeface="Wingdings" panose="05000000000000000000" pitchFamily="2" charset="2"/>
              <a:buNone/>
              <a:tabLst/>
              <a:defRPr sz="1400" b="0"/>
            </a:lvl3pPr>
            <a:lvl4pPr marL="652462" indent="0">
              <a:buFont typeface="Wingdings" panose="05000000000000000000" pitchFamily="2" charset="2"/>
              <a:buNone/>
              <a:defRPr sz="1200" b="0"/>
            </a:lvl4pPr>
            <a:lvl5pPr marL="854075" indent="0">
              <a:buFont typeface="Wingdings" panose="05000000000000000000" pitchFamily="2" charset="2"/>
              <a:buNone/>
              <a:tabLst/>
              <a:defRPr sz="1200" b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7171" y="1435100"/>
            <a:ext cx="5212080" cy="140346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4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1800" b="0"/>
            </a:lvl2pPr>
            <a:lvl3pPr marL="450850" indent="0">
              <a:buFont typeface="Wingdings" panose="05000000000000000000" pitchFamily="2" charset="2"/>
              <a:buNone/>
              <a:tabLst/>
              <a:defRPr sz="1400" b="0"/>
            </a:lvl3pPr>
            <a:lvl4pPr marL="652462" indent="0">
              <a:buFont typeface="Wingdings" panose="05000000000000000000" pitchFamily="2" charset="2"/>
              <a:buNone/>
              <a:defRPr sz="1200" b="0"/>
            </a:lvl4pPr>
            <a:lvl5pPr marL="854075" indent="0">
              <a:buFont typeface="Wingdings" panose="05000000000000000000" pitchFamily="2" charset="2"/>
              <a:buNone/>
              <a:tabLst/>
              <a:defRPr sz="1200" b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179388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6688"/>
            <a:ext cx="5219700" cy="3693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4200" y="2084388"/>
            <a:ext cx="5219700" cy="1175706"/>
          </a:xfrm>
        </p:spPr>
        <p:txBody>
          <a:bodyPr>
            <a:spAutoFit/>
          </a:bodyPr>
          <a:lstStyle>
            <a:lvl1pPr marL="171450" indent="-171450">
              <a:defRPr lang="en-US" sz="2000" dirty="0"/>
            </a:lvl1pPr>
            <a:lvl2pPr marL="342900" indent="-171450">
              <a:defRPr lang="en-US" sz="1400" dirty="0"/>
            </a:lvl2pPr>
            <a:lvl3pPr marL="514350" indent="-171450">
              <a:defRPr lang="en-US" sz="1100" dirty="0"/>
            </a:lvl3pPr>
            <a:lvl4pPr marL="666750" indent="-152400">
              <a:defRPr lang="en-US" sz="1050" dirty="0"/>
            </a:lvl4pPr>
            <a:lvl5pPr marL="793750" indent="-120650">
              <a:defRPr lang="en-US" sz="1050" dirty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97625" y="1436688"/>
            <a:ext cx="5219700" cy="3693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7625" y="2084388"/>
            <a:ext cx="5219700" cy="1175706"/>
          </a:xfrm>
        </p:spPr>
        <p:txBody>
          <a:bodyPr>
            <a:spAutoFit/>
          </a:bodyPr>
          <a:lstStyle>
            <a:lvl1pPr marL="171450" indent="-171450">
              <a:defRPr lang="en-US" sz="2000" dirty="0"/>
            </a:lvl1pPr>
            <a:lvl2pPr marL="342900" indent="-171450">
              <a:defRPr lang="en-US" sz="1400" dirty="0"/>
            </a:lvl2pPr>
            <a:lvl3pPr marL="514350" indent="-171450">
              <a:defRPr lang="en-US" sz="1100" dirty="0"/>
            </a:lvl3pPr>
            <a:lvl4pPr marL="685800" indent="-136525">
              <a:defRPr lang="en-US" sz="1050" dirty="0"/>
            </a:lvl4pPr>
            <a:lvl5pPr marL="793750" indent="-120650">
              <a:defRPr lang="en-US" sz="1050" dirty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1860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6688"/>
            <a:ext cx="5219700" cy="3693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88963" y="2081212"/>
            <a:ext cx="5214937" cy="1175706"/>
          </a:xfrm>
        </p:spPr>
        <p:txBody>
          <a:bodyPr/>
          <a:lstStyle>
            <a:lvl1pPr>
              <a:defRPr sz="2000"/>
            </a:lvl1pPr>
            <a:lvl2pPr>
              <a:defRPr sz="14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97625" y="1436688"/>
            <a:ext cx="5219700" cy="3693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94451" y="2081212"/>
            <a:ext cx="5214937" cy="1175706"/>
          </a:xfrm>
        </p:spPr>
        <p:txBody>
          <a:bodyPr/>
          <a:lstStyle>
            <a:lvl1pPr>
              <a:defRPr sz="2000"/>
            </a:lvl1pPr>
            <a:lvl2pPr>
              <a:defRPr sz="14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08667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Content with Subheads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9B2A911-B0BE-4078-EF4E-4BEDAA9A84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430887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ECF5273-A148-FB51-F033-C68836870B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061" y="1992313"/>
            <a:ext cx="3690937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spc="0" baseline="0">
                <a:solidFill>
                  <a:schemeClr val="accent1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257DF0E-A198-77D3-1F5B-6CF8B60A49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14562" y="1992313"/>
            <a:ext cx="3690937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spc="0" baseline="0">
                <a:solidFill>
                  <a:schemeClr val="accent2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55F1A17-F2A5-5652-4364-4C2289C197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4199" y="2300087"/>
            <a:ext cx="3690937" cy="2067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E4A7EAE6-CBDF-702E-4BB2-0091C85D7D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14562" y="2300087"/>
            <a:ext cx="3690937" cy="2067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7297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217" y="1438275"/>
            <a:ext cx="3264408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181862"/>
          </a:xfrm>
        </p:spPr>
        <p:txBody>
          <a:bodyPr wrap="square">
            <a:spAutoFit/>
          </a:bodyPr>
          <a:lstStyle>
            <a:lvl1pPr marL="176213" indent="-176213">
              <a:defRPr lang="en-US" sz="1800" dirty="0"/>
            </a:lvl1pPr>
            <a:lvl2pPr marL="322263" indent="-150813">
              <a:defRPr lang="en-US" sz="1600" dirty="0"/>
            </a:lvl2pPr>
            <a:lvl3pPr marL="466725" indent="-138113">
              <a:defRPr lang="en-US" sz="1100" dirty="0"/>
            </a:lvl3pPr>
            <a:lvl4pPr marL="595313" indent="-128588">
              <a:defRPr lang="en-US" sz="1050" dirty="0"/>
            </a:lvl4pPr>
            <a:lvl5pPr marL="731838" indent="-122238"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63796" y="1438275"/>
            <a:ext cx="3264408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181862"/>
          </a:xfrm>
        </p:spPr>
        <p:txBody>
          <a:bodyPr wrap="square">
            <a:spAutoFit/>
          </a:bodyPr>
          <a:lstStyle>
            <a:lvl1pPr marL="176213" indent="-176213">
              <a:defRPr lang="en-US" sz="1800" dirty="0"/>
            </a:lvl1pPr>
            <a:lvl2pPr marL="398463" indent="-169863">
              <a:defRPr lang="en-US" sz="1600" dirty="0"/>
            </a:lvl2pPr>
            <a:lvl3pPr marL="555625" indent="-157163">
              <a:defRPr lang="en-US" sz="1100" dirty="0"/>
            </a:lvl3pPr>
            <a:lvl4pPr marL="685800" indent="-136525">
              <a:defRPr lang="en-US" sz="1050" dirty="0"/>
            </a:lvl4pPr>
            <a:lvl5pPr marL="800100" indent="-111125"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42375" y="1438275"/>
            <a:ext cx="3264408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181862"/>
          </a:xfrm>
        </p:spPr>
        <p:txBody>
          <a:bodyPr wrap="square">
            <a:spAutoFit/>
          </a:bodyPr>
          <a:lstStyle>
            <a:lvl1pPr marL="176213" indent="-176213">
              <a:defRPr lang="en-US" sz="1800" dirty="0"/>
            </a:lvl1pPr>
            <a:lvl2pPr marL="398463" indent="-169863">
              <a:defRPr lang="en-US" sz="1600" dirty="0"/>
            </a:lvl2pPr>
            <a:lvl3pPr marL="555625" indent="-157163">
              <a:defRPr lang="en-US" sz="1100" dirty="0"/>
            </a:lvl3pPr>
            <a:lvl4pPr marL="685800" indent="-136525">
              <a:defRPr lang="en-US" sz="1050" dirty="0"/>
            </a:lvl4pPr>
            <a:lvl5pPr marL="800100" indent="-111125"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79176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24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ullet with Subtitles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5746-9BA1-20FD-9CB7-A3691927C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8AB7BB6A-65B6-AEC7-836B-8D35242275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2877" y="3476833"/>
            <a:ext cx="3465576" cy="90627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B0535AF-BE85-1E67-DD92-E38C21AF7E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1341" y="3476833"/>
            <a:ext cx="3465576" cy="90627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E1F9237-EE15-C9FE-E0CA-3A37C93F90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36551" y="3476833"/>
            <a:ext cx="3465576" cy="90627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75241E4-9061-8DB7-2B87-BA0CCA011A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877" y="4570239"/>
            <a:ext cx="3465576" cy="22051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1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2D1AEC7-7020-CBA4-58E1-0D75BA2EF4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1341" y="4570239"/>
            <a:ext cx="3465576" cy="22051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2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416719B-F50B-D496-C069-4C1F30AFEC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36551" y="4570239"/>
            <a:ext cx="3465576" cy="22051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3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</p:spTree>
    <p:extLst>
      <p:ext uri="{BB962C8B-B14F-4D97-AF65-F5344CB8AC3E}">
        <p14:creationId xmlns:p14="http://schemas.microsoft.com/office/powerpoint/2010/main" val="23467923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  <p15:guide id="5" pos="2549">
          <p15:clr>
            <a:srgbClr val="FBAE40"/>
          </p15:clr>
        </p15:guide>
        <p15:guide id="6" pos="2747">
          <p15:clr>
            <a:srgbClr val="FBAE40"/>
          </p15:clr>
        </p15:guide>
        <p15:guide id="7" pos="4944">
          <p15:clr>
            <a:srgbClr val="FBAE40"/>
          </p15:clr>
        </p15:guide>
        <p15:guide id="8" pos="5120">
          <p15:clr>
            <a:srgbClr val="FBAE40"/>
          </p15:clr>
        </p15:guide>
        <p15:guide id="9" pos="3840">
          <p15:clr>
            <a:srgbClr val="FBAE40"/>
          </p15:clr>
        </p15:guide>
        <p15:guide id="10" pos="1464">
          <p15:clr>
            <a:srgbClr val="FBAE40"/>
          </p15:clr>
        </p15:guide>
        <p15:guide id="11" pos="6216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ullet with Subtitles 3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9B2A911-B0BE-4078-EF4E-4BEDAA9A84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430887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6628952-3608-D408-E97B-C5509801C7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263" y="1971020"/>
            <a:ext cx="94495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2400"/>
              </a:lnSpc>
              <a:buNone/>
              <a:defRPr lang="en-US" sz="20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Segoe UI Regular 20/24.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ECF5273-A148-FB51-F033-C68836870B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062" y="3214124"/>
            <a:ext cx="3474720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1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257DF0E-A198-77D3-1F5B-6CF8B60A49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56101" y="3214124"/>
            <a:ext cx="3474720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2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65E358F-5CAF-2294-2C8A-0C65BE0A26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3214124"/>
            <a:ext cx="3474445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3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55F1A17-F2A5-5652-4364-4C2289C197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4200" y="3521898"/>
            <a:ext cx="3474720" cy="2067104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spc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Bulleted list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r>
              <a:rPr lang="en-US"/>
              <a:t>Bulleted list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E4A7EAE6-CBDF-702E-4BB2-0091C85D7D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6101" y="3521898"/>
            <a:ext cx="3474720" cy="2067104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spc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Bulleted list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r>
              <a:rPr lang="en-US"/>
              <a:t>Bulleted list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02E34F2-8AEC-5D82-A459-7615DC29B1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34943" y="3521898"/>
            <a:ext cx="3474445" cy="2067104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spc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Bulleted list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r>
              <a:rPr lang="en-US"/>
              <a:t>Bulleted list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5671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ullet with Subtitles 4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5746-9BA1-20FD-9CB7-A3691927C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1F03C-DE0D-0889-FCC9-7734D7000C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877" y="4345786"/>
            <a:ext cx="3474720" cy="22051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1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E37D821-502E-74DC-DC4E-6827876174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1341" y="4345786"/>
            <a:ext cx="3474720" cy="22051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2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D2E2D46-BA23-A30D-1C86-DE97B59550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28084" y="4345786"/>
            <a:ext cx="3474720" cy="22051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3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47B73CF-8C1B-E4F6-0587-AE345D837A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2877" y="4659194"/>
            <a:ext cx="3474720" cy="90627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4841CA6-3B8D-C795-465C-4A88872E2A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1341" y="4659194"/>
            <a:ext cx="3474720" cy="90627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34BF609-1D4C-CCCF-8806-8229E9A269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8084" y="4659194"/>
            <a:ext cx="3474720" cy="90627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3C14C4D-447D-641B-9EE1-BB7D37876DFD}"/>
              </a:ext>
            </a:extLst>
          </p:cNvPr>
          <p:cNvSpPr/>
          <p:nvPr userDrawn="1"/>
        </p:nvSpPr>
        <p:spPr>
          <a:xfrm>
            <a:off x="8769505" y="1609347"/>
            <a:ext cx="2196790" cy="2196790"/>
          </a:xfrm>
          <a:prstGeom prst="ellipse">
            <a:avLst/>
          </a:prstGeom>
          <a:solidFill>
            <a:srgbClr val="8DC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257B80-0E22-6118-D58C-8D479BE856CC}"/>
              </a:ext>
            </a:extLst>
          </p:cNvPr>
          <p:cNvSpPr/>
          <p:nvPr userDrawn="1"/>
        </p:nvSpPr>
        <p:spPr>
          <a:xfrm>
            <a:off x="1216757" y="1609347"/>
            <a:ext cx="2196790" cy="2196790"/>
          </a:xfrm>
          <a:prstGeom prst="ellipse">
            <a:avLst/>
          </a:prstGeom>
          <a:solidFill>
            <a:srgbClr val="FFA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C5F4DB-FE2F-3894-3C54-F1395F059BC1}"/>
              </a:ext>
            </a:extLst>
          </p:cNvPr>
          <p:cNvSpPr/>
          <p:nvPr userDrawn="1"/>
        </p:nvSpPr>
        <p:spPr>
          <a:xfrm>
            <a:off x="4997605" y="1609347"/>
            <a:ext cx="2196790" cy="2196790"/>
          </a:xfrm>
          <a:prstGeom prst="ellipse">
            <a:avLst/>
          </a:prstGeom>
          <a:solidFill>
            <a:srgbClr val="CD9B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772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  <p15:guide id="5" pos="2549">
          <p15:clr>
            <a:srgbClr val="FBAE40"/>
          </p15:clr>
        </p15:guide>
        <p15:guide id="6" pos="2747">
          <p15:clr>
            <a:srgbClr val="FBAE40"/>
          </p15:clr>
        </p15:guide>
        <p15:guide id="7" pos="4944">
          <p15:clr>
            <a:srgbClr val="FBAE40"/>
          </p15:clr>
        </p15:guide>
        <p15:guide id="8" pos="5120">
          <p15:clr>
            <a:srgbClr val="FBAE40"/>
          </p15:clr>
        </p15:guide>
        <p15:guide id="9" pos="3840">
          <p15:clr>
            <a:srgbClr val="FBAE40"/>
          </p15:clr>
        </p15:guide>
        <p15:guide id="10" pos="1464">
          <p15:clr>
            <a:srgbClr val="FBAE40"/>
          </p15:clr>
        </p15:guide>
        <p15:guide id="11" pos="6216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ullet with Subtitles &amp; Icons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5746-9BA1-20FD-9CB7-A3691927C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1F03C-DE0D-0889-FCC9-7734D7000C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877" y="3631266"/>
            <a:ext cx="3474720" cy="22051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1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E37D821-502E-74DC-DC4E-6827876174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1341" y="3631266"/>
            <a:ext cx="3474720" cy="22051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2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D2E2D46-BA23-A30D-1C86-DE97B59550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28084" y="3631266"/>
            <a:ext cx="3474720" cy="22051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3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47B73CF-8C1B-E4F6-0587-AE345D837A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2877" y="3944674"/>
            <a:ext cx="3474720" cy="90627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4841CA6-3B8D-C795-465C-4A88872E2A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1341" y="3944674"/>
            <a:ext cx="3474720" cy="90627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34BF609-1D4C-CCCF-8806-8229E9A269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8084" y="3944674"/>
            <a:ext cx="3474720" cy="90627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4" name="Oval 13" descr="icon of a finger pushing a button">
            <a:extLst>
              <a:ext uri="{FF2B5EF4-FFF2-40B4-BE49-F238E27FC236}">
                <a16:creationId xmlns:a16="http://schemas.microsoft.com/office/drawing/2014/main" id="{A9082D92-8FAE-B4E1-1EBD-84F2832796CF}"/>
              </a:ext>
            </a:extLst>
          </p:cNvPr>
          <p:cNvSpPr/>
          <p:nvPr userDrawn="1"/>
        </p:nvSpPr>
        <p:spPr bwMode="auto">
          <a:xfrm>
            <a:off x="5724037" y="2319841"/>
            <a:ext cx="769327" cy="769327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762000" dist="254000" dir="5400000" algn="t" rotWithShape="0">
              <a:schemeClr val="tx1"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Oval 14" descr="icon of a finger pushing a button">
            <a:extLst>
              <a:ext uri="{FF2B5EF4-FFF2-40B4-BE49-F238E27FC236}">
                <a16:creationId xmlns:a16="http://schemas.microsoft.com/office/drawing/2014/main" id="{91CE41BB-FD3B-0B43-6764-5F1E09FE7687}"/>
              </a:ext>
            </a:extLst>
          </p:cNvPr>
          <p:cNvSpPr/>
          <p:nvPr userDrawn="1"/>
        </p:nvSpPr>
        <p:spPr bwMode="auto">
          <a:xfrm>
            <a:off x="1935573" y="2319841"/>
            <a:ext cx="769327" cy="7693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762000" dist="254000" dir="5400000" algn="t" rotWithShape="0">
              <a:schemeClr val="tx1"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Oval 15" descr="icon of a finger pushing a button">
            <a:extLst>
              <a:ext uri="{FF2B5EF4-FFF2-40B4-BE49-F238E27FC236}">
                <a16:creationId xmlns:a16="http://schemas.microsoft.com/office/drawing/2014/main" id="{60DC1A10-DF13-24FE-5A88-8BAF8EC3321F}"/>
              </a:ext>
            </a:extLst>
          </p:cNvPr>
          <p:cNvSpPr/>
          <p:nvPr userDrawn="1"/>
        </p:nvSpPr>
        <p:spPr bwMode="auto">
          <a:xfrm>
            <a:off x="9480780" y="2319841"/>
            <a:ext cx="769327" cy="769327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762000" dist="254000" dir="5400000" algn="t" rotWithShape="0">
              <a:schemeClr val="tx1"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2403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  <p15:guide id="5" pos="2549">
          <p15:clr>
            <a:srgbClr val="FBAE40"/>
          </p15:clr>
        </p15:guide>
        <p15:guide id="6" pos="2747">
          <p15:clr>
            <a:srgbClr val="FBAE40"/>
          </p15:clr>
        </p15:guide>
        <p15:guide id="7" pos="4944">
          <p15:clr>
            <a:srgbClr val="FBAE40"/>
          </p15:clr>
        </p15:guide>
        <p15:guide id="8" pos="5120">
          <p15:clr>
            <a:srgbClr val="FBAE40"/>
          </p15:clr>
        </p15:guide>
        <p15:guide id="9" pos="3840">
          <p15:clr>
            <a:srgbClr val="FBAE40"/>
          </p15:clr>
        </p15:guide>
        <p15:guide id="10" pos="1464">
          <p15:clr>
            <a:srgbClr val="FBAE40"/>
          </p15:clr>
        </p15:guide>
        <p15:guide id="11" pos="6216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ullet with Subtitles &amp; Icons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5746-9BA1-20FD-9CB7-A3691927C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1F03C-DE0D-0889-FCC9-7734D7000C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877" y="3631266"/>
            <a:ext cx="3474720" cy="22051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1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E37D821-502E-74DC-DC4E-6827876174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1341" y="3631266"/>
            <a:ext cx="3474720" cy="22051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2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D2E2D46-BA23-A30D-1C86-DE97B59550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28084" y="3631266"/>
            <a:ext cx="3474720" cy="22051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ctr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3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Subheading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47B73CF-8C1B-E4F6-0587-AE345D837A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2877" y="3944674"/>
            <a:ext cx="3474720" cy="90627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4841CA6-3B8D-C795-465C-4A88872E2A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1341" y="3944674"/>
            <a:ext cx="3474720" cy="90627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34BF609-1D4C-CCCF-8806-8229E9A269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8084" y="3944674"/>
            <a:ext cx="3474720" cy="90627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4" name="Oval 13" descr="icon of a finger pushing a button">
            <a:extLst>
              <a:ext uri="{FF2B5EF4-FFF2-40B4-BE49-F238E27FC236}">
                <a16:creationId xmlns:a16="http://schemas.microsoft.com/office/drawing/2014/main" id="{A9082D92-8FAE-B4E1-1EBD-84F2832796CF}"/>
              </a:ext>
            </a:extLst>
          </p:cNvPr>
          <p:cNvSpPr/>
          <p:nvPr userDrawn="1"/>
        </p:nvSpPr>
        <p:spPr bwMode="auto">
          <a:xfrm>
            <a:off x="5724037" y="2319841"/>
            <a:ext cx="769327" cy="769327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762000" dist="254000" dir="5400000" algn="t" rotWithShape="0">
              <a:schemeClr val="tx1"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Oval 14" descr="icon of a finger pushing a button">
            <a:extLst>
              <a:ext uri="{FF2B5EF4-FFF2-40B4-BE49-F238E27FC236}">
                <a16:creationId xmlns:a16="http://schemas.microsoft.com/office/drawing/2014/main" id="{91CE41BB-FD3B-0B43-6764-5F1E09FE7687}"/>
              </a:ext>
            </a:extLst>
          </p:cNvPr>
          <p:cNvSpPr/>
          <p:nvPr userDrawn="1"/>
        </p:nvSpPr>
        <p:spPr bwMode="auto">
          <a:xfrm>
            <a:off x="1935573" y="2319841"/>
            <a:ext cx="769327" cy="769327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762000" dist="254000" dir="5400000" algn="t" rotWithShape="0">
              <a:schemeClr val="tx1"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Oval 15" descr="icon of a finger pushing a button">
            <a:extLst>
              <a:ext uri="{FF2B5EF4-FFF2-40B4-BE49-F238E27FC236}">
                <a16:creationId xmlns:a16="http://schemas.microsoft.com/office/drawing/2014/main" id="{60DC1A10-DF13-24FE-5A88-8BAF8EC3321F}"/>
              </a:ext>
            </a:extLst>
          </p:cNvPr>
          <p:cNvSpPr/>
          <p:nvPr userDrawn="1"/>
        </p:nvSpPr>
        <p:spPr bwMode="auto">
          <a:xfrm>
            <a:off x="9480780" y="2319841"/>
            <a:ext cx="769327" cy="769327"/>
          </a:xfrm>
          <a:prstGeom prst="ellipse">
            <a:avLst/>
          </a:prstGeom>
          <a:solidFill>
            <a:srgbClr val="8DC8E8"/>
          </a:solidFill>
          <a:ln>
            <a:noFill/>
          </a:ln>
          <a:effectLst>
            <a:outerShdw blurRad="762000" dist="254000" dir="5400000" algn="t" rotWithShape="0">
              <a:schemeClr val="tx1"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5149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  <p15:guide id="5" pos="2549">
          <p15:clr>
            <a:srgbClr val="FBAE40"/>
          </p15:clr>
        </p15:guide>
        <p15:guide id="6" pos="2747">
          <p15:clr>
            <a:srgbClr val="FBAE40"/>
          </p15:clr>
        </p15:guide>
        <p15:guide id="7" pos="4944">
          <p15:clr>
            <a:srgbClr val="FBAE40"/>
          </p15:clr>
        </p15:guide>
        <p15:guide id="8" pos="5120">
          <p15:clr>
            <a:srgbClr val="FBAE40"/>
          </p15:clr>
        </p15:guide>
        <p15:guide id="9" pos="3840">
          <p15:clr>
            <a:srgbClr val="FBAE40"/>
          </p15:clr>
        </p15:guide>
        <p15:guide id="10" pos="1464">
          <p15:clr>
            <a:srgbClr val="FBAE40"/>
          </p15:clr>
        </p15:guide>
        <p15:guide id="11" pos="6216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Bullet with Subtitles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2532063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4200" y="2283115"/>
            <a:ext cx="2532063" cy="1114151"/>
          </a:xfrm>
        </p:spPr>
        <p:txBody>
          <a:bodyPr wrap="square">
            <a:spAutoFit/>
          </a:bodyPr>
          <a:lstStyle>
            <a:lvl1pPr marL="141288" indent="-141288">
              <a:defRPr lang="en-US" sz="1600" dirty="0"/>
            </a:lvl1pPr>
            <a:lvl2pPr marL="285750" indent="-125413">
              <a:defRPr lang="en-US" sz="1400" dirty="0"/>
            </a:lvl2pPr>
            <a:lvl3pPr marL="438150" indent="-133350">
              <a:defRPr lang="en-US" sz="1100" dirty="0"/>
            </a:lvl3pPr>
            <a:lvl4pPr marL="566738" indent="-114300">
              <a:defRPr lang="en-US" sz="1050" dirty="0"/>
            </a:lvl4pPr>
            <a:lvl5pPr marL="685800" indent="-109538">
              <a:defRPr lang="en-US" sz="1050" dirty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3125" y="1438275"/>
            <a:ext cx="2533650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3125" y="2276475"/>
            <a:ext cx="2532063" cy="1114151"/>
          </a:xfrm>
        </p:spPr>
        <p:txBody>
          <a:bodyPr wrap="square">
            <a:spAutoFit/>
          </a:bodyPr>
          <a:lstStyle>
            <a:lvl1pPr marL="141288" indent="-141288">
              <a:defRPr lang="en-US" sz="1600" dirty="0"/>
            </a:lvl1pPr>
            <a:lvl2pPr marL="285750" indent="-125413">
              <a:defRPr lang="en-US" sz="1400" dirty="0"/>
            </a:lvl2pPr>
            <a:lvl3pPr marL="438150" indent="-133350">
              <a:defRPr lang="en-US" sz="1100" dirty="0"/>
            </a:lvl3pPr>
            <a:lvl4pPr marL="566738" indent="-114300">
              <a:defRPr lang="en-US" sz="1050" dirty="0"/>
            </a:lvl4pPr>
            <a:lvl5pPr marL="685800" indent="-109538">
              <a:defRPr lang="en-US" sz="1050" dirty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4208" y="1438275"/>
            <a:ext cx="2532063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4208" y="2283115"/>
            <a:ext cx="2532063" cy="1114151"/>
          </a:xfrm>
        </p:spPr>
        <p:txBody>
          <a:bodyPr wrap="square">
            <a:spAutoFit/>
          </a:bodyPr>
          <a:lstStyle>
            <a:lvl1pPr marL="141288" indent="-141288">
              <a:defRPr lang="en-US" sz="1600" dirty="0"/>
            </a:lvl1pPr>
            <a:lvl2pPr marL="285750" indent="-125413">
              <a:defRPr lang="en-US" sz="1400" dirty="0"/>
            </a:lvl2pPr>
            <a:lvl3pPr marL="438150" indent="-133350">
              <a:defRPr lang="en-US" sz="1100" dirty="0"/>
            </a:lvl3pPr>
            <a:lvl4pPr marL="566738" indent="-114300">
              <a:defRPr lang="en-US" sz="1050" dirty="0"/>
            </a:lvl4pPr>
            <a:lvl5pPr marL="685800" indent="-109538">
              <a:defRPr lang="en-US" sz="1050" dirty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73133" y="1438275"/>
            <a:ext cx="2533650" cy="276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73133" y="2276475"/>
            <a:ext cx="2532063" cy="1114151"/>
          </a:xfrm>
        </p:spPr>
        <p:txBody>
          <a:bodyPr wrap="square">
            <a:spAutoFit/>
          </a:bodyPr>
          <a:lstStyle>
            <a:lvl1pPr marL="141288" indent="-141288">
              <a:defRPr lang="en-US" sz="1600" dirty="0"/>
            </a:lvl1pPr>
            <a:lvl2pPr marL="285750" indent="-125413">
              <a:defRPr lang="en-US" sz="1400" dirty="0"/>
            </a:lvl2pPr>
            <a:lvl3pPr marL="438150" indent="-133350">
              <a:defRPr lang="en-US" sz="1100" dirty="0"/>
            </a:lvl3pPr>
            <a:lvl4pPr marL="566738" indent="-114300">
              <a:defRPr lang="en-US" sz="1050" dirty="0"/>
            </a:lvl4pPr>
            <a:lvl5pPr marL="685800" indent="-109538">
              <a:defRPr lang="en-US" sz="1050" dirty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60288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Bullet with Subtitles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E4763AA-7A64-C315-54ED-405AA5F28928}"/>
              </a:ext>
            </a:extLst>
          </p:cNvPr>
          <p:cNvSpPr/>
          <p:nvPr userDrawn="1"/>
        </p:nvSpPr>
        <p:spPr bwMode="auto">
          <a:xfrm>
            <a:off x="0" y="0"/>
            <a:ext cx="12192000" cy="1208988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accent2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/>
          <a:p>
            <a:r>
              <a:rPr lang="en-US"/>
              <a:t>Click to edit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EA42F63-B2F3-3A38-57BC-24F6164484E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666187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284777-927E-F267-62FB-0ADA3AB8AB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511027"/>
            <a:ext cx="2532063" cy="1452705"/>
          </a:xfrm>
        </p:spPr>
        <p:txBody>
          <a:bodyPr wrap="square">
            <a:spAutoFit/>
          </a:bodyPr>
          <a:lstStyle>
            <a:lvl1pPr marL="141288" indent="-141288">
              <a:defRPr lang="en-US" sz="16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B6D7214D-CF27-5C85-22BE-C501CC3F79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666187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0E08958-F760-A396-6DDC-ADDF12562E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504387"/>
            <a:ext cx="2532063" cy="1452705"/>
          </a:xfrm>
        </p:spPr>
        <p:txBody>
          <a:bodyPr wrap="square">
            <a:spAutoFit/>
          </a:bodyPr>
          <a:lstStyle>
            <a:lvl1pPr marL="141288" indent="-141288">
              <a:defRPr lang="en-US" sz="16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8EB955-55F0-24FF-CDCC-B5A5FFFC6B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666187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6792F0E-DEBA-6C31-5613-59E8E3706B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511027"/>
            <a:ext cx="2532063" cy="1452705"/>
          </a:xfrm>
        </p:spPr>
        <p:txBody>
          <a:bodyPr wrap="square">
            <a:spAutoFit/>
          </a:bodyPr>
          <a:lstStyle>
            <a:lvl1pPr marL="141288" indent="-141288">
              <a:defRPr lang="en-US" sz="16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A858486-2BAB-90FA-E642-5FFCB895599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666187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614B332-A4F9-7C7C-FA27-45DE478DA6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504387"/>
            <a:ext cx="2532063" cy="1452705"/>
          </a:xfrm>
        </p:spPr>
        <p:txBody>
          <a:bodyPr wrap="square">
            <a:spAutoFit/>
          </a:bodyPr>
          <a:lstStyle>
            <a:lvl1pPr marL="141288" indent="-141288">
              <a:defRPr lang="en-US" sz="16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9145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Bullet with Subtitles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215444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4200" y="2283115"/>
            <a:ext cx="1965960" cy="1101840"/>
          </a:xfrm>
        </p:spPr>
        <p:txBody>
          <a:bodyPr wrap="square">
            <a:spAutoFit/>
          </a:bodyPr>
          <a:lstStyle>
            <a:lvl1pPr marL="141288" indent="-141288">
              <a:defRPr lang="en-US" sz="1400" dirty="0"/>
            </a:lvl1pPr>
            <a:lvl2pPr marL="285750" indent="-125413">
              <a:defRPr lang="en-US" sz="1200" dirty="0"/>
            </a:lvl2pPr>
            <a:lvl3pPr marL="438150" indent="-133350">
              <a:defRPr lang="en-US" sz="1200" dirty="0"/>
            </a:lvl3pPr>
            <a:lvl4pPr marL="566738" indent="-114300">
              <a:defRPr lang="en-US" sz="1100" dirty="0"/>
            </a:lvl4pPr>
            <a:lvl5pPr marL="685800" indent="-109538">
              <a:defRPr lang="en-US" sz="1100" dirty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215444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49007" y="2276475"/>
            <a:ext cx="1965960" cy="1101840"/>
          </a:xfrm>
        </p:spPr>
        <p:txBody>
          <a:bodyPr wrap="square">
            <a:spAutoFit/>
          </a:bodyPr>
          <a:lstStyle>
            <a:lvl1pPr marL="141288" indent="-141288">
              <a:defRPr lang="en-US" sz="1400" dirty="0"/>
            </a:lvl1pPr>
            <a:lvl2pPr marL="285750" indent="-125413">
              <a:defRPr lang="en-US" sz="1200" dirty="0"/>
            </a:lvl2pPr>
            <a:lvl3pPr marL="438150" indent="-133350">
              <a:defRPr lang="en-US" sz="1200" dirty="0"/>
            </a:lvl3pPr>
            <a:lvl4pPr marL="566738" indent="-114300">
              <a:defRPr lang="en-US" sz="1100" dirty="0"/>
            </a:lvl4pPr>
            <a:lvl5pPr marL="685800" indent="-109538">
              <a:defRPr lang="en-US" sz="1100" dirty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215444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13814" y="2283115"/>
            <a:ext cx="1965960" cy="1101840"/>
          </a:xfrm>
        </p:spPr>
        <p:txBody>
          <a:bodyPr wrap="square">
            <a:spAutoFit/>
          </a:bodyPr>
          <a:lstStyle>
            <a:lvl1pPr marL="141288" indent="-141288">
              <a:defRPr lang="en-US" sz="1400" dirty="0"/>
            </a:lvl1pPr>
            <a:lvl2pPr marL="285750" indent="-125413">
              <a:defRPr lang="en-US" sz="1200" dirty="0"/>
            </a:lvl2pPr>
            <a:lvl3pPr marL="438150" indent="-133350">
              <a:defRPr lang="en-US" sz="1200" dirty="0"/>
            </a:lvl3pPr>
            <a:lvl4pPr marL="566738" indent="-114300">
              <a:defRPr lang="en-US" sz="1100" dirty="0"/>
            </a:lvl4pPr>
            <a:lvl5pPr marL="685800" indent="-109538">
              <a:defRPr lang="en-US" sz="1100" dirty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215444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78621" y="2276475"/>
            <a:ext cx="1965960" cy="1101840"/>
          </a:xfrm>
        </p:spPr>
        <p:txBody>
          <a:bodyPr wrap="square">
            <a:spAutoFit/>
          </a:bodyPr>
          <a:lstStyle>
            <a:lvl1pPr marL="141288" indent="-141288">
              <a:defRPr lang="en-US" sz="1400" dirty="0"/>
            </a:lvl1pPr>
            <a:lvl2pPr marL="285750" indent="-125413">
              <a:defRPr lang="en-US" sz="1200" dirty="0"/>
            </a:lvl2pPr>
            <a:lvl3pPr marL="438150" indent="-133350">
              <a:defRPr lang="en-US" sz="1200" dirty="0"/>
            </a:lvl3pPr>
            <a:lvl4pPr marL="566738" indent="-114300">
              <a:defRPr lang="en-US" sz="1100" dirty="0"/>
            </a:lvl4pPr>
            <a:lvl5pPr marL="685800" indent="-109538">
              <a:defRPr lang="en-US" sz="1100" dirty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215444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43428" y="2276475"/>
            <a:ext cx="1965960" cy="1101840"/>
          </a:xfrm>
        </p:spPr>
        <p:txBody>
          <a:bodyPr wrap="square">
            <a:spAutoFit/>
          </a:bodyPr>
          <a:lstStyle>
            <a:lvl1pPr marL="141288" indent="-141288">
              <a:defRPr lang="en-US" sz="1400" dirty="0"/>
            </a:lvl1pPr>
            <a:lvl2pPr marL="285750" indent="-125413">
              <a:defRPr lang="en-US" sz="1200" dirty="0"/>
            </a:lvl2pPr>
            <a:lvl3pPr marL="438150" indent="-133350">
              <a:defRPr lang="en-US" sz="1200" dirty="0"/>
            </a:lvl3pPr>
            <a:lvl4pPr marL="566738" indent="-114300">
              <a:defRPr lang="en-US" sz="1100" dirty="0"/>
            </a:lvl4pPr>
            <a:lvl5pPr marL="685800" indent="-109538">
              <a:defRPr lang="en-US" sz="1100" dirty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51958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47496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6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0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86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76803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457200"/>
            <a:ext cx="5687568" cy="553998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ED9561-2D36-C7A9-8121-647D44F28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858000" y="0"/>
            <a:ext cx="5333999" cy="685800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9952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quare Photo 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3303"/>
            <a:ext cx="4158362" cy="430887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0" y="1971020"/>
            <a:ext cx="4162425" cy="307777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A4A25BE-EEC4-2D45-6B51-A6D5FDC0CD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062" y="3084755"/>
            <a:ext cx="4167188" cy="2205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None/>
              <a:defRPr sz="1400" b="0" spc="0" baseline="0">
                <a:solidFill>
                  <a:schemeClr val="accent1"/>
                </a:solidFill>
                <a:latin typeface="+mj-lt"/>
              </a:defRPr>
            </a:lvl1pPr>
            <a:lvl2pPr marL="285750" marR="0" indent="-285750" algn="l" defTabSz="932742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40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</a:t>
            </a:r>
            <a:r>
              <a:rPr lang="en-US" err="1"/>
              <a:t>Semibold</a:t>
            </a:r>
            <a:r>
              <a:rPr lang="en-US"/>
              <a:t> 14/18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898ECC2-F025-9F52-FDDA-2757DC69BA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4200" y="3392529"/>
            <a:ext cx="4167188" cy="15987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B1F49BE-32CF-300B-48DC-B74CA09F2E9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4320885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28">
          <p15:clr>
            <a:srgbClr val="A4A3A4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quare Photo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0" y="3535540"/>
            <a:ext cx="4162425" cy="307777"/>
          </a:xfrm>
        </p:spPr>
        <p:txBody>
          <a:bodyPr/>
          <a:lstStyle>
            <a:lvl1pPr marL="0" indent="0">
              <a:buNone/>
              <a:defRPr sz="20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2775014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873414"/>
            <a:ext cx="4159950" cy="1107996"/>
          </a:xfrm>
        </p:spPr>
        <p:txBody>
          <a:bodyPr anchor="ctr"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907287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738664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520956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51592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2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599172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2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273711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2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7601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436128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668854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866287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141128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199" y="5689600"/>
            <a:ext cx="5367528" cy="2462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prstGeom prst="roundRect">
            <a:avLst>
              <a:gd name="adj" fmla="val 8178"/>
            </a:avLst>
          </a:prstGeo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1860" y="5689600"/>
            <a:ext cx="5367528" cy="2462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prstGeom prst="roundRect">
            <a:avLst>
              <a:gd name="adj" fmla="val 7612"/>
            </a:avLst>
          </a:prstGeo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8072290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2613" y="5689600"/>
            <a:ext cx="3475037" cy="2462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prstGeom prst="roundRect">
            <a:avLst>
              <a:gd name="adj" fmla="val 7612"/>
            </a:avLst>
          </a:prstGeo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8640" y="5689600"/>
            <a:ext cx="3475037" cy="2462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prstGeom prst="roundRect">
            <a:avLst>
              <a:gd name="adj" fmla="val 7612"/>
            </a:avLst>
          </a:prstGeo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34351" y="5689600"/>
            <a:ext cx="3475037" cy="2462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prstGeom prst="roundRect">
            <a:avLst>
              <a:gd name="adj" fmla="val 7895"/>
            </a:avLst>
          </a:prstGeo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895401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with subtitle content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2613" y="5005673"/>
            <a:ext cx="3475037" cy="215444"/>
          </a:xfrm>
        </p:spPr>
        <p:txBody>
          <a:bodyPr/>
          <a:lstStyle>
            <a:lvl1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400" b="0" kern="1200" spc="0" baseline="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1332631"/>
            <a:ext cx="3474720" cy="3474720"/>
          </a:xfrm>
          <a:prstGeom prst="roundRect">
            <a:avLst>
              <a:gd name="adj" fmla="val 7612"/>
            </a:avLst>
          </a:prstGeo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8640" y="5005673"/>
            <a:ext cx="3475037" cy="215444"/>
          </a:xfrm>
        </p:spPr>
        <p:txBody>
          <a:bodyPr/>
          <a:lstStyle>
            <a:lvl1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400" b="0" kern="1200" spc="0" baseline="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1332631"/>
            <a:ext cx="3474720" cy="3474720"/>
          </a:xfrm>
          <a:prstGeom prst="roundRect">
            <a:avLst>
              <a:gd name="adj" fmla="val 7612"/>
            </a:avLst>
          </a:prstGeo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34351" y="5005673"/>
            <a:ext cx="3475037" cy="215444"/>
          </a:xfrm>
        </p:spPr>
        <p:txBody>
          <a:bodyPr/>
          <a:lstStyle>
            <a:lvl1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400" b="0" kern="1200" spc="0" baseline="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1332631"/>
            <a:ext cx="3474720" cy="3474720"/>
          </a:xfrm>
          <a:prstGeom prst="roundRect">
            <a:avLst>
              <a:gd name="adj" fmla="val 7895"/>
            </a:avLst>
          </a:prstGeo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BFE283E-20EE-6783-BD84-82B4E8AD35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200" y="5354468"/>
            <a:ext cx="3474720" cy="906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92DA75-7E4D-567F-ECD8-2CA3158E6D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6101" y="5354468"/>
            <a:ext cx="3474720" cy="906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341BE00-329F-B62F-D11D-64896AE5DD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34943" y="5354468"/>
            <a:ext cx="3474445" cy="906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16691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prstGeom prst="roundRect">
            <a:avLst>
              <a:gd name="adj" fmla="val 9291"/>
            </a:avLst>
          </a:prstGeo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prstGeom prst="roundRect">
            <a:avLst>
              <a:gd name="adj" fmla="val 9680"/>
            </a:avLst>
          </a:prstGeo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prstGeom prst="roundRect">
            <a:avLst>
              <a:gd name="adj" fmla="val 9679"/>
            </a:avLst>
          </a:prstGeo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2613" y="4753938"/>
            <a:ext cx="2532888" cy="2462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prstGeom prst="roundRect">
            <a:avLst>
              <a:gd name="adj" fmla="val 9680"/>
            </a:avLst>
          </a:prstGeo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3908" y="4753938"/>
            <a:ext cx="2532888" cy="2462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5204" y="4753938"/>
            <a:ext cx="2532888" cy="2462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76500" y="4753938"/>
            <a:ext cx="2532888" cy="2462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69147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filmstrip photos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866573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216" y="5334000"/>
            <a:ext cx="4892040" cy="24622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14744" y="5334000"/>
            <a:ext cx="4892040" cy="24622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E10F07-B8D9-4B69-A567-8BEDE6973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875950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filmstrip photos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866572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216" y="4800600"/>
            <a:ext cx="2852928" cy="24622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9536" y="4799409"/>
            <a:ext cx="2852928" cy="24622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53856" y="4799410"/>
            <a:ext cx="2852928" cy="24622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25569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filmstrip photos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866573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216" y="4800600"/>
            <a:ext cx="1828800" cy="49244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49472" y="4799409"/>
            <a:ext cx="1828800" cy="49244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13728" y="4799410"/>
            <a:ext cx="1828800" cy="49244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77984" y="4799409"/>
            <a:ext cx="1828800" cy="49244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035200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filmstrip photos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866573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2608" y="4800600"/>
            <a:ext cx="1801368" cy="49244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43962" y="4799409"/>
            <a:ext cx="1801368" cy="49244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95316" y="4799410"/>
            <a:ext cx="1801368" cy="49244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46670" y="4799409"/>
            <a:ext cx="1801368" cy="49244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98024" y="4799409"/>
            <a:ext cx="1801368" cy="49244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017624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round photos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869747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37906" y="4800600"/>
            <a:ext cx="2313432" cy="24622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39284" y="4800600"/>
            <a:ext cx="2313432" cy="24622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40663" y="4800600"/>
            <a:ext cx="2313432" cy="24622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773487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round photos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863792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4800600"/>
            <a:ext cx="2313432" cy="24622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87250" y="4800600"/>
            <a:ext cx="2313432" cy="24622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90300" y="4800600"/>
            <a:ext cx="2313432" cy="24622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93351" y="4800600"/>
            <a:ext cx="2313432" cy="24622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5734221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round photos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863792"/>
            <a:ext cx="11018520" cy="5539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4235450"/>
            <a:ext cx="1737360" cy="49244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05506" y="4235450"/>
            <a:ext cx="1737360" cy="49244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7320" y="4235451"/>
            <a:ext cx="1737360" cy="49244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48118" y="4235450"/>
            <a:ext cx="1737360" cy="49244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69423" y="4235450"/>
            <a:ext cx="1737360" cy="49244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44772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56100" y="2309812"/>
            <a:ext cx="7253288" cy="3959225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 sz="1800"/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201930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rgbClr val="FFA38B"/>
                </a:gs>
                <a:gs pos="97531">
                  <a:srgbClr val="8DC8E8"/>
                </a:gs>
                <a:gs pos="65000">
                  <a:srgbClr val="CD9BCF"/>
                </a:gs>
                <a:gs pos="34000">
                  <a:srgbClr val="FFB3BB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48370C-2FF9-EB05-1275-F0B9E34E4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5736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366496-0526-A79B-C195-310BDEC53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201930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rgbClr val="FFA38B"/>
                </a:gs>
                <a:gs pos="97531">
                  <a:srgbClr val="8DC8E8"/>
                </a:gs>
                <a:gs pos="65000">
                  <a:srgbClr val="CD9BCF"/>
                </a:gs>
                <a:gs pos="34000">
                  <a:srgbClr val="FFB3BB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B9282B-2098-430D-B57F-67ED8C920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917A19-5353-F019-737D-CB017D70B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9EDB421-EDBF-FF28-16C9-56834DF21C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12936" y="2309812"/>
            <a:ext cx="6693847" cy="3293209"/>
          </a:xfrm>
        </p:spPr>
        <p:txBody>
          <a:bodyPr anchor="t"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800"/>
            </a:lvl1pPr>
          </a:lstStyle>
          <a:p>
            <a:pPr lvl="0"/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C86039A-AC59-0AA2-3B10-E7EE56A2CD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54523" y="2309812"/>
            <a:ext cx="472010" cy="3293209"/>
          </a:xfrm>
        </p:spPr>
        <p:txBody>
          <a:bodyPr anchor="t"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841266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36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3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1888" y="585789"/>
            <a:ext cx="6667500" cy="5683248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 sz="1800"/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578100"/>
            <a:ext cx="0" cy="1701800"/>
          </a:xfrm>
          <a:prstGeom prst="line">
            <a:avLst/>
          </a:prstGeom>
          <a:ln w="76200" cap="rnd">
            <a:gradFill>
              <a:gsLst>
                <a:gs pos="0">
                  <a:srgbClr val="FFA38B"/>
                </a:gs>
                <a:gs pos="97531">
                  <a:srgbClr val="8DC8E8"/>
                </a:gs>
                <a:gs pos="65000">
                  <a:srgbClr val="CD9BCF"/>
                </a:gs>
                <a:gs pos="34000">
                  <a:srgbClr val="FFB3BB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8207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4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578100"/>
            <a:ext cx="0" cy="1701800"/>
          </a:xfrm>
          <a:prstGeom prst="line">
            <a:avLst/>
          </a:prstGeom>
          <a:ln w="76200" cap="rnd">
            <a:gradFill>
              <a:gsLst>
                <a:gs pos="0">
                  <a:srgbClr val="FFA38B"/>
                </a:gs>
                <a:gs pos="97531">
                  <a:srgbClr val="8DC8E8"/>
                </a:gs>
                <a:gs pos="65000">
                  <a:srgbClr val="CD9BCF"/>
                </a:gs>
                <a:gs pos="34000">
                  <a:srgbClr val="FFB3BB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FC8378B-6E45-F469-0519-68B9FC5BEE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54082" y="1857800"/>
            <a:ext cx="5966418" cy="3293209"/>
          </a:xfrm>
        </p:spPr>
        <p:txBody>
          <a:bodyPr anchor="t"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800"/>
            </a:lvl1pPr>
          </a:lstStyle>
          <a:p>
            <a:pPr lvl="0"/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763BA2C-322D-A7E8-7431-EF84FFCD9B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95668" y="1857800"/>
            <a:ext cx="472010" cy="3293209"/>
          </a:xfrm>
        </p:spPr>
        <p:txBody>
          <a:bodyPr anchor="t"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3327939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5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0BFCD8B-853E-92A8-FD5C-C5659CCB7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0" y="201930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98F6FE-FA89-D09B-0F56-2F89F05F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DBC7FD1-5168-7C9E-36DD-EFCBEFE2FAC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12936" y="2309812"/>
            <a:ext cx="6693847" cy="3293209"/>
          </a:xfrm>
        </p:spPr>
        <p:txBody>
          <a:bodyPr anchor="t"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800"/>
            </a:lvl1pPr>
          </a:lstStyle>
          <a:p>
            <a:pPr lvl="0"/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C81A518-CF66-2BAF-FE9A-48CB9F7E9C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54523" y="2309812"/>
            <a:ext cx="472010" cy="3293209"/>
          </a:xfrm>
        </p:spPr>
        <p:txBody>
          <a:bodyPr anchor="t"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  <a:p>
            <a:pPr lvl="0"/>
            <a:r>
              <a:rPr lang="en-US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3631258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36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full pag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438" y="710247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2F35014-FB65-ACD9-730E-E1D616E561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vert="horz" wrap="square" lIns="585216" tIns="91440" rIns="0" bIns="45720" rtlCol="0">
            <a:spAutoFit/>
          </a:bodyPr>
          <a:lstStyle>
            <a:lvl1pPr marL="0" indent="0">
              <a:buNone/>
              <a:defRPr kumimoji="0" lang="en-US" sz="1999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</a:defRPr>
            </a:lvl1pPr>
          </a:lstStyle>
          <a:p>
            <a:pPr marL="228600" lvl="0" indent="-228600"/>
            <a:r>
              <a:rPr lang="en-US"/>
              <a:t>Click to enter title</a:t>
            </a:r>
          </a:p>
        </p:txBody>
      </p:sp>
    </p:spTree>
    <p:extLst>
      <p:ext uri="{BB962C8B-B14F-4D97-AF65-F5344CB8AC3E}">
        <p14:creationId xmlns:p14="http://schemas.microsoft.com/office/powerpoint/2010/main" val="2586807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263" y="2099310"/>
            <a:ext cx="11018520" cy="307777"/>
          </a:xfrm>
        </p:spPr>
        <p:txBody>
          <a:bodyPr/>
          <a:lstStyle>
            <a:lvl1pPr marL="0" indent="0">
              <a:buNone/>
              <a:tabLst/>
              <a:defRPr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6783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botto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07777"/>
          </a:xfrm>
        </p:spPr>
        <p:txBody>
          <a:bodyPr/>
          <a:lstStyle>
            <a:lvl1pPr marL="0" indent="0">
              <a:buNone/>
              <a:tabLst/>
              <a:defRPr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279175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top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07777"/>
          </a:xfrm>
        </p:spPr>
        <p:txBody>
          <a:bodyPr/>
          <a:lstStyle>
            <a:lvl1pPr marL="0" indent="0">
              <a:buNone/>
              <a:tabLst/>
              <a:defRPr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07777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0932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0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07777"/>
          </a:xfrm>
        </p:spPr>
        <p:txBody>
          <a:bodyPr/>
          <a:lstStyle>
            <a:lvl1pPr marL="0" indent="0">
              <a:buNone/>
              <a:tabLst/>
              <a:defRPr sz="20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682708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e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07777"/>
          </a:xfrm>
        </p:spPr>
        <p:txBody>
          <a:bodyPr/>
          <a:lstStyle>
            <a:lvl1pPr marL="0" indent="0">
              <a:buNone/>
              <a:defRPr sz="20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07777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0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930225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eft, image right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456ECE7-2FD2-0E8A-D0BD-61173814D9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8490856" y="707231"/>
            <a:ext cx="3116945" cy="5561808"/>
          </a:xfrm>
          <a:prstGeom prst="roundRect">
            <a:avLst>
              <a:gd name="adj" fmla="val 4445"/>
            </a:avLst>
          </a:prstGeom>
          <a:blipFill>
            <a:blip r:embed="rId2"/>
            <a:stretch>
              <a:fillRect l="-107368" r="-109854"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07777"/>
          </a:xfrm>
        </p:spPr>
        <p:txBody>
          <a:bodyPr/>
          <a:lstStyle>
            <a:lvl1pPr marL="0" indent="0">
              <a:buNone/>
              <a:defRPr sz="20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4104213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 1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B95F29-56C3-4C85-A12B-0B0BE769E7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4774" y="418150"/>
            <a:ext cx="7747227" cy="64398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464817"/>
            <a:ext cx="11023600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/>
              <a:t>Device layout 1: one column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84200" y="1922802"/>
            <a:ext cx="4630006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2400"/>
              </a:lnSpc>
              <a:buNone/>
              <a:defRPr sz="2000" b="0" i="0">
                <a:solidFill>
                  <a:srgbClr val="000000"/>
                </a:solidFill>
                <a:latin typeface="+mn-lt"/>
              </a:defRPr>
            </a:lvl1pPr>
            <a:lvl2pPr marL="224097" indent="0">
              <a:buNone/>
              <a:defRPr/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pt-BR"/>
              <a:t>Large subhead Segoe UI Regular 20/24. </a:t>
            </a:r>
            <a:r>
              <a:rPr lang="da-DK"/>
              <a:t>Lorem ipsum dolor sit amet</a:t>
            </a:r>
            <a:r>
              <a:rPr lang="pt-BR"/>
              <a:t>.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2707597"/>
            <a:ext cx="4630005" cy="25213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765"/>
              </a:lnSpc>
              <a:spcBef>
                <a:spcPts val="0"/>
              </a:spcBef>
              <a:buNone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r>
              <a:rPr lang="en-US"/>
              <a:t>Body copy 14 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34476FE-7091-4DE7-A55E-3EF5A6569A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8812" y="1519688"/>
            <a:ext cx="5833188" cy="434337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0846582"/>
      </p:ext>
    </p:extLst>
  </p:cSld>
  <p:clrMapOvr>
    <a:masterClrMapping/>
  </p:clrMapOvr>
  <p:transition>
    <p:fade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9DE98C-91A8-4163-A280-8BB561692C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4774" y="418150"/>
            <a:ext cx="7747227" cy="6439851"/>
          </a:xfrm>
          <a:prstGeom prst="rect">
            <a:avLst/>
          </a:prstGeom>
        </p:spPr>
      </p:pic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784CA30E-A92E-4E40-944A-73B1CF9EEE0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7959" y="1535104"/>
            <a:ext cx="5834041" cy="431505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D17D4B4-B6B9-4273-ACCB-7A5ED46F35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3750" y="2000739"/>
            <a:ext cx="1693247" cy="4425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882"/>
              </a:spcBef>
              <a:buNone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ts val="1765"/>
              </a:lnSpc>
              <a:spcBef>
                <a:spcPts val="441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372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0" indent="0" algn="l" defTabSz="914367" rtl="0" eaLnBrk="1" fontAlgn="auto" latinLnBrk="0" hangingPunct="1">
              <a:lnSpc>
                <a:spcPts val="1765"/>
              </a:lnSpc>
              <a:spcBef>
                <a:spcPts val="882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Paragraph title Segoe UI </a:t>
            </a:r>
            <a:r>
              <a:rPr lang="en-US" err="1"/>
              <a:t>Semibold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B204BE2-B985-4315-8D5B-9C54B1074D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21876" y="2000739"/>
            <a:ext cx="1693247" cy="4425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882"/>
              </a:spcBef>
              <a:buNone/>
              <a:defRPr lang="en-US" sz="1400" b="0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ts val="1765"/>
              </a:lnSpc>
              <a:spcBef>
                <a:spcPts val="441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372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marL="0" marR="0" lvl="0" indent="0" algn="l" defTabSz="914367" rtl="0" eaLnBrk="1" fontAlgn="auto" latinLnBrk="0" hangingPunct="1">
              <a:lnSpc>
                <a:spcPts val="1765"/>
              </a:lnSpc>
              <a:spcBef>
                <a:spcPts val="882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Paragraph title Segoe UI </a:t>
            </a:r>
            <a:r>
              <a:rPr lang="en-US" err="1"/>
              <a:t>Semibold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2963930-27DC-A146-BED0-307A0CE5F43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0248" y="2528961"/>
            <a:ext cx="1693247" cy="1828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765"/>
              </a:lnSpc>
              <a:spcBef>
                <a:spcPts val="0"/>
              </a:spcBef>
              <a:buNone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EE99189-A4FF-8C44-809C-285F33AF913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521608" y="2528961"/>
            <a:ext cx="1693247" cy="1828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65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spc="0">
                <a:solidFill>
                  <a:srgbClr val="000000"/>
                </a:solidFill>
                <a:latin typeface="+mn-lt"/>
              </a:defRPr>
            </a:lvl1pPr>
            <a:lvl2pPr marL="0" indent="0">
              <a:lnSpc>
                <a:spcPts val="1765"/>
              </a:lnSpc>
              <a:spcBef>
                <a:spcPts val="0"/>
              </a:spcBef>
              <a:buNone/>
              <a:defRPr sz="1372">
                <a:solidFill>
                  <a:schemeClr val="tx1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Body copy 14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1C62C6E-6C8D-E263-ED20-65125864F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612" y="462415"/>
            <a:ext cx="11026776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/>
              <a:t>Device layout 2: two columns</a:t>
            </a:r>
          </a:p>
        </p:txBody>
      </p:sp>
    </p:spTree>
    <p:extLst>
      <p:ext uri="{BB962C8B-B14F-4D97-AF65-F5344CB8AC3E}">
        <p14:creationId xmlns:p14="http://schemas.microsoft.com/office/powerpoint/2010/main" val="993326050"/>
      </p:ext>
    </p:extLst>
  </p:cSld>
  <p:clrMapOvr>
    <a:masterClrMapping/>
  </p:clrMapOvr>
  <p:transition>
    <p:fade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 3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466045"/>
            <a:ext cx="11025188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/>
              <a:t>Device layout 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CDB1EA-72FB-46B3-89D4-DEE1F2EF72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4249" y="486947"/>
            <a:ext cx="10869930" cy="6371053"/>
          </a:xfrm>
          <a:prstGeom prst="rect">
            <a:avLst/>
          </a:prstGeom>
        </p:spPr>
      </p:pic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0473E679-3B6D-497A-A0F6-454C968B760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93976" y="1599603"/>
            <a:ext cx="7678751" cy="43279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65843007"/>
      </p:ext>
    </p:extLst>
  </p:cSld>
  <p:clrMapOvr>
    <a:masterClrMapping/>
  </p:clrMapOvr>
  <p:transition>
    <p:fade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466045"/>
            <a:ext cx="11025188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/>
              <a:t>Chart layout examples</a:t>
            </a:r>
          </a:p>
        </p:txBody>
      </p:sp>
      <p:sp>
        <p:nvSpPr>
          <p:cNvPr id="5" name="Chart Placeholder 6">
            <a:extLst>
              <a:ext uri="{FF2B5EF4-FFF2-40B4-BE49-F238E27FC236}">
                <a16:creationId xmlns:a16="http://schemas.microsoft.com/office/drawing/2014/main" id="{D9638BF3-12D1-2694-0190-0AB19FCB5432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584200" y="1989614"/>
            <a:ext cx="3474720" cy="36052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FDA6635-EE72-35BC-5065-7C47B07E2A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5973763"/>
            <a:ext cx="347472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spcBef>
                <a:spcPts val="900"/>
              </a:spcBef>
              <a:buFont typeface="Arial" panose="020B0604020202020204" pitchFamily="34" charset="0"/>
              <a:buNone/>
              <a:defRPr sz="1000" b="0" i="0" spc="0">
                <a:solidFill>
                  <a:srgbClr val="000000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ts val="1200"/>
              </a:lnSpc>
              <a:spcBef>
                <a:spcPts val="45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000">
                <a:solidFill>
                  <a:schemeClr val="tx1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Caption body copy Segoe Regular 10/12.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26EF772-758C-C1A7-A309-173E2AB9C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8640" y="5973763"/>
            <a:ext cx="347472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tabLst/>
              <a:defRPr lang="en-US" sz="1000" b="0" i="0" spc="0" dirty="0" smtClean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Caption body copy Segoe Regular 10/12.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eat.</a:t>
            </a:r>
          </a:p>
        </p:txBody>
      </p:sp>
      <p:sp>
        <p:nvSpPr>
          <p:cNvPr id="9" name="Chart Placeholder 6">
            <a:extLst>
              <a:ext uri="{FF2B5EF4-FFF2-40B4-BE49-F238E27FC236}">
                <a16:creationId xmlns:a16="http://schemas.microsoft.com/office/drawing/2014/main" id="{C01D8C54-5478-2BF6-769F-9F0FC6FB57EA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4358641" y="1989614"/>
            <a:ext cx="3474720" cy="36052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1" name="Chart Placeholder 6">
            <a:extLst>
              <a:ext uri="{FF2B5EF4-FFF2-40B4-BE49-F238E27FC236}">
                <a16:creationId xmlns:a16="http://schemas.microsoft.com/office/drawing/2014/main" id="{657835EA-5000-4043-FCC9-D8A17E147B1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8132064" y="1989614"/>
            <a:ext cx="3474720" cy="36052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11E6A22-8ABF-B71A-3401-3376773ED9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4200" y="5783263"/>
            <a:ext cx="3474720" cy="153888"/>
          </a:xfrm>
          <a:prstGeom prst="rect">
            <a:avLst/>
          </a:prstGeom>
        </p:spPr>
        <p:txBody>
          <a:bodyPr tIns="0"/>
          <a:lstStyle>
            <a:lvl1pPr marL="0" indent="0">
              <a:buNone/>
              <a:defRPr lang="en-US" sz="1000" b="1" kern="120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Caption title Segoe bold 10/12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08861AB-092C-6472-7C72-ED6E47461F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69751" y="5783263"/>
            <a:ext cx="3474720" cy="153888"/>
          </a:xfrm>
          <a:prstGeom prst="rect">
            <a:avLst/>
          </a:prstGeom>
        </p:spPr>
        <p:txBody>
          <a:bodyPr tIns="0"/>
          <a:lstStyle>
            <a:lvl1pPr marL="0" indent="0">
              <a:buNone/>
              <a:defRPr lang="en-US" sz="1000" b="1" kern="120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Caption title Segoe bold 10/12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00561FE-DBFA-4AC4-AFCD-6B19B0C282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32063" y="5783263"/>
            <a:ext cx="3474720" cy="153888"/>
          </a:xfrm>
          <a:prstGeom prst="rect">
            <a:avLst/>
          </a:prstGeom>
        </p:spPr>
        <p:txBody>
          <a:bodyPr tIns="0"/>
          <a:lstStyle>
            <a:lvl1pPr marL="0" indent="0">
              <a:buNone/>
              <a:defRPr lang="en-US" sz="1000" b="1" kern="1200" spc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Caption title Segoe bold 10/12 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B165B4-FDFD-ADBC-4A1C-58CA8748A5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32063" y="5973763"/>
            <a:ext cx="347472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tabLst/>
              <a:defRPr lang="en-US" sz="1000" b="0" i="0" spc="0" dirty="0" smtClean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Caption body copy Segoe Regular 10/12. </a:t>
            </a:r>
            <a:r>
              <a:rPr lang="en-US" err="1"/>
              <a:t>Cavorest</a:t>
            </a:r>
            <a:r>
              <a:rPr lang="en-US"/>
              <a:t> a </a:t>
            </a:r>
            <a:r>
              <a:rPr lang="en-US" err="1"/>
              <a:t>aut</a:t>
            </a:r>
            <a:r>
              <a:rPr lang="en-US"/>
              <a:t> arum </a:t>
            </a:r>
            <a:r>
              <a:rPr lang="en-US" err="1"/>
              <a:t>quam</a:t>
            </a:r>
            <a:r>
              <a:rPr lang="en-US"/>
              <a:t> id eat.</a:t>
            </a:r>
          </a:p>
        </p:txBody>
      </p:sp>
    </p:spTree>
    <p:extLst>
      <p:ext uri="{BB962C8B-B14F-4D97-AF65-F5344CB8AC3E}">
        <p14:creationId xmlns:p14="http://schemas.microsoft.com/office/powerpoint/2010/main" val="1982342779"/>
      </p:ext>
    </p:extLst>
  </p:cSld>
  <p:clrMapOvr>
    <a:masterClrMapping/>
  </p:clrMapOvr>
  <p:transition>
    <p:fade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F1098-5BDB-3A14-0BC4-F3DC4A76BA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Table layout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6DAF7D07-1867-0A94-96A1-88DE5F76DCC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84201" y="2201863"/>
            <a:ext cx="11025188" cy="4067176"/>
          </a:xfrm>
          <a:prstGeom prst="rect">
            <a:avLst/>
          </a:prstGeo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687834266"/>
      </p:ext>
    </p:extLst>
  </p:cSld>
  <p:clrMapOvr>
    <a:masterClrMapping/>
  </p:clrMapOvr>
  <p:transition>
    <p:fade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8FF295-4867-A99B-E458-6E9396360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640" y="3172"/>
            <a:ext cx="12180719" cy="6851655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7C05C3C-EB57-9CE3-8D71-4524D615C6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63637" y="4485319"/>
            <a:ext cx="7256463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 attribute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0CDB07D-2FEA-8773-9F92-922A8CE70D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63637" y="4891719"/>
            <a:ext cx="7256463" cy="21544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Job title or another attribute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3AADA0-6CA3-9903-2ECD-86BEBBEE6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637" y="850900"/>
            <a:ext cx="7256463" cy="323850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0857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95A0AA-74F0-F906-FF6C-5C3C4846A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640" y="3172"/>
            <a:ext cx="12180719" cy="6851655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7C05C3C-EB57-9CE3-8D71-4524D615C6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82850" y="4485319"/>
            <a:ext cx="7256463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 attribute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0CDB07D-2FEA-8773-9F92-922A8CE70D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82850" y="4891719"/>
            <a:ext cx="7256463" cy="21544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Job title or another attribute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3AADA0-6CA3-9903-2ECD-86BEBBEE6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850" y="1177602"/>
            <a:ext cx="7256463" cy="2911798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Quotation marks">
            <a:extLst>
              <a:ext uri="{FF2B5EF4-FFF2-40B4-BE49-F238E27FC236}">
                <a16:creationId xmlns:a16="http://schemas.microsoft.com/office/drawing/2014/main" id="{04EC2229-8FBE-426A-CDA3-79B76E4E64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49201" y="1033463"/>
            <a:ext cx="1555824" cy="139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06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E79450-F76B-B7C6-BF65-EFBA04ADB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640" y="3172"/>
            <a:ext cx="12180719" cy="6851655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7C05C3C-EB57-9CE3-8D71-4524D615C6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82850" y="4485319"/>
            <a:ext cx="7256463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Name attribute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0CDB07D-2FEA-8773-9F92-922A8CE70D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82850" y="4891719"/>
            <a:ext cx="7256463" cy="21544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Job title or another attribute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3AADA0-6CA3-9903-2ECD-86BEBBEE6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850" y="1177602"/>
            <a:ext cx="7256463" cy="2911798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 descr="Quotation marks">
            <a:extLst>
              <a:ext uri="{FF2B5EF4-FFF2-40B4-BE49-F238E27FC236}">
                <a16:creationId xmlns:a16="http://schemas.microsoft.com/office/drawing/2014/main" id="{3425CD53-2A7D-2007-E862-FDADC36307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 bwMode="black">
          <a:xfrm>
            <a:off x="564441" y="1042185"/>
            <a:ext cx="1271081" cy="113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302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8C42C5-9D1B-8547-8199-B0D8C1770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19824"/>
          <a:stretch/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5" y="3091208"/>
            <a:ext cx="4773168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none" spc="-50" baseline="0" dirty="0">
                <a:ln w="3175">
                  <a:noFill/>
                </a:ln>
                <a:solidFill>
                  <a:schemeClr val="accent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65764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6AA0B9-027D-8539-FF20-AFB01D1F7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19824"/>
          <a:stretch/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88623"/>
            <a:ext cx="4772847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none" spc="-50" baseline="0" dirty="0">
                <a:ln w="3175">
                  <a:noFill/>
                </a:ln>
                <a:solidFill>
                  <a:schemeClr val="accent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4772847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375664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D5FC56-4517-D1AD-EA54-49ECDFA76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91208"/>
            <a:ext cx="9144000" cy="4431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none" spc="-50" baseline="0" dirty="0">
                <a:ln w="3175">
                  <a:noFill/>
                </a:ln>
                <a:solidFill>
                  <a:schemeClr val="accent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47936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79DAA2-FFF6-E1D5-7BF6-E98C822B2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88623"/>
            <a:ext cx="4772847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none" spc="-50" baseline="0" dirty="0">
                <a:ln w="3175">
                  <a:noFill/>
                </a:ln>
                <a:solidFill>
                  <a:schemeClr val="accent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4772847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263608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756D10-0030-D9D3-52FE-13D839CE6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91208"/>
            <a:ext cx="8542742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none" spc="-50" baseline="0" dirty="0">
                <a:ln w="3175">
                  <a:noFill/>
                </a:ln>
                <a:solidFill>
                  <a:schemeClr val="accent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68362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3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4A2250-4B7E-6E63-E698-996FB39D2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88623"/>
            <a:ext cx="9144000" cy="4431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none" spc="-50" baseline="0" dirty="0">
                <a:ln w="3175">
                  <a:noFill/>
                </a:ln>
                <a:solidFill>
                  <a:schemeClr val="accent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439312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4378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654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gray - EMF" descr="Microsoft logo, gray text version">
            <a:extLst>
              <a:ext uri="{FF2B5EF4-FFF2-40B4-BE49-F238E27FC236}">
                <a16:creationId xmlns:a16="http://schemas.microsoft.com/office/drawing/2014/main" id="{65B203D6-28D8-49EF-2E9F-2825A9C395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8079CCE-8626-53E5-1C9C-E9081D2B6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5769" y="1769814"/>
            <a:ext cx="5504688" cy="307777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845B3A2-DAC2-0B7B-1866-377A5A244A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1572227"/>
            <a:ext cx="3361943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897390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272">
          <p15:clr>
            <a:srgbClr val="FBAE40"/>
          </p15:clr>
        </p15:guide>
        <p15:guide id="3" orient="horz" pos="912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0F127D-8512-846C-2C30-5A85666B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0921" y="4612614"/>
            <a:ext cx="5524500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2" name="Text Box 3" descr="This is a copyright notice that should be included on the final slide.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gray - EMF" descr="Microsoft logo, gray text version">
            <a:extLst>
              <a:ext uri="{FF2B5EF4-FFF2-40B4-BE49-F238E27FC236}">
                <a16:creationId xmlns:a16="http://schemas.microsoft.com/office/drawing/2014/main" id="{65B203D6-28D8-49EF-2E9F-2825A9C395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A38A2C9-D8C3-D252-BC8C-25222F314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1766555"/>
            <a:ext cx="5502658" cy="307777"/>
          </a:xfrm>
        </p:spPr>
        <p:txBody>
          <a:bodyPr/>
          <a:lstStyle>
            <a:lvl1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2775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912">
          <p15:clr>
            <a:srgbClr val="FBAE40"/>
          </p15:clr>
        </p15:guide>
        <p15:guide id="3" orient="horz" pos="1272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gray - EMF" descr="Microsoft logo, gray text version">
            <a:extLst>
              <a:ext uri="{FF2B5EF4-FFF2-40B4-BE49-F238E27FC236}">
                <a16:creationId xmlns:a16="http://schemas.microsoft.com/office/drawing/2014/main" id="{65B203D6-28D8-49EF-2E9F-2825A9C395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F8C85E6-DBED-FCF3-8B7D-1F82C6DB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1845276"/>
            <a:ext cx="11018520" cy="553998"/>
          </a:xfrm>
        </p:spPr>
        <p:txBody>
          <a:bodyPr/>
          <a:lstStyle>
            <a:lvl1pPr marL="0" algn="l" defTabSz="457200" rtl="0" eaLnBrk="1" latinLnBrk="0" hangingPunct="1">
              <a:defRPr lang="en-US" sz="3600" b="1" kern="1200" dirty="0">
                <a:gradFill>
                  <a:gsLst>
                    <a:gs pos="0">
                      <a:srgbClr val="FF5C39"/>
                    </a:gs>
                    <a:gs pos="100000">
                      <a:srgbClr val="C73ECC"/>
                    </a:gs>
                  </a:gsLst>
                  <a:lin ang="3900000" scaled="0"/>
                </a:gra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43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1286506"/>
          </a:xfrm>
        </p:spPr>
        <p:txBody>
          <a:bodyPr>
            <a:spAutoFit/>
          </a:bodyPr>
          <a:lstStyle>
            <a:lvl1pPr>
              <a:defRPr sz="20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907401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</a:t>
            </a:r>
            <a:br>
              <a:rPr lang="en-US" dirty="0"/>
            </a:br>
            <a:r>
              <a:rPr lang="en-US" dirty="0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827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_Learn-with Head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14D4A-3D84-63D4-621C-F0146E953C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59BD062-242B-7C76-C2DD-D8D8F7B47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6596763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C218158-577B-6E13-36F7-D124388AA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1726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6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0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arningPath2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DE894E4-791C-907F-1385-BF33ADCFF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019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7064">
          <p15:clr>
            <a:srgbClr val="FBAE40"/>
          </p15:clr>
        </p15:guide>
        <p15:guide id="41" orient="horz" pos="36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9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94.xml"/><Relationship Id="rId47" Type="http://schemas.openxmlformats.org/officeDocument/2006/relationships/slideLayout" Target="../slideLayouts/slideLayout99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2.xml"/><Relationship Id="rId45" Type="http://schemas.openxmlformats.org/officeDocument/2006/relationships/slideLayout" Target="../slideLayouts/slideLayout97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49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4" Type="http://schemas.openxmlformats.org/officeDocument/2006/relationships/slideLayout" Target="../slideLayouts/slideLayout96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95.xml"/><Relationship Id="rId48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72.xml"/><Relationship Id="rId41" Type="http://schemas.openxmlformats.org/officeDocument/2006/relationships/slideLayout" Target="../slideLayouts/slideLayout93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27.xml"/><Relationship Id="rId21" Type="http://schemas.openxmlformats.org/officeDocument/2006/relationships/slideLayout" Target="../slideLayouts/slideLayout122.xml"/><Relationship Id="rId42" Type="http://schemas.openxmlformats.org/officeDocument/2006/relationships/slideLayout" Target="../slideLayouts/slideLayout143.xml"/><Relationship Id="rId47" Type="http://schemas.openxmlformats.org/officeDocument/2006/relationships/slideLayout" Target="../slideLayouts/slideLayout148.xml"/><Relationship Id="rId63" Type="http://schemas.openxmlformats.org/officeDocument/2006/relationships/slideLayout" Target="../slideLayouts/slideLayout164.xml"/><Relationship Id="rId68" Type="http://schemas.openxmlformats.org/officeDocument/2006/relationships/slideLayout" Target="../slideLayouts/slideLayout169.xml"/><Relationship Id="rId84" Type="http://schemas.openxmlformats.org/officeDocument/2006/relationships/slideLayout" Target="../slideLayouts/slideLayout185.xml"/><Relationship Id="rId1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2.xml"/><Relationship Id="rId32" Type="http://schemas.openxmlformats.org/officeDocument/2006/relationships/slideLayout" Target="../slideLayouts/slideLayout133.xml"/><Relationship Id="rId37" Type="http://schemas.openxmlformats.org/officeDocument/2006/relationships/slideLayout" Target="../slideLayouts/slideLayout138.xml"/><Relationship Id="rId53" Type="http://schemas.openxmlformats.org/officeDocument/2006/relationships/slideLayout" Target="../slideLayouts/slideLayout154.xml"/><Relationship Id="rId58" Type="http://schemas.openxmlformats.org/officeDocument/2006/relationships/slideLayout" Target="../slideLayouts/slideLayout159.xml"/><Relationship Id="rId74" Type="http://schemas.openxmlformats.org/officeDocument/2006/relationships/slideLayout" Target="../slideLayouts/slideLayout175.xml"/><Relationship Id="rId79" Type="http://schemas.openxmlformats.org/officeDocument/2006/relationships/slideLayout" Target="../slideLayouts/slideLayout180.xml"/><Relationship Id="rId5" Type="http://schemas.openxmlformats.org/officeDocument/2006/relationships/slideLayout" Target="../slideLayouts/slideLayout106.xml"/><Relationship Id="rId19" Type="http://schemas.openxmlformats.org/officeDocument/2006/relationships/slideLayout" Target="../slideLayouts/slideLayout120.xml"/><Relationship Id="rId14" Type="http://schemas.openxmlformats.org/officeDocument/2006/relationships/slideLayout" Target="../slideLayouts/slideLayout115.xml"/><Relationship Id="rId22" Type="http://schemas.openxmlformats.org/officeDocument/2006/relationships/slideLayout" Target="../slideLayouts/slideLayout123.xml"/><Relationship Id="rId27" Type="http://schemas.openxmlformats.org/officeDocument/2006/relationships/slideLayout" Target="../slideLayouts/slideLayout128.xml"/><Relationship Id="rId30" Type="http://schemas.openxmlformats.org/officeDocument/2006/relationships/slideLayout" Target="../slideLayouts/slideLayout131.xml"/><Relationship Id="rId35" Type="http://schemas.openxmlformats.org/officeDocument/2006/relationships/slideLayout" Target="../slideLayouts/slideLayout136.xml"/><Relationship Id="rId43" Type="http://schemas.openxmlformats.org/officeDocument/2006/relationships/slideLayout" Target="../slideLayouts/slideLayout144.xml"/><Relationship Id="rId48" Type="http://schemas.openxmlformats.org/officeDocument/2006/relationships/slideLayout" Target="../slideLayouts/slideLayout149.xml"/><Relationship Id="rId56" Type="http://schemas.openxmlformats.org/officeDocument/2006/relationships/slideLayout" Target="../slideLayouts/slideLayout157.xml"/><Relationship Id="rId64" Type="http://schemas.openxmlformats.org/officeDocument/2006/relationships/slideLayout" Target="../slideLayouts/slideLayout165.xml"/><Relationship Id="rId69" Type="http://schemas.openxmlformats.org/officeDocument/2006/relationships/slideLayout" Target="../slideLayouts/slideLayout170.xml"/><Relationship Id="rId77" Type="http://schemas.openxmlformats.org/officeDocument/2006/relationships/slideLayout" Target="../slideLayouts/slideLayout178.xml"/><Relationship Id="rId8" Type="http://schemas.openxmlformats.org/officeDocument/2006/relationships/slideLayout" Target="../slideLayouts/slideLayout109.xml"/><Relationship Id="rId51" Type="http://schemas.openxmlformats.org/officeDocument/2006/relationships/slideLayout" Target="../slideLayouts/slideLayout152.xml"/><Relationship Id="rId72" Type="http://schemas.openxmlformats.org/officeDocument/2006/relationships/slideLayout" Target="../slideLayouts/slideLayout173.xml"/><Relationship Id="rId80" Type="http://schemas.openxmlformats.org/officeDocument/2006/relationships/slideLayout" Target="../slideLayouts/slideLayout181.xml"/><Relationship Id="rId85" Type="http://schemas.openxmlformats.org/officeDocument/2006/relationships/theme" Target="../theme/theme3.xml"/><Relationship Id="rId3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13.xml"/><Relationship Id="rId17" Type="http://schemas.openxmlformats.org/officeDocument/2006/relationships/slideLayout" Target="../slideLayouts/slideLayout118.xml"/><Relationship Id="rId25" Type="http://schemas.openxmlformats.org/officeDocument/2006/relationships/slideLayout" Target="../slideLayouts/slideLayout126.xml"/><Relationship Id="rId33" Type="http://schemas.openxmlformats.org/officeDocument/2006/relationships/slideLayout" Target="../slideLayouts/slideLayout134.xml"/><Relationship Id="rId38" Type="http://schemas.openxmlformats.org/officeDocument/2006/relationships/slideLayout" Target="../slideLayouts/slideLayout139.xml"/><Relationship Id="rId46" Type="http://schemas.openxmlformats.org/officeDocument/2006/relationships/slideLayout" Target="../slideLayouts/slideLayout147.xml"/><Relationship Id="rId59" Type="http://schemas.openxmlformats.org/officeDocument/2006/relationships/slideLayout" Target="../slideLayouts/slideLayout160.xml"/><Relationship Id="rId67" Type="http://schemas.openxmlformats.org/officeDocument/2006/relationships/slideLayout" Target="../slideLayouts/slideLayout168.xml"/><Relationship Id="rId20" Type="http://schemas.openxmlformats.org/officeDocument/2006/relationships/slideLayout" Target="../slideLayouts/slideLayout121.xml"/><Relationship Id="rId41" Type="http://schemas.openxmlformats.org/officeDocument/2006/relationships/slideLayout" Target="../slideLayouts/slideLayout142.xml"/><Relationship Id="rId54" Type="http://schemas.openxmlformats.org/officeDocument/2006/relationships/slideLayout" Target="../slideLayouts/slideLayout155.xml"/><Relationship Id="rId62" Type="http://schemas.openxmlformats.org/officeDocument/2006/relationships/slideLayout" Target="../slideLayouts/slideLayout163.xml"/><Relationship Id="rId70" Type="http://schemas.openxmlformats.org/officeDocument/2006/relationships/slideLayout" Target="../slideLayouts/slideLayout171.xml"/><Relationship Id="rId75" Type="http://schemas.openxmlformats.org/officeDocument/2006/relationships/slideLayout" Target="../slideLayouts/slideLayout176.xml"/><Relationship Id="rId83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16.xml"/><Relationship Id="rId23" Type="http://schemas.openxmlformats.org/officeDocument/2006/relationships/slideLayout" Target="../slideLayouts/slideLayout124.xml"/><Relationship Id="rId28" Type="http://schemas.openxmlformats.org/officeDocument/2006/relationships/slideLayout" Target="../slideLayouts/slideLayout129.xml"/><Relationship Id="rId36" Type="http://schemas.openxmlformats.org/officeDocument/2006/relationships/slideLayout" Target="../slideLayouts/slideLayout137.xml"/><Relationship Id="rId49" Type="http://schemas.openxmlformats.org/officeDocument/2006/relationships/slideLayout" Target="../slideLayouts/slideLayout150.xml"/><Relationship Id="rId57" Type="http://schemas.openxmlformats.org/officeDocument/2006/relationships/slideLayout" Target="../slideLayouts/slideLayout158.xml"/><Relationship Id="rId10" Type="http://schemas.openxmlformats.org/officeDocument/2006/relationships/slideLayout" Target="../slideLayouts/slideLayout111.xml"/><Relationship Id="rId31" Type="http://schemas.openxmlformats.org/officeDocument/2006/relationships/slideLayout" Target="../slideLayouts/slideLayout132.xml"/><Relationship Id="rId44" Type="http://schemas.openxmlformats.org/officeDocument/2006/relationships/slideLayout" Target="../slideLayouts/slideLayout145.xml"/><Relationship Id="rId52" Type="http://schemas.openxmlformats.org/officeDocument/2006/relationships/slideLayout" Target="../slideLayouts/slideLayout153.xml"/><Relationship Id="rId60" Type="http://schemas.openxmlformats.org/officeDocument/2006/relationships/slideLayout" Target="../slideLayouts/slideLayout161.xml"/><Relationship Id="rId65" Type="http://schemas.openxmlformats.org/officeDocument/2006/relationships/slideLayout" Target="../slideLayouts/slideLayout166.xml"/><Relationship Id="rId73" Type="http://schemas.openxmlformats.org/officeDocument/2006/relationships/slideLayout" Target="../slideLayouts/slideLayout174.xml"/><Relationship Id="rId78" Type="http://schemas.openxmlformats.org/officeDocument/2006/relationships/slideLayout" Target="../slideLayouts/slideLayout179.xml"/><Relationship Id="rId81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3" Type="http://schemas.openxmlformats.org/officeDocument/2006/relationships/slideLayout" Target="../slideLayouts/slideLayout114.xml"/><Relationship Id="rId18" Type="http://schemas.openxmlformats.org/officeDocument/2006/relationships/slideLayout" Target="../slideLayouts/slideLayout119.xml"/><Relationship Id="rId39" Type="http://schemas.openxmlformats.org/officeDocument/2006/relationships/slideLayout" Target="../slideLayouts/slideLayout140.xml"/><Relationship Id="rId34" Type="http://schemas.openxmlformats.org/officeDocument/2006/relationships/slideLayout" Target="../slideLayouts/slideLayout135.xml"/><Relationship Id="rId50" Type="http://schemas.openxmlformats.org/officeDocument/2006/relationships/slideLayout" Target="../slideLayouts/slideLayout151.xml"/><Relationship Id="rId55" Type="http://schemas.openxmlformats.org/officeDocument/2006/relationships/slideLayout" Target="../slideLayouts/slideLayout156.xml"/><Relationship Id="rId76" Type="http://schemas.openxmlformats.org/officeDocument/2006/relationships/slideLayout" Target="../slideLayouts/slideLayout177.xml"/><Relationship Id="rId7" Type="http://schemas.openxmlformats.org/officeDocument/2006/relationships/slideLayout" Target="../slideLayouts/slideLayout108.xml"/><Relationship Id="rId71" Type="http://schemas.openxmlformats.org/officeDocument/2006/relationships/slideLayout" Target="../slideLayouts/slideLayout172.xml"/><Relationship Id="rId2" Type="http://schemas.openxmlformats.org/officeDocument/2006/relationships/slideLayout" Target="../slideLayouts/slideLayout103.xml"/><Relationship Id="rId29" Type="http://schemas.openxmlformats.org/officeDocument/2006/relationships/slideLayout" Target="../slideLayouts/slideLayout130.xml"/><Relationship Id="rId24" Type="http://schemas.openxmlformats.org/officeDocument/2006/relationships/slideLayout" Target="../slideLayouts/slideLayout125.xml"/><Relationship Id="rId40" Type="http://schemas.openxmlformats.org/officeDocument/2006/relationships/slideLayout" Target="../slideLayouts/slideLayout141.xml"/><Relationship Id="rId45" Type="http://schemas.openxmlformats.org/officeDocument/2006/relationships/slideLayout" Target="../slideLayouts/slideLayout146.xml"/><Relationship Id="rId66" Type="http://schemas.openxmlformats.org/officeDocument/2006/relationships/slideLayout" Target="../slideLayouts/slideLayout167.xml"/><Relationship Id="rId61" Type="http://schemas.openxmlformats.org/officeDocument/2006/relationships/slideLayout" Target="../slideLayouts/slideLayout162.xml"/><Relationship Id="rId82" Type="http://schemas.openxmlformats.org/officeDocument/2006/relationships/slideLayout" Target="../slideLayouts/slideLayout18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86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646CF9B-C3C6-BF79-10C9-634FDE6DD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0" r:id="rId1"/>
    <p:sldLayoutId id="2147484884" r:id="rId2"/>
    <p:sldLayoutId id="2147484845" r:id="rId3"/>
    <p:sldLayoutId id="2147484870" r:id="rId4"/>
    <p:sldLayoutId id="2147484872" r:id="rId5"/>
    <p:sldLayoutId id="2147484867" r:id="rId6"/>
    <p:sldLayoutId id="2147484839" r:id="rId7"/>
    <p:sldLayoutId id="2147484742" r:id="rId8"/>
    <p:sldLayoutId id="2147484910" r:id="rId9"/>
    <p:sldLayoutId id="2147484817" r:id="rId10"/>
    <p:sldLayoutId id="2147484741" r:id="rId11"/>
    <p:sldLayoutId id="2147484807" r:id="rId12"/>
    <p:sldLayoutId id="2147484753" r:id="rId13"/>
    <p:sldLayoutId id="2147484808" r:id="rId14"/>
    <p:sldLayoutId id="2147484912" r:id="rId15"/>
    <p:sldLayoutId id="2147484914" r:id="rId16"/>
    <p:sldLayoutId id="2147484917" r:id="rId17"/>
    <p:sldLayoutId id="2147484915" r:id="rId18"/>
    <p:sldLayoutId id="2147484873" r:id="rId19"/>
    <p:sldLayoutId id="2147484886" r:id="rId20"/>
    <p:sldLayoutId id="2147484885" r:id="rId21"/>
    <p:sldLayoutId id="2147484874" r:id="rId22"/>
    <p:sldLayoutId id="2147484898" r:id="rId23"/>
    <p:sldLayoutId id="2147484745" r:id="rId24"/>
    <p:sldLayoutId id="2147484743" r:id="rId25"/>
    <p:sldLayoutId id="2147484827" r:id="rId26"/>
    <p:sldLayoutId id="2147484828" r:id="rId27"/>
    <p:sldLayoutId id="2147484829" r:id="rId28"/>
    <p:sldLayoutId id="2147484749" r:id="rId29"/>
    <p:sldLayoutId id="2147484875" r:id="rId30"/>
    <p:sldLayoutId id="2147484840" r:id="rId31"/>
    <p:sldLayoutId id="2147484887" r:id="rId32"/>
    <p:sldLayoutId id="2147484909" r:id="rId33"/>
    <p:sldLayoutId id="2147484907" r:id="rId34"/>
    <p:sldLayoutId id="2147484911" r:id="rId35"/>
    <p:sldLayoutId id="2147484899" r:id="rId36"/>
    <p:sldLayoutId id="2147484903" r:id="rId37"/>
    <p:sldLayoutId id="2147484905" r:id="rId38"/>
    <p:sldLayoutId id="2147484900" r:id="rId39"/>
    <p:sldLayoutId id="2147484906" r:id="rId40"/>
    <p:sldLayoutId id="2147484821" r:id="rId41"/>
    <p:sldLayoutId id="2147484728" r:id="rId42"/>
    <p:sldLayoutId id="2147484859" r:id="rId43"/>
    <p:sldLayoutId id="2147484889" r:id="rId44"/>
    <p:sldLayoutId id="2147484894" r:id="rId45"/>
    <p:sldLayoutId id="2147484895" r:id="rId46"/>
    <p:sldLayoutId id="2147484916" r:id="rId47"/>
    <p:sldLayoutId id="2147484918" r:id="rId48"/>
    <p:sldLayoutId id="2147484919" r:id="rId49"/>
    <p:sldLayoutId id="2147484920" r:id="rId50"/>
    <p:sldLayoutId id="2147485059" r:id="rId51"/>
    <p:sldLayoutId id="2147485060" r:id="rId52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5A5A5"/>
          </p15:clr>
        </p15:guide>
        <p15:guide id="2" pos="7680" userDrawn="1">
          <p15:clr>
            <a:srgbClr val="A5A5A5"/>
          </p15:clr>
        </p15:guide>
        <p15:guide id="3" pos="186" userDrawn="1">
          <p15:clr>
            <a:srgbClr val="A5A5A5"/>
          </p15:clr>
        </p15:guide>
        <p15:guide id="26" pos="7496" userDrawn="1">
          <p15:clr>
            <a:srgbClr val="A5A5A5"/>
          </p15:clr>
        </p15:guide>
        <p15:guide id="27" orient="horz" userDrawn="1">
          <p15:clr>
            <a:srgbClr val="A5A5A5"/>
          </p15:clr>
        </p15:guide>
        <p15:guide id="28" orient="horz" pos="4320" userDrawn="1">
          <p15:clr>
            <a:srgbClr val="A5A5A5"/>
          </p15:clr>
        </p15:guide>
        <p15:guide id="29" orient="horz" pos="184" userDrawn="1">
          <p15:clr>
            <a:srgbClr val="A5A5A5"/>
          </p15:clr>
        </p15:guide>
        <p15:guide id="40" orient="horz" pos="4134" userDrawn="1">
          <p15:clr>
            <a:srgbClr val="A5A5A5"/>
          </p15:clr>
        </p15:guide>
        <p15:guide id="42" pos="365" userDrawn="1">
          <p15:clr>
            <a:srgbClr val="C35EA4"/>
          </p15:clr>
        </p15:guide>
        <p15:guide id="43" orient="horz" pos="367" userDrawn="1">
          <p15:clr>
            <a:srgbClr val="C35EA4"/>
          </p15:clr>
        </p15:guide>
        <p15:guide id="44" orient="horz" pos="3953" userDrawn="1">
          <p15:clr>
            <a:srgbClr val="C35EA4"/>
          </p15:clr>
        </p15:guide>
        <p15:guide id="45" pos="7307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646CF9B-C3C6-BF79-10C9-634FDE6DD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9419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3" r:id="rId1"/>
    <p:sldLayoutId id="2147484924" r:id="rId2"/>
    <p:sldLayoutId id="2147484925" r:id="rId3"/>
    <p:sldLayoutId id="2147484926" r:id="rId4"/>
    <p:sldLayoutId id="2147484927" r:id="rId5"/>
    <p:sldLayoutId id="2147484928" r:id="rId6"/>
    <p:sldLayoutId id="2147484930" r:id="rId7"/>
    <p:sldLayoutId id="2147484931" r:id="rId8"/>
    <p:sldLayoutId id="2147484932" r:id="rId9"/>
    <p:sldLayoutId id="2147484933" r:id="rId10"/>
    <p:sldLayoutId id="2147484934" r:id="rId11"/>
    <p:sldLayoutId id="2147484935" r:id="rId12"/>
    <p:sldLayoutId id="2147484936" r:id="rId13"/>
    <p:sldLayoutId id="2147484937" r:id="rId14"/>
    <p:sldLayoutId id="2147484938" r:id="rId15"/>
    <p:sldLayoutId id="2147484939" r:id="rId16"/>
    <p:sldLayoutId id="2147484940" r:id="rId17"/>
    <p:sldLayoutId id="2147484941" r:id="rId18"/>
    <p:sldLayoutId id="2147484942" r:id="rId19"/>
    <p:sldLayoutId id="2147484943" r:id="rId20"/>
    <p:sldLayoutId id="2147484944" r:id="rId21"/>
    <p:sldLayoutId id="2147484945" r:id="rId22"/>
    <p:sldLayoutId id="2147484946" r:id="rId23"/>
    <p:sldLayoutId id="2147484947" r:id="rId24"/>
    <p:sldLayoutId id="2147484948" r:id="rId25"/>
    <p:sldLayoutId id="2147484949" r:id="rId26"/>
    <p:sldLayoutId id="2147484950" r:id="rId27"/>
    <p:sldLayoutId id="2147484951" r:id="rId28"/>
    <p:sldLayoutId id="2147484952" r:id="rId29"/>
    <p:sldLayoutId id="2147484953" r:id="rId30"/>
    <p:sldLayoutId id="2147484954" r:id="rId31"/>
    <p:sldLayoutId id="2147484955" r:id="rId32"/>
    <p:sldLayoutId id="2147484956" r:id="rId33"/>
    <p:sldLayoutId id="2147484957" r:id="rId34"/>
    <p:sldLayoutId id="2147484958" r:id="rId35"/>
    <p:sldLayoutId id="2147484959" r:id="rId36"/>
    <p:sldLayoutId id="2147484960" r:id="rId37"/>
    <p:sldLayoutId id="2147484961" r:id="rId38"/>
    <p:sldLayoutId id="2147484962" r:id="rId39"/>
    <p:sldLayoutId id="2147484963" r:id="rId40"/>
    <p:sldLayoutId id="2147484964" r:id="rId41"/>
    <p:sldLayoutId id="2147484965" r:id="rId42"/>
    <p:sldLayoutId id="2147484966" r:id="rId43"/>
    <p:sldLayoutId id="2147484967" r:id="rId44"/>
    <p:sldLayoutId id="2147484968" r:id="rId45"/>
    <p:sldLayoutId id="2147484969" r:id="rId46"/>
    <p:sldLayoutId id="2147484970" r:id="rId47"/>
    <p:sldLayoutId id="2147484971" r:id="rId48"/>
    <p:sldLayoutId id="2147484972" r:id="rId49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A5A5A5"/>
          </p15:clr>
        </p15:guide>
        <p15:guide id="2" pos="7680">
          <p15:clr>
            <a:srgbClr val="A5A5A5"/>
          </p15:clr>
        </p15:guide>
        <p15:guide id="3" pos="186">
          <p15:clr>
            <a:srgbClr val="A5A5A5"/>
          </p15:clr>
        </p15:guide>
        <p15:guide id="26" pos="7496">
          <p15:clr>
            <a:srgbClr val="A5A5A5"/>
          </p15:clr>
        </p15:guide>
        <p15:guide id="27" orient="horz">
          <p15:clr>
            <a:srgbClr val="A5A5A5"/>
          </p15:clr>
        </p15:guide>
        <p15:guide id="28" orient="horz" pos="4320">
          <p15:clr>
            <a:srgbClr val="A5A5A5"/>
          </p15:clr>
        </p15:guide>
        <p15:guide id="29" orient="horz" pos="184">
          <p15:clr>
            <a:srgbClr val="A5A5A5"/>
          </p15:clr>
        </p15:guide>
        <p15:guide id="40" orient="horz" pos="4134">
          <p15:clr>
            <a:srgbClr val="A5A5A5"/>
          </p15:clr>
        </p15:guide>
        <p15:guide id="42" pos="365">
          <p15:clr>
            <a:srgbClr val="C35EA4"/>
          </p15:clr>
        </p15:guide>
        <p15:guide id="43" orient="horz" pos="367">
          <p15:clr>
            <a:srgbClr val="C35EA4"/>
          </p15:clr>
        </p15:guide>
        <p15:guide id="44" orient="horz" pos="3953">
          <p15:clr>
            <a:srgbClr val="C35EA4"/>
          </p15:clr>
        </p15:guide>
        <p15:guide id="45" pos="7307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 marR="0" lvl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Click to edit Master text styles</a:t>
            </a:r>
          </a:p>
          <a:p>
            <a:pPr marL="2286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228600" marR="0" lvl="2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228600" marR="0" lvl="3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228600" marR="0" lvl="4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566C3ED6-7167-1619-C333-B86D0D16231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rot="5400000">
            <a:off x="10659863" y="3998558"/>
            <a:ext cx="4597400" cy="1169987"/>
            <a:chOff x="1529" y="1423"/>
            <a:chExt cx="2896" cy="737"/>
          </a:xfrm>
        </p:grpSpPr>
        <p:sp>
          <p:nvSpPr>
            <p:cNvPr id="259" name="AutoShape 3">
              <a:extLst>
                <a:ext uri="{FF2B5EF4-FFF2-40B4-BE49-F238E27FC236}">
                  <a16:creationId xmlns:a16="http://schemas.microsoft.com/office/drawing/2014/main" id="{894C58B4-3C22-9620-7C92-D65ED6617E6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529" y="1423"/>
              <a:ext cx="2896" cy="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Rectangle 5">
              <a:extLst>
                <a:ext uri="{FF2B5EF4-FFF2-40B4-BE49-F238E27FC236}">
                  <a16:creationId xmlns:a16="http://schemas.microsoft.com/office/drawing/2014/main" id="{B4F93CCF-3F88-5DCB-F12D-4DEBF36B9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1727"/>
              <a:ext cx="707" cy="135"/>
            </a:xfrm>
            <a:prstGeom prst="rect">
              <a:avLst/>
            </a:prstGeom>
            <a:solidFill>
              <a:srgbClr val="F43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Rectangle 6">
              <a:extLst>
                <a:ext uri="{FF2B5EF4-FFF2-40B4-BE49-F238E27FC236}">
                  <a16:creationId xmlns:a16="http://schemas.microsoft.com/office/drawing/2014/main" id="{7AC4893A-D0A3-D947-BE61-70B6DC4B9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1722"/>
              <a:ext cx="6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2" name="Rectangle 7">
              <a:extLst>
                <a:ext uri="{FF2B5EF4-FFF2-40B4-BE49-F238E27FC236}">
                  <a16:creationId xmlns:a16="http://schemas.microsoft.com/office/drawing/2014/main" id="{DE65DAC6-345A-2542-166A-D2D08E76F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1800"/>
              <a:ext cx="134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effectLst/>
                  <a:latin typeface="Segoe UI" panose="020B0502040204020203" pitchFamily="34" charset="0"/>
                </a:rPr>
                <a:t>F4364C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3" name="Rectangle 8">
              <a:extLst>
                <a:ext uri="{FF2B5EF4-FFF2-40B4-BE49-F238E27FC236}">
                  <a16:creationId xmlns:a16="http://schemas.microsoft.com/office/drawing/2014/main" id="{1EADC519-4AB4-60A0-260A-EF7DC8229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1871"/>
              <a:ext cx="707" cy="137"/>
            </a:xfrm>
            <a:prstGeom prst="rect">
              <a:avLst/>
            </a:prstGeom>
            <a:solidFill>
              <a:srgbClr val="7326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Rectangle 9">
              <a:extLst>
                <a:ext uri="{FF2B5EF4-FFF2-40B4-BE49-F238E27FC236}">
                  <a16:creationId xmlns:a16="http://schemas.microsoft.com/office/drawing/2014/main" id="{B2CFF324-4BA8-188D-7395-AC042B4D6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1865"/>
              <a:ext cx="6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FFB3BB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FFB3BB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5" name="Rectangle 10">
              <a:extLst>
                <a:ext uri="{FF2B5EF4-FFF2-40B4-BE49-F238E27FC236}">
                  <a16:creationId xmlns:a16="http://schemas.microsoft.com/office/drawing/2014/main" id="{03BDB961-C287-23C5-66DF-74F0AFDFB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9" y="1865"/>
              <a:ext cx="1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6" name="Rectangle 11">
              <a:extLst>
                <a:ext uri="{FF2B5EF4-FFF2-40B4-BE49-F238E27FC236}">
                  <a16:creationId xmlns:a16="http://schemas.microsoft.com/office/drawing/2014/main" id="{35ADEDE9-FB7B-876E-7225-4D3AB7342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1943"/>
              <a:ext cx="131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Segoe UI" panose="020B0502040204020203" pitchFamily="34" charset="0"/>
                </a:rPr>
                <a:t>73262F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7" name="Rectangle 12">
              <a:extLst>
                <a:ext uri="{FF2B5EF4-FFF2-40B4-BE49-F238E27FC236}">
                  <a16:creationId xmlns:a16="http://schemas.microsoft.com/office/drawing/2014/main" id="{03DA7BF6-FE99-195F-2925-BD0968D0C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1582"/>
              <a:ext cx="707" cy="136"/>
            </a:xfrm>
            <a:prstGeom prst="rect">
              <a:avLst/>
            </a:prstGeom>
            <a:solidFill>
              <a:srgbClr val="FFB3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Rectangle 13">
              <a:extLst>
                <a:ext uri="{FF2B5EF4-FFF2-40B4-BE49-F238E27FC236}">
                  <a16:creationId xmlns:a16="http://schemas.microsoft.com/office/drawing/2014/main" id="{AE1CAD70-4A31-E224-8481-B797DB87F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1577"/>
              <a:ext cx="6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73262F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73262F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9" name="Rectangle 14">
              <a:extLst>
                <a:ext uri="{FF2B5EF4-FFF2-40B4-BE49-F238E27FC236}">
                  <a16:creationId xmlns:a16="http://schemas.microsoft.com/office/drawing/2014/main" id="{50413BA8-271F-17E9-274D-A6681E4E3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9" y="1577"/>
              <a:ext cx="1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0" name="Rectangle 15">
              <a:extLst>
                <a:ext uri="{FF2B5EF4-FFF2-40B4-BE49-F238E27FC236}">
                  <a16:creationId xmlns:a16="http://schemas.microsoft.com/office/drawing/2014/main" id="{5E8A55D7-5C9F-19E4-44F8-0D5ED73A0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1654"/>
              <a:ext cx="13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FFB3BB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1" name="Rectangle 16">
              <a:extLst>
                <a:ext uri="{FF2B5EF4-FFF2-40B4-BE49-F238E27FC236}">
                  <a16:creationId xmlns:a16="http://schemas.microsoft.com/office/drawing/2014/main" id="{AB98BB47-C797-09CC-A9F3-51FE51653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2022"/>
              <a:ext cx="706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Rectangle 17">
              <a:extLst>
                <a:ext uri="{FF2B5EF4-FFF2-40B4-BE49-F238E27FC236}">
                  <a16:creationId xmlns:a16="http://schemas.microsoft.com/office/drawing/2014/main" id="{C52F19C0-13E8-0692-788F-02A274A98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2022"/>
              <a:ext cx="706" cy="136"/>
            </a:xfrm>
            <a:prstGeom prst="rect">
              <a:avLst/>
            </a:prstGeom>
            <a:noFill/>
            <a:ln w="1588" cap="flat">
              <a:solidFill>
                <a:srgbClr val="BFBFB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Rectangle 18">
              <a:extLst>
                <a:ext uri="{FF2B5EF4-FFF2-40B4-BE49-F238E27FC236}">
                  <a16:creationId xmlns:a16="http://schemas.microsoft.com/office/drawing/2014/main" id="{0EF8B30C-1FB6-7C73-44FC-2C39DF754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2024"/>
              <a:ext cx="121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FFFFFF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4" name="Rectangle 50">
              <a:extLst>
                <a:ext uri="{FF2B5EF4-FFF2-40B4-BE49-F238E27FC236}">
                  <a16:creationId xmlns:a16="http://schemas.microsoft.com/office/drawing/2014/main" id="{D25297AC-6025-DA45-015A-AD5967168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1727"/>
              <a:ext cx="706" cy="135"/>
            </a:xfrm>
            <a:prstGeom prst="rect">
              <a:avLst/>
            </a:prstGeom>
            <a:solidFill>
              <a:srgbClr val="FF5C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Rectangle 51">
              <a:extLst>
                <a:ext uri="{FF2B5EF4-FFF2-40B4-BE49-F238E27FC236}">
                  <a16:creationId xmlns:a16="http://schemas.microsoft.com/office/drawing/2014/main" id="{D895CA29-DE29-0BF3-3158-751FF8EC3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1722"/>
              <a:ext cx="6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6" name="Rectangle 52">
              <a:extLst>
                <a:ext uri="{FF2B5EF4-FFF2-40B4-BE49-F238E27FC236}">
                  <a16:creationId xmlns:a16="http://schemas.microsoft.com/office/drawing/2014/main" id="{7EFCFC16-4A98-86AC-7619-A114CF099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" y="1722"/>
              <a:ext cx="1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7" name="Rectangle 53">
              <a:extLst>
                <a:ext uri="{FF2B5EF4-FFF2-40B4-BE49-F238E27FC236}">
                  <a16:creationId xmlns:a16="http://schemas.microsoft.com/office/drawing/2014/main" id="{B9712463-FD5D-ABC4-36B0-C830E7633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1800"/>
              <a:ext cx="13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effectLst/>
                  <a:latin typeface="Segoe UI" panose="020B0502040204020203" pitchFamily="34" charset="0"/>
                </a:rPr>
                <a:t>FF5C39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8" name="Rectangle 54">
              <a:extLst>
                <a:ext uri="{FF2B5EF4-FFF2-40B4-BE49-F238E27FC236}">
                  <a16:creationId xmlns:a16="http://schemas.microsoft.com/office/drawing/2014/main" id="{8ACAB4E1-6417-0C0C-9E12-B1E8EEA46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1871"/>
              <a:ext cx="706" cy="137"/>
            </a:xfrm>
            <a:prstGeom prst="rect">
              <a:avLst/>
            </a:prstGeom>
            <a:solidFill>
              <a:srgbClr val="7339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Rectangle 55">
              <a:extLst>
                <a:ext uri="{FF2B5EF4-FFF2-40B4-BE49-F238E27FC236}">
                  <a16:creationId xmlns:a16="http://schemas.microsoft.com/office/drawing/2014/main" id="{7E6BE592-BF8C-8CF1-0798-04DA17C03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1865"/>
              <a:ext cx="6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FFA38B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FFA38B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0" name="Rectangle 56">
              <a:extLst>
                <a:ext uri="{FF2B5EF4-FFF2-40B4-BE49-F238E27FC236}">
                  <a16:creationId xmlns:a16="http://schemas.microsoft.com/office/drawing/2014/main" id="{F02A06DF-8715-F16B-5F10-11C5F2584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" y="1865"/>
              <a:ext cx="1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1" name="Rectangle 57">
              <a:extLst>
                <a:ext uri="{FF2B5EF4-FFF2-40B4-BE49-F238E27FC236}">
                  <a16:creationId xmlns:a16="http://schemas.microsoft.com/office/drawing/2014/main" id="{45F29D9D-6572-80B7-280A-53297335F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1943"/>
              <a:ext cx="139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Segoe UI" panose="020B0502040204020203" pitchFamily="34" charset="0"/>
                </a:rPr>
                <a:t>73391D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2" name="Rectangle 58">
              <a:extLst>
                <a:ext uri="{FF2B5EF4-FFF2-40B4-BE49-F238E27FC236}">
                  <a16:creationId xmlns:a16="http://schemas.microsoft.com/office/drawing/2014/main" id="{013A62C5-A54C-C8BE-D34C-557861D50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1582"/>
              <a:ext cx="706" cy="136"/>
            </a:xfrm>
            <a:prstGeom prst="rect">
              <a:avLst/>
            </a:prstGeom>
            <a:solidFill>
              <a:srgbClr val="FFA3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Rectangle 59">
              <a:extLst>
                <a:ext uri="{FF2B5EF4-FFF2-40B4-BE49-F238E27FC236}">
                  <a16:creationId xmlns:a16="http://schemas.microsoft.com/office/drawing/2014/main" id="{A3D38249-2B2F-44FE-8004-78F738A54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1577"/>
              <a:ext cx="6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73391D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73391D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4" name="Rectangle 60">
              <a:extLst>
                <a:ext uri="{FF2B5EF4-FFF2-40B4-BE49-F238E27FC236}">
                  <a16:creationId xmlns:a16="http://schemas.microsoft.com/office/drawing/2014/main" id="{6356C9D6-F46C-5F18-CC06-57CEDB989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" y="1577"/>
              <a:ext cx="1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5" name="Rectangle 61">
              <a:extLst>
                <a:ext uri="{FF2B5EF4-FFF2-40B4-BE49-F238E27FC236}">
                  <a16:creationId xmlns:a16="http://schemas.microsoft.com/office/drawing/2014/main" id="{809C64CC-0B9B-063B-F7A5-63EE36FBD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1654"/>
              <a:ext cx="134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FFA38B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6" name="Rectangle 62">
              <a:extLst>
                <a:ext uri="{FF2B5EF4-FFF2-40B4-BE49-F238E27FC236}">
                  <a16:creationId xmlns:a16="http://schemas.microsoft.com/office/drawing/2014/main" id="{94AB9329-702D-4A1F-E5A5-C3B78F016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2022"/>
              <a:ext cx="707" cy="136"/>
            </a:xfrm>
            <a:prstGeom prst="rect">
              <a:avLst/>
            </a:prstGeom>
            <a:solidFill>
              <a:srgbClr val="F4F3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" name="Rectangle 63">
              <a:extLst>
                <a:ext uri="{FF2B5EF4-FFF2-40B4-BE49-F238E27FC236}">
                  <a16:creationId xmlns:a16="http://schemas.microsoft.com/office/drawing/2014/main" id="{24EB0818-3B44-BF17-FF2B-E025C7384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2022"/>
              <a:ext cx="707" cy="136"/>
            </a:xfrm>
            <a:prstGeom prst="rect">
              <a:avLst/>
            </a:prstGeom>
            <a:noFill/>
            <a:ln w="1588" cap="flat">
              <a:solidFill>
                <a:srgbClr val="BFBFB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" name="Rectangle 64">
              <a:extLst>
                <a:ext uri="{FF2B5EF4-FFF2-40B4-BE49-F238E27FC236}">
                  <a16:creationId xmlns:a16="http://schemas.microsoft.com/office/drawing/2014/main" id="{8D3440B3-96D8-0B26-9877-7E62CD773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2024"/>
              <a:ext cx="127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F4F3F5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9" name="Rectangle 65">
              <a:extLst>
                <a:ext uri="{FF2B5EF4-FFF2-40B4-BE49-F238E27FC236}">
                  <a16:creationId xmlns:a16="http://schemas.microsoft.com/office/drawing/2014/main" id="{64795BFF-26DD-4F9D-7E57-E8A3C163A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" y="1729"/>
              <a:ext cx="707" cy="135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Rectangle 66">
              <a:extLst>
                <a:ext uri="{FF2B5EF4-FFF2-40B4-BE49-F238E27FC236}">
                  <a16:creationId xmlns:a16="http://schemas.microsoft.com/office/drawing/2014/main" id="{973E90C8-2FFF-2256-D29B-6A3ABBA35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" y="1723"/>
              <a:ext cx="1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1" name="Rectangle 67">
              <a:extLst>
                <a:ext uri="{FF2B5EF4-FFF2-40B4-BE49-F238E27FC236}">
                  <a16:creationId xmlns:a16="http://schemas.microsoft.com/office/drawing/2014/main" id="{F146B7CE-CBC5-956E-DA0D-244A26F54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1723"/>
              <a:ext cx="1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2" name="Rectangle 68">
              <a:extLst>
                <a:ext uri="{FF2B5EF4-FFF2-40B4-BE49-F238E27FC236}">
                  <a16:creationId xmlns:a16="http://schemas.microsoft.com/office/drawing/2014/main" id="{841A3A9C-7ABE-216A-7AAA-FC8E01865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" y="1801"/>
              <a:ext cx="139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Segoe UI" panose="020B0502040204020203" pitchFamily="34" charset="0"/>
                </a:rPr>
                <a:t>0078D4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3" name="Rectangle 69">
              <a:extLst>
                <a:ext uri="{FF2B5EF4-FFF2-40B4-BE49-F238E27FC236}">
                  <a16:creationId xmlns:a16="http://schemas.microsoft.com/office/drawing/2014/main" id="{B67B7695-C3C0-34B4-72B1-C7E58FF32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" y="1873"/>
              <a:ext cx="707" cy="136"/>
            </a:xfrm>
            <a:prstGeom prst="rect">
              <a:avLst/>
            </a:prstGeom>
            <a:solidFill>
              <a:srgbClr val="2A44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" name="Rectangle 70">
              <a:extLst>
                <a:ext uri="{FF2B5EF4-FFF2-40B4-BE49-F238E27FC236}">
                  <a16:creationId xmlns:a16="http://schemas.microsoft.com/office/drawing/2014/main" id="{F3BB6A3B-AD16-5C6E-2848-CC82A261C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" y="1866"/>
              <a:ext cx="6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8DC8E8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8DC8E8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5" name="Rectangle 71">
              <a:extLst>
                <a:ext uri="{FF2B5EF4-FFF2-40B4-BE49-F238E27FC236}">
                  <a16:creationId xmlns:a16="http://schemas.microsoft.com/office/drawing/2014/main" id="{AF58A79C-F974-45C7-A85C-F40D9A65E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1866"/>
              <a:ext cx="1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6" name="Rectangle 72">
              <a:extLst>
                <a:ext uri="{FF2B5EF4-FFF2-40B4-BE49-F238E27FC236}">
                  <a16:creationId xmlns:a16="http://schemas.microsoft.com/office/drawing/2014/main" id="{9CAD9107-51BE-8F4A-FEBB-F3BD3DC96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" y="1944"/>
              <a:ext cx="135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Segoe UI" panose="020B0502040204020203" pitchFamily="34" charset="0"/>
                </a:rPr>
                <a:t>2A446F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7" name="Rectangle 73">
              <a:extLst>
                <a:ext uri="{FF2B5EF4-FFF2-40B4-BE49-F238E27FC236}">
                  <a16:creationId xmlns:a16="http://schemas.microsoft.com/office/drawing/2014/main" id="{F0CA8CB9-EFF0-9A10-BBC0-A9A36D6E6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" y="1583"/>
              <a:ext cx="707" cy="137"/>
            </a:xfrm>
            <a:prstGeom prst="rect">
              <a:avLst/>
            </a:prstGeom>
            <a:solidFill>
              <a:srgbClr val="8DC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Rectangle 74">
              <a:extLst>
                <a:ext uri="{FF2B5EF4-FFF2-40B4-BE49-F238E27FC236}">
                  <a16:creationId xmlns:a16="http://schemas.microsoft.com/office/drawing/2014/main" id="{CF1A989F-9EAE-5BC1-AD31-5728CD61E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" y="1578"/>
              <a:ext cx="6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2A446F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2A446F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9" name="Rectangle 75">
              <a:extLst>
                <a:ext uri="{FF2B5EF4-FFF2-40B4-BE49-F238E27FC236}">
                  <a16:creationId xmlns:a16="http://schemas.microsoft.com/office/drawing/2014/main" id="{957953AB-E9C6-D080-ADB2-1F206404C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1578"/>
              <a:ext cx="1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0" name="Rectangle 76">
              <a:extLst>
                <a:ext uri="{FF2B5EF4-FFF2-40B4-BE49-F238E27FC236}">
                  <a16:creationId xmlns:a16="http://schemas.microsoft.com/office/drawing/2014/main" id="{D3F9BD24-BF97-98DF-7799-FF5527E1F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" y="1655"/>
              <a:ext cx="140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8DC8E8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1" name="Rectangle 80">
              <a:extLst>
                <a:ext uri="{FF2B5EF4-FFF2-40B4-BE49-F238E27FC236}">
                  <a16:creationId xmlns:a16="http://schemas.microsoft.com/office/drawing/2014/main" id="{D9F904A4-74AE-C098-E989-4C11A3671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1" y="1438"/>
              <a:ext cx="1423" cy="135"/>
            </a:xfrm>
            <a:prstGeom prst="rect">
              <a:avLst/>
            </a:prstGeom>
            <a:solidFill>
              <a:srgbClr val="091F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" name="Rectangle 81">
              <a:extLst>
                <a:ext uri="{FF2B5EF4-FFF2-40B4-BE49-F238E27FC236}">
                  <a16:creationId xmlns:a16="http://schemas.microsoft.com/office/drawing/2014/main" id="{86561027-5502-5CBF-CC1E-E9283F7A3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7" y="1437"/>
              <a:ext cx="1427" cy="137"/>
            </a:xfrm>
            <a:prstGeom prst="rect">
              <a:avLst/>
            </a:prstGeom>
            <a:solidFill>
              <a:srgbClr val="091F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" name="Freeform 82">
              <a:extLst>
                <a:ext uri="{FF2B5EF4-FFF2-40B4-BE49-F238E27FC236}">
                  <a16:creationId xmlns:a16="http://schemas.microsoft.com/office/drawing/2014/main" id="{815862B1-E237-764F-DF2A-70DEC4B6F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8" y="1437"/>
              <a:ext cx="1427" cy="136"/>
            </a:xfrm>
            <a:custGeom>
              <a:avLst/>
              <a:gdLst>
                <a:gd name="T0" fmla="*/ 0 w 15200"/>
                <a:gd name="T1" fmla="*/ 4 h 960"/>
                <a:gd name="T2" fmla="*/ 4 w 15200"/>
                <a:gd name="T3" fmla="*/ 0 h 960"/>
                <a:gd name="T4" fmla="*/ 15196 w 15200"/>
                <a:gd name="T5" fmla="*/ 0 h 960"/>
                <a:gd name="T6" fmla="*/ 15200 w 15200"/>
                <a:gd name="T7" fmla="*/ 4 h 960"/>
                <a:gd name="T8" fmla="*/ 15200 w 15200"/>
                <a:gd name="T9" fmla="*/ 956 h 960"/>
                <a:gd name="T10" fmla="*/ 15196 w 15200"/>
                <a:gd name="T11" fmla="*/ 960 h 960"/>
                <a:gd name="T12" fmla="*/ 4 w 15200"/>
                <a:gd name="T13" fmla="*/ 960 h 960"/>
                <a:gd name="T14" fmla="*/ 0 w 15200"/>
                <a:gd name="T15" fmla="*/ 956 h 960"/>
                <a:gd name="T16" fmla="*/ 0 w 15200"/>
                <a:gd name="T17" fmla="*/ 4 h 960"/>
                <a:gd name="T18" fmla="*/ 8 w 15200"/>
                <a:gd name="T19" fmla="*/ 956 h 960"/>
                <a:gd name="T20" fmla="*/ 4 w 15200"/>
                <a:gd name="T21" fmla="*/ 952 h 960"/>
                <a:gd name="T22" fmla="*/ 15196 w 15200"/>
                <a:gd name="T23" fmla="*/ 952 h 960"/>
                <a:gd name="T24" fmla="*/ 15192 w 15200"/>
                <a:gd name="T25" fmla="*/ 956 h 960"/>
                <a:gd name="T26" fmla="*/ 15192 w 15200"/>
                <a:gd name="T27" fmla="*/ 4 h 960"/>
                <a:gd name="T28" fmla="*/ 15196 w 15200"/>
                <a:gd name="T29" fmla="*/ 8 h 960"/>
                <a:gd name="T30" fmla="*/ 4 w 15200"/>
                <a:gd name="T31" fmla="*/ 8 h 960"/>
                <a:gd name="T32" fmla="*/ 8 w 15200"/>
                <a:gd name="T33" fmla="*/ 4 h 960"/>
                <a:gd name="T34" fmla="*/ 8 w 15200"/>
                <a:gd name="T35" fmla="*/ 956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200" h="960">
                  <a:moveTo>
                    <a:pt x="0" y="4"/>
                  </a:moveTo>
                  <a:cubicBezTo>
                    <a:pt x="0" y="2"/>
                    <a:pt x="2" y="0"/>
                    <a:pt x="4" y="0"/>
                  </a:cubicBezTo>
                  <a:lnTo>
                    <a:pt x="15196" y="0"/>
                  </a:lnTo>
                  <a:cubicBezTo>
                    <a:pt x="15199" y="0"/>
                    <a:pt x="15200" y="2"/>
                    <a:pt x="15200" y="4"/>
                  </a:cubicBezTo>
                  <a:lnTo>
                    <a:pt x="15200" y="956"/>
                  </a:lnTo>
                  <a:cubicBezTo>
                    <a:pt x="15200" y="959"/>
                    <a:pt x="15199" y="960"/>
                    <a:pt x="15196" y="960"/>
                  </a:cubicBezTo>
                  <a:lnTo>
                    <a:pt x="4" y="960"/>
                  </a:lnTo>
                  <a:cubicBezTo>
                    <a:pt x="2" y="960"/>
                    <a:pt x="0" y="959"/>
                    <a:pt x="0" y="956"/>
                  </a:cubicBezTo>
                  <a:lnTo>
                    <a:pt x="0" y="4"/>
                  </a:lnTo>
                  <a:close/>
                  <a:moveTo>
                    <a:pt x="8" y="956"/>
                  </a:moveTo>
                  <a:lnTo>
                    <a:pt x="4" y="952"/>
                  </a:lnTo>
                  <a:lnTo>
                    <a:pt x="15196" y="952"/>
                  </a:lnTo>
                  <a:lnTo>
                    <a:pt x="15192" y="956"/>
                  </a:lnTo>
                  <a:lnTo>
                    <a:pt x="15192" y="4"/>
                  </a:lnTo>
                  <a:lnTo>
                    <a:pt x="15196" y="8"/>
                  </a:lnTo>
                  <a:lnTo>
                    <a:pt x="4" y="8"/>
                  </a:lnTo>
                  <a:lnTo>
                    <a:pt x="8" y="4"/>
                  </a:lnTo>
                  <a:lnTo>
                    <a:pt x="8" y="956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" name="Rectangle 83">
              <a:extLst>
                <a:ext uri="{FF2B5EF4-FFF2-40B4-BE49-F238E27FC236}">
                  <a16:creationId xmlns:a16="http://schemas.microsoft.com/office/drawing/2014/main" id="{F8634574-E07B-D28B-BCBE-E63D6F2B0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1437"/>
              <a:ext cx="1426" cy="137"/>
            </a:xfrm>
            <a:prstGeom prst="rect">
              <a:avLst/>
            </a:prstGeom>
            <a:solidFill>
              <a:srgbClr val="091F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" name="Rectangle 84">
              <a:extLst>
                <a:ext uri="{FF2B5EF4-FFF2-40B4-BE49-F238E27FC236}">
                  <a16:creationId xmlns:a16="http://schemas.microsoft.com/office/drawing/2014/main" id="{12699538-90CB-E2BB-A02E-9CAD11043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9" y="1440"/>
              <a:ext cx="314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Segoe UI" panose="020B0502040204020203" pitchFamily="34" charset="0"/>
                </a:rPr>
                <a:t>Blue Black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6" name="Rectangle 85">
              <a:extLst>
                <a:ext uri="{FF2B5EF4-FFF2-40B4-BE49-F238E27FC236}">
                  <a16:creationId xmlns:a16="http://schemas.microsoft.com/office/drawing/2014/main" id="{6FAB69FC-8CE4-AC4F-FDDF-81B46D7C1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9" y="1508"/>
              <a:ext cx="134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Segoe UI" panose="020B0502040204020203" pitchFamily="34" charset="0"/>
                </a:rPr>
                <a:t>091F2C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7" name="Rectangle 86">
              <a:extLst>
                <a:ext uri="{FF2B5EF4-FFF2-40B4-BE49-F238E27FC236}">
                  <a16:creationId xmlns:a16="http://schemas.microsoft.com/office/drawing/2014/main" id="{0B6C3A35-3676-F821-8B84-E8FCD2D7A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7" y="1730"/>
              <a:ext cx="706" cy="136"/>
            </a:xfrm>
            <a:prstGeom prst="rect">
              <a:avLst/>
            </a:prstGeom>
            <a:solidFill>
              <a:srgbClr val="C73E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Rectangle 87">
              <a:extLst>
                <a:ext uri="{FF2B5EF4-FFF2-40B4-BE49-F238E27FC236}">
                  <a16:creationId xmlns:a16="http://schemas.microsoft.com/office/drawing/2014/main" id="{E31C635C-F918-E83E-41BB-6A05312AF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5" y="1723"/>
              <a:ext cx="1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9" name="Rectangle 88">
              <a:extLst>
                <a:ext uri="{FF2B5EF4-FFF2-40B4-BE49-F238E27FC236}">
                  <a16:creationId xmlns:a16="http://schemas.microsoft.com/office/drawing/2014/main" id="{C72C7396-887D-00AF-02FC-A8E598F00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5" y="1803"/>
              <a:ext cx="140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effectLst/>
                  <a:latin typeface="Segoe UI" panose="020B0502040204020203" pitchFamily="34" charset="0"/>
                </a:rPr>
                <a:t>C73ECC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0" name="Rectangle 89">
              <a:extLst>
                <a:ext uri="{FF2B5EF4-FFF2-40B4-BE49-F238E27FC236}">
                  <a16:creationId xmlns:a16="http://schemas.microsoft.com/office/drawing/2014/main" id="{D30DD6FD-51EB-19EC-8510-E1C9AF537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7" y="1875"/>
              <a:ext cx="706" cy="135"/>
            </a:xfrm>
            <a:prstGeom prst="rect">
              <a:avLst/>
            </a:prstGeom>
            <a:solidFill>
              <a:srgbClr val="7025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" name="Rectangle 90">
              <a:extLst>
                <a:ext uri="{FF2B5EF4-FFF2-40B4-BE49-F238E27FC236}">
                  <a16:creationId xmlns:a16="http://schemas.microsoft.com/office/drawing/2014/main" id="{FA8D36D1-67FD-B784-519E-C36BEA31B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5" y="1869"/>
              <a:ext cx="6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CD9BCF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CD9BCF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2" name="Rectangle 91">
              <a:extLst>
                <a:ext uri="{FF2B5EF4-FFF2-40B4-BE49-F238E27FC236}">
                  <a16:creationId xmlns:a16="http://schemas.microsoft.com/office/drawing/2014/main" id="{A2790CC1-ECD3-C2AA-C63A-83B06BB56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1" y="1869"/>
              <a:ext cx="1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3" name="Rectangle 92">
              <a:extLst>
                <a:ext uri="{FF2B5EF4-FFF2-40B4-BE49-F238E27FC236}">
                  <a16:creationId xmlns:a16="http://schemas.microsoft.com/office/drawing/2014/main" id="{C2F74C0D-75FA-B70A-ED71-3CFA80796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5" y="1946"/>
              <a:ext cx="133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Segoe UI" panose="020B0502040204020203" pitchFamily="34" charset="0"/>
                </a:rPr>
                <a:t>702573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4" name="Rectangle 93">
              <a:extLst>
                <a:ext uri="{FF2B5EF4-FFF2-40B4-BE49-F238E27FC236}">
                  <a16:creationId xmlns:a16="http://schemas.microsoft.com/office/drawing/2014/main" id="{4B629030-A380-3E24-758E-F1D167C23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7" y="1586"/>
              <a:ext cx="706" cy="135"/>
            </a:xfrm>
            <a:prstGeom prst="rect">
              <a:avLst/>
            </a:prstGeom>
            <a:solidFill>
              <a:srgbClr val="CD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" name="Rectangle 94">
              <a:extLst>
                <a:ext uri="{FF2B5EF4-FFF2-40B4-BE49-F238E27FC236}">
                  <a16:creationId xmlns:a16="http://schemas.microsoft.com/office/drawing/2014/main" id="{6D81EE59-1E06-6AAB-A8EE-80D567AE7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5" y="1580"/>
              <a:ext cx="6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702573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702573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6" name="Rectangle 95">
              <a:extLst>
                <a:ext uri="{FF2B5EF4-FFF2-40B4-BE49-F238E27FC236}">
                  <a16:creationId xmlns:a16="http://schemas.microsoft.com/office/drawing/2014/main" id="{6AD9F2DD-3CC6-E096-A24F-323DA0D32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1" y="1580"/>
              <a:ext cx="1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7" name="Rectangle 96">
              <a:extLst>
                <a:ext uri="{FF2B5EF4-FFF2-40B4-BE49-F238E27FC236}">
                  <a16:creationId xmlns:a16="http://schemas.microsoft.com/office/drawing/2014/main" id="{AFB34C5D-AB21-1047-2C41-96AAFC6CF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5" y="1658"/>
              <a:ext cx="144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CD9BCF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8" name="Rectangle 97">
              <a:extLst>
                <a:ext uri="{FF2B5EF4-FFF2-40B4-BE49-F238E27FC236}">
                  <a16:creationId xmlns:a16="http://schemas.microsoft.com/office/drawing/2014/main" id="{577AD0A0-7F00-AA4F-1B1B-61CFE55F9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023"/>
              <a:ext cx="1428" cy="13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" name="Rectangle 98">
              <a:extLst>
                <a:ext uri="{FF2B5EF4-FFF2-40B4-BE49-F238E27FC236}">
                  <a16:creationId xmlns:a16="http://schemas.microsoft.com/office/drawing/2014/main" id="{AEE8AF68-7485-0DA2-1E8F-EA9EFEEF1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7" y="2024"/>
              <a:ext cx="1427" cy="136"/>
            </a:xfrm>
            <a:prstGeom prst="rect">
              <a:avLst/>
            </a:prstGeom>
            <a:noFill/>
            <a:ln w="1588" cap="flat">
              <a:solidFill>
                <a:srgbClr val="BFBFB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" name="Rectangle 99">
              <a:extLst>
                <a:ext uri="{FF2B5EF4-FFF2-40B4-BE49-F238E27FC236}">
                  <a16:creationId xmlns:a16="http://schemas.microsoft.com/office/drawing/2014/main" id="{00A4FA1A-2972-8EFD-C7DB-916888D02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5" y="2028"/>
              <a:ext cx="133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Segoe UI" panose="020B0502040204020203" pitchFamily="34" charset="0"/>
                </a:rPr>
                <a:t>000000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1" name="Rectangle 100">
              <a:extLst>
                <a:ext uri="{FF2B5EF4-FFF2-40B4-BE49-F238E27FC236}">
                  <a16:creationId xmlns:a16="http://schemas.microsoft.com/office/drawing/2014/main" id="{E02AE344-8FCD-07A4-1035-21E574579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" y="1439"/>
              <a:ext cx="1430" cy="136"/>
            </a:xfrm>
            <a:prstGeom prst="rect">
              <a:avLst/>
            </a:prstGeom>
            <a:solidFill>
              <a:srgbClr val="E8E6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" name="Rectangle 101">
              <a:extLst>
                <a:ext uri="{FF2B5EF4-FFF2-40B4-BE49-F238E27FC236}">
                  <a16:creationId xmlns:a16="http://schemas.microsoft.com/office/drawing/2014/main" id="{A8F0A57D-3D77-F52A-CEE5-C300AC719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" y="1439"/>
              <a:ext cx="1429" cy="136"/>
            </a:xfrm>
            <a:prstGeom prst="rect">
              <a:avLst/>
            </a:prstGeom>
            <a:noFill/>
            <a:ln w="1588" cap="flat">
              <a:solidFill>
                <a:srgbClr val="BFBFB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" name="Rectangle 102">
              <a:extLst>
                <a:ext uri="{FF2B5EF4-FFF2-40B4-BE49-F238E27FC236}">
                  <a16:creationId xmlns:a16="http://schemas.microsoft.com/office/drawing/2014/main" id="{34755F26-EC65-BC3C-F00F-5952873E9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" y="1435"/>
              <a:ext cx="388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1A1A1A"/>
                  </a:solidFill>
                  <a:effectLst/>
                  <a:latin typeface="Segoe UI" panose="020B0502040204020203" pitchFamily="34" charset="0"/>
                </a:rPr>
                <a:t>Neutral Gray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4" name="Rectangle 103">
              <a:extLst>
                <a:ext uri="{FF2B5EF4-FFF2-40B4-BE49-F238E27FC236}">
                  <a16:creationId xmlns:a16="http://schemas.microsoft.com/office/drawing/2014/main" id="{B81AAAC1-86AE-E75F-941C-AB9A2CF58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" y="1502"/>
              <a:ext cx="133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E8E6DF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5" name="Rectangle 14">
              <a:extLst>
                <a:ext uri="{FF2B5EF4-FFF2-40B4-BE49-F238E27FC236}">
                  <a16:creationId xmlns:a16="http://schemas.microsoft.com/office/drawing/2014/main" id="{EB0437A5-6694-879B-F94E-9FA34DFD9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9" y="1724"/>
              <a:ext cx="1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6" name="Rectangle 95">
              <a:extLst>
                <a:ext uri="{FF2B5EF4-FFF2-40B4-BE49-F238E27FC236}">
                  <a16:creationId xmlns:a16="http://schemas.microsoft.com/office/drawing/2014/main" id="{7CF198F9-1D72-F8CC-3A2E-9B2DAE529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1" y="1723"/>
              <a:ext cx="1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 Black" panose="020B0A02040204020203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6608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74" r:id="rId1"/>
    <p:sldLayoutId id="2147484975" r:id="rId2"/>
    <p:sldLayoutId id="2147484976" r:id="rId3"/>
    <p:sldLayoutId id="2147484977" r:id="rId4"/>
    <p:sldLayoutId id="2147484978" r:id="rId5"/>
    <p:sldLayoutId id="2147484979" r:id="rId6"/>
    <p:sldLayoutId id="2147484980" r:id="rId7"/>
    <p:sldLayoutId id="2147484981" r:id="rId8"/>
    <p:sldLayoutId id="2147484982" r:id="rId9"/>
    <p:sldLayoutId id="2147484983" r:id="rId10"/>
    <p:sldLayoutId id="2147484984" r:id="rId11"/>
    <p:sldLayoutId id="2147484985" r:id="rId12"/>
    <p:sldLayoutId id="2147484986" r:id="rId13"/>
    <p:sldLayoutId id="2147484987" r:id="rId14"/>
    <p:sldLayoutId id="2147484988" r:id="rId15"/>
    <p:sldLayoutId id="2147484989" r:id="rId16"/>
    <p:sldLayoutId id="2147484990" r:id="rId17"/>
    <p:sldLayoutId id="2147484991" r:id="rId18"/>
    <p:sldLayoutId id="2147484992" r:id="rId19"/>
    <p:sldLayoutId id="2147484993" r:id="rId20"/>
    <p:sldLayoutId id="2147484994" r:id="rId21"/>
    <p:sldLayoutId id="2147484995" r:id="rId22"/>
    <p:sldLayoutId id="2147484996" r:id="rId23"/>
    <p:sldLayoutId id="2147484997" r:id="rId24"/>
    <p:sldLayoutId id="2147484998" r:id="rId25"/>
    <p:sldLayoutId id="2147484999" r:id="rId26"/>
    <p:sldLayoutId id="2147485000" r:id="rId27"/>
    <p:sldLayoutId id="2147485001" r:id="rId28"/>
    <p:sldLayoutId id="2147485002" r:id="rId29"/>
    <p:sldLayoutId id="2147485003" r:id="rId30"/>
    <p:sldLayoutId id="2147485004" r:id="rId31"/>
    <p:sldLayoutId id="2147485005" r:id="rId32"/>
    <p:sldLayoutId id="2147485006" r:id="rId33"/>
    <p:sldLayoutId id="2147485007" r:id="rId34"/>
    <p:sldLayoutId id="2147485008" r:id="rId35"/>
    <p:sldLayoutId id="2147485009" r:id="rId36"/>
    <p:sldLayoutId id="2147485010" r:id="rId37"/>
    <p:sldLayoutId id="2147485011" r:id="rId38"/>
    <p:sldLayoutId id="2147485012" r:id="rId39"/>
    <p:sldLayoutId id="2147485013" r:id="rId40"/>
    <p:sldLayoutId id="2147485014" r:id="rId41"/>
    <p:sldLayoutId id="2147485015" r:id="rId42"/>
    <p:sldLayoutId id="2147485016" r:id="rId43"/>
    <p:sldLayoutId id="2147485017" r:id="rId44"/>
    <p:sldLayoutId id="2147485018" r:id="rId45"/>
    <p:sldLayoutId id="2147485019" r:id="rId46"/>
    <p:sldLayoutId id="2147485020" r:id="rId47"/>
    <p:sldLayoutId id="2147485021" r:id="rId48"/>
    <p:sldLayoutId id="2147485022" r:id="rId49"/>
    <p:sldLayoutId id="2147485023" r:id="rId50"/>
    <p:sldLayoutId id="2147485024" r:id="rId51"/>
    <p:sldLayoutId id="2147485025" r:id="rId52"/>
    <p:sldLayoutId id="2147485026" r:id="rId53"/>
    <p:sldLayoutId id="2147485027" r:id="rId54"/>
    <p:sldLayoutId id="2147485028" r:id="rId55"/>
    <p:sldLayoutId id="2147485029" r:id="rId56"/>
    <p:sldLayoutId id="2147485030" r:id="rId57"/>
    <p:sldLayoutId id="2147485031" r:id="rId58"/>
    <p:sldLayoutId id="2147485032" r:id="rId59"/>
    <p:sldLayoutId id="2147485033" r:id="rId60"/>
    <p:sldLayoutId id="2147485034" r:id="rId61"/>
    <p:sldLayoutId id="2147485035" r:id="rId62"/>
    <p:sldLayoutId id="2147485036" r:id="rId63"/>
    <p:sldLayoutId id="2147485037" r:id="rId64"/>
    <p:sldLayoutId id="2147485038" r:id="rId65"/>
    <p:sldLayoutId id="2147485039" r:id="rId66"/>
    <p:sldLayoutId id="2147485040" r:id="rId67"/>
    <p:sldLayoutId id="2147485041" r:id="rId68"/>
    <p:sldLayoutId id="2147485042" r:id="rId69"/>
    <p:sldLayoutId id="2147485043" r:id="rId70"/>
    <p:sldLayoutId id="2147485044" r:id="rId71"/>
    <p:sldLayoutId id="2147485045" r:id="rId72"/>
    <p:sldLayoutId id="2147485046" r:id="rId73"/>
    <p:sldLayoutId id="2147485047" r:id="rId74"/>
    <p:sldLayoutId id="2147485048" r:id="rId75"/>
    <p:sldLayoutId id="2147485049" r:id="rId76"/>
    <p:sldLayoutId id="2147485050" r:id="rId77"/>
    <p:sldLayoutId id="2147485051" r:id="rId78"/>
    <p:sldLayoutId id="2147485052" r:id="rId79"/>
    <p:sldLayoutId id="2147485053" r:id="rId80"/>
    <p:sldLayoutId id="2147485054" r:id="rId81"/>
    <p:sldLayoutId id="2147485055" r:id="rId82"/>
    <p:sldLayoutId id="2147485056" r:id="rId83"/>
    <p:sldLayoutId id="2147485057" r:id="rId84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lang="en-US" sz="2800" kern="1200" spc="0" baseline="0" dirty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646CF9B-C3C6-BF79-10C9-634FDE6DD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33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62" r:id="rId1"/>
    <p:sldLayoutId id="2147485063" r:id="rId2"/>
    <p:sldLayoutId id="2147485064" r:id="rId3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A5A5A5"/>
          </p15:clr>
        </p15:guide>
        <p15:guide id="2" pos="7680">
          <p15:clr>
            <a:srgbClr val="A5A5A5"/>
          </p15:clr>
        </p15:guide>
        <p15:guide id="3" pos="186">
          <p15:clr>
            <a:srgbClr val="A5A5A5"/>
          </p15:clr>
        </p15:guide>
        <p15:guide id="26" pos="7496">
          <p15:clr>
            <a:srgbClr val="A5A5A5"/>
          </p15:clr>
        </p15:guide>
        <p15:guide id="27" orient="horz">
          <p15:clr>
            <a:srgbClr val="A5A5A5"/>
          </p15:clr>
        </p15:guide>
        <p15:guide id="28" orient="horz" pos="4320">
          <p15:clr>
            <a:srgbClr val="A5A5A5"/>
          </p15:clr>
        </p15:guide>
        <p15:guide id="29" orient="horz" pos="184">
          <p15:clr>
            <a:srgbClr val="A5A5A5"/>
          </p15:clr>
        </p15:guide>
        <p15:guide id="40" orient="horz" pos="4134">
          <p15:clr>
            <a:srgbClr val="A5A5A5"/>
          </p15:clr>
        </p15:guide>
        <p15:guide id="42" pos="365">
          <p15:clr>
            <a:srgbClr val="C35EA4"/>
          </p15:clr>
        </p15:guide>
        <p15:guide id="43" orient="horz" pos="367">
          <p15:clr>
            <a:srgbClr val="C35EA4"/>
          </p15:clr>
        </p15:guide>
        <p15:guide id="44" orient="horz" pos="3953">
          <p15:clr>
            <a:srgbClr val="C35EA4"/>
          </p15:clr>
        </p15:guide>
        <p15:guide id="45" pos="7307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hyperlink" Target="http://www.aka.ms/MyMicrosoftLearnProfile" TargetMode="External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46.jpeg"/><Relationship Id="rId5" Type="http://schemas.openxmlformats.org/officeDocument/2006/relationships/image" Target="../media/image45.png"/><Relationship Id="rId4" Type="http://schemas.openxmlformats.org/officeDocument/2006/relationships/hyperlink" Target="https://learn.microsoft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learn.microsoft.com/training/courses/browse/" TargetMode="Externa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4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://www.aka.ms/MyMicrosoftLearnProfile" TargetMode="Externa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earn.microsoft.com/certifications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2.xml"/><Relationship Id="rId5" Type="http://schemas.openxmlformats.org/officeDocument/2006/relationships/hyperlink" Target="https://home.pearsonvue.com/voc/2023-report" TargetMode="External"/><Relationship Id="rId4" Type="http://schemas.openxmlformats.org/officeDocument/2006/relationships/hyperlink" Target="https://aka.ms/RenewYourCert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87.xml"/><Relationship Id="rId4" Type="http://schemas.openxmlformats.org/officeDocument/2006/relationships/image" Target="../media/image52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8" y="2505670"/>
            <a:ext cx="6098743" cy="1846659"/>
          </a:xfrm>
        </p:spPr>
        <p:txBody>
          <a:bodyPr/>
          <a:lstStyle/>
          <a:p>
            <a:r>
              <a:rPr lang="en-US" dirty="0">
                <a:cs typeface="Segoe UI"/>
              </a:rPr>
              <a:t>Introduction to</a:t>
            </a:r>
            <a:br>
              <a:rPr lang="en-US" dirty="0">
                <a:cs typeface="Segoe UI"/>
              </a:rPr>
            </a:br>
            <a:r>
              <a:rPr lang="en-US" dirty="0">
                <a:cs typeface="Segoe UI"/>
              </a:rPr>
              <a:t>Cloud Infrastructure </a:t>
            </a:r>
            <a:br>
              <a:rPr lang="en-US" dirty="0">
                <a:cs typeface="Segoe UI"/>
              </a:rPr>
            </a:br>
            <a:r>
              <a:rPr lang="en-US" dirty="0">
                <a:cs typeface="Segoe UI"/>
              </a:rPr>
              <a:t>[AZ-900]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A2BF8BC-EDED-61C2-562F-15FB955AD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4740F1-B816-6BEC-8362-3B8D251DFC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6150" y="6446520"/>
            <a:ext cx="1645920" cy="153888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06060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EC5683A2-2179-3E79-6645-D011C29AE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507738" cy="861774"/>
          </a:xfrm>
        </p:spPr>
        <p:txBody>
          <a:bodyPr/>
          <a:lstStyle/>
          <a:p>
            <a:pPr marL="0" marR="0" lvl="0" indent="0" fontAlgn="auto">
              <a:spcAft>
                <a:spcPts val="0"/>
              </a:spcAft>
              <a:tabLst/>
              <a:defRPr/>
            </a:pPr>
            <a:r>
              <a:rPr lang="en-US" sz="2800"/>
              <a:t>Get the most out of your Microsoft Learn profile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1561EF4-D3D7-16D6-06AC-E0E8E0EE810E}"/>
              </a:ext>
            </a:extLst>
          </p:cNvPr>
          <p:cNvSpPr txBox="1">
            <a:spLocks/>
          </p:cNvSpPr>
          <p:nvPr/>
        </p:nvSpPr>
        <p:spPr>
          <a:xfrm>
            <a:off x="582348" y="1759165"/>
            <a:ext cx="5806188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Verify, track, and share your training and certification progress and accomplishments—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all on one platform</a:t>
            </a:r>
          </a:p>
        </p:txBody>
      </p:sp>
      <p:sp>
        <p:nvSpPr>
          <p:cNvPr id="20" name="Text Placeholder 61">
            <a:extLst>
              <a:ext uri="{FF2B5EF4-FFF2-40B4-BE49-F238E27FC236}">
                <a16:creationId xmlns:a16="http://schemas.microsoft.com/office/drawing/2014/main" id="{D49F25EC-A170-C832-AE24-EB03D8AF0995}"/>
              </a:ext>
            </a:extLst>
          </p:cNvPr>
          <p:cNvSpPr txBox="1">
            <a:spLocks/>
          </p:cNvSpPr>
          <p:nvPr/>
        </p:nvSpPr>
        <p:spPr>
          <a:xfrm>
            <a:off x="586389" y="2654712"/>
            <a:ext cx="5373085" cy="241296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Claim your achievement code for this course and share you have completed it.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Access your course material and track progress on your learning activities.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Share and verify your Microsoft Certifications via email, on social networking platforms, and on your résumé.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Download and print transcripts and certificates.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Manage your upcoming activities and certification exam appointments.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70ABBD99-35D1-F53B-C2EF-D0E437DC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813" y="5435139"/>
            <a:ext cx="4464280" cy="559721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3900000" scaled="0"/>
          </a:gra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7" name="Text Placeholder 13">
            <a:extLst>
              <a:ext uri="{FF2B5EF4-FFF2-40B4-BE49-F238E27FC236}">
                <a16:creationId xmlns:a16="http://schemas.microsoft.com/office/drawing/2014/main" id="{1902BDB0-F449-F635-7020-1B2246BBEAEC}"/>
              </a:ext>
            </a:extLst>
          </p:cNvPr>
          <p:cNvSpPr txBox="1">
            <a:spLocks/>
          </p:cNvSpPr>
          <p:nvPr/>
        </p:nvSpPr>
        <p:spPr>
          <a:xfrm>
            <a:off x="584200" y="5591889"/>
            <a:ext cx="3930650" cy="246221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www.aka.ms/MyMicrosoftLearnProfile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CAD44BD2-B747-01D0-8FB4-522B662FE479}"/>
              </a:ext>
            </a:extLst>
          </p:cNvPr>
          <p:cNvSpPr txBox="1">
            <a:spLocks/>
          </p:cNvSpPr>
          <p:nvPr/>
        </p:nvSpPr>
        <p:spPr>
          <a:xfrm>
            <a:off x="7456697" y="808435"/>
            <a:ext cx="4337207" cy="448031"/>
          </a:xfrm>
          <a:prstGeom prst="rect">
            <a:avLst/>
          </a:prstGeom>
        </p:spPr>
        <p:txBody>
          <a:bodyPr anchor="ctr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Create your Microsoft Learn profile 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at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A446F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2A446F"/>
              </a:soli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A6EE8B-E7DC-E3A5-0383-CA443F74FCEE}"/>
              </a:ext>
            </a:extLst>
          </p:cNvPr>
          <p:cNvSpPr txBox="1">
            <a:spLocks/>
          </p:cNvSpPr>
          <p:nvPr/>
        </p:nvSpPr>
        <p:spPr>
          <a:xfrm>
            <a:off x="7562323" y="1407733"/>
            <a:ext cx="3499377" cy="1034802"/>
          </a:xfrm>
          <a:prstGeom prst="rect">
            <a:avLst/>
          </a:prstGeom>
        </p:spPr>
        <p:txBody>
          <a:bodyPr l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Select </a:t>
            </a: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Sign in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at</a:t>
            </a: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the top, right corner of any Microsoft Learn page. 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Follow the Microsoft account authentication process. 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If the account that you have chosen to sign-in with doesn't already have a Microsoft Learn profile, you’ll be guided to create one. </a:t>
            </a:r>
          </a:p>
        </p:txBody>
      </p:sp>
      <p:sp>
        <p:nvSpPr>
          <p:cNvPr id="8" name="Arrow: Bent 7">
            <a:extLst>
              <a:ext uri="{FF2B5EF4-FFF2-40B4-BE49-F238E27FC236}">
                <a16:creationId xmlns:a16="http://schemas.microsoft.com/office/drawing/2014/main" id="{024DB499-4361-4308-FC9B-E543A47F6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>
            <a:off x="9952757" y="945735"/>
            <a:ext cx="1841380" cy="2309176"/>
          </a:xfrm>
          <a:prstGeom prst="bentArrow">
            <a:avLst>
              <a:gd name="adj1" fmla="val 25000"/>
              <a:gd name="adj2" fmla="val 0"/>
              <a:gd name="adj3" fmla="val 25000"/>
              <a:gd name="adj4" fmla="val 6314"/>
            </a:avLst>
          </a:prstGeom>
          <a:ln w="25400" cap="rnd">
            <a:solidFill>
              <a:schemeClr val="accent2"/>
            </a:solidFill>
            <a:round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F3914AB5-A7A1-B1CF-3AF3-81A8583CD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rot="16200000" flipH="1">
            <a:off x="7958667" y="2334302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4B548A-EC78-506E-7F99-D22648A96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8887" y="2745069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pic>
        <p:nvPicPr>
          <p:cNvPr id="12" name="Picture 11" descr="Microsoft Learn website screenshot">
            <a:extLst>
              <a:ext uri="{FF2B5EF4-FFF2-40B4-BE49-F238E27FC236}">
                <a16:creationId xmlns:a16="http://schemas.microsoft.com/office/drawing/2014/main" id="{B0EEA3EE-F7F6-BA6A-F342-518877845D4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76" b="8479"/>
          <a:stretch/>
        </p:blipFill>
        <p:spPr>
          <a:xfrm>
            <a:off x="7720926" y="3033275"/>
            <a:ext cx="4480303" cy="33722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887BF4-33EA-A468-090A-94ACB3C77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 rot="5400000">
            <a:off x="11970573" y="2916615"/>
            <a:ext cx="114925" cy="170961"/>
          </a:xfrm>
          <a:prstGeom prst="rect">
            <a:avLst/>
          </a:prstGeom>
        </p:spPr>
      </p:pic>
      <p:pic>
        <p:nvPicPr>
          <p:cNvPr id="5" name="Picture 4" descr="Sign in pop-up">
            <a:extLst>
              <a:ext uri="{FF2B5EF4-FFF2-40B4-BE49-F238E27FC236}">
                <a16:creationId xmlns:a16="http://schemas.microsoft.com/office/drawing/2014/main" id="{06632F90-8BFB-A457-5B90-5C3445C5B3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1967" y="3232230"/>
            <a:ext cx="1939466" cy="1486251"/>
          </a:xfrm>
          <a:prstGeom prst="rect">
            <a:avLst/>
          </a:prstGeom>
          <a:ln w="34925">
            <a:noFill/>
          </a:ln>
          <a:effectLst>
            <a:outerShdw blurRad="314198" dist="111760" dir="8040000" algn="ctr" rotWithShape="0">
              <a:srgbClr val="000000">
                <a:alpha val="22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7426D-DC20-2106-1286-3E57DEC9D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12922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67E9-DE24-BFC9-0344-C106894F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585788"/>
            <a:ext cx="5862637" cy="430887"/>
          </a:xfrm>
        </p:spPr>
        <p:txBody>
          <a:bodyPr/>
          <a:lstStyle/>
          <a:p>
            <a:r>
              <a:rPr lang="en-US" sz="2800"/>
              <a:t>Access your course material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44A96B-6E8F-0626-1F15-2DB8E0B8E052}"/>
              </a:ext>
            </a:extLst>
          </p:cNvPr>
          <p:cNvSpPr txBox="1">
            <a:spLocks/>
          </p:cNvSpPr>
          <p:nvPr/>
        </p:nvSpPr>
        <p:spPr>
          <a:xfrm>
            <a:off x="582348" y="1239164"/>
            <a:ext cx="580618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All course content is available on Microsoft Learn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27E476-C5F2-1EE3-D528-BABA8D3D8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813" y="2024221"/>
            <a:ext cx="5145015" cy="559721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3900000" scaled="0"/>
          </a:gra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81F08F0-69C3-503F-98FA-49046BF52668}"/>
              </a:ext>
            </a:extLst>
          </p:cNvPr>
          <p:cNvSpPr txBox="1">
            <a:spLocks/>
          </p:cNvSpPr>
          <p:nvPr/>
        </p:nvSpPr>
        <p:spPr>
          <a:xfrm>
            <a:off x="584199" y="2180971"/>
            <a:ext cx="4576233" cy="246221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learn.microsoft.com/training/courses/browse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 Placeholder 61">
            <a:extLst>
              <a:ext uri="{FF2B5EF4-FFF2-40B4-BE49-F238E27FC236}">
                <a16:creationId xmlns:a16="http://schemas.microsoft.com/office/drawing/2014/main" id="{872DF97A-AE97-BEEE-3029-CB3AEFF7028B}"/>
              </a:ext>
            </a:extLst>
          </p:cNvPr>
          <p:cNvSpPr txBox="1">
            <a:spLocks/>
          </p:cNvSpPr>
          <p:nvPr/>
        </p:nvSpPr>
        <p:spPr>
          <a:xfrm>
            <a:off x="579439" y="3006168"/>
            <a:ext cx="3967162" cy="1034129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We’ll go through this content together and as the course progresses, I will advise you on which modules to review.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You can provide feedback for modules on Microsoft Learn. Find out how at the bottom of each page.</a:t>
            </a:r>
          </a:p>
        </p:txBody>
      </p:sp>
      <p:sp>
        <p:nvSpPr>
          <p:cNvPr id="10" name="Arrow: Bent 9">
            <a:extLst>
              <a:ext uri="{FF2B5EF4-FFF2-40B4-BE49-F238E27FC236}">
                <a16:creationId xmlns:a16="http://schemas.microsoft.com/office/drawing/2014/main" id="{B56AF5A9-049E-D4E1-241B-A0246FF8C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>
            <a:off x="3575647" y="3090434"/>
            <a:ext cx="775198" cy="3777828"/>
          </a:xfrm>
          <a:prstGeom prst="bentArrow">
            <a:avLst>
              <a:gd name="adj1" fmla="val 25000"/>
              <a:gd name="adj2" fmla="val 0"/>
              <a:gd name="adj3" fmla="val 25000"/>
              <a:gd name="adj4" fmla="val 10625"/>
            </a:avLst>
          </a:prstGeom>
          <a:ln w="25400" cap="rnd">
            <a:solidFill>
              <a:schemeClr val="accent2"/>
            </a:solidFill>
            <a:round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3B8A40-AC34-02A8-B4D3-A0BD25F10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5794881" y="5094642"/>
            <a:ext cx="114925" cy="1709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F5A11E-96B7-DC94-AA95-8C59BC525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17921"/>
            <a:ext cx="6764867" cy="383704"/>
          </a:xfrm>
          <a:prstGeom prst="rect">
            <a:avLst/>
          </a:prstGeom>
        </p:spPr>
      </p:pic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1BC0955-5F04-8692-97FB-179B5EDB16EB}"/>
              </a:ext>
            </a:extLst>
          </p:cNvPr>
          <p:cNvSpPr txBox="1">
            <a:spLocks/>
          </p:cNvSpPr>
          <p:nvPr/>
        </p:nvSpPr>
        <p:spPr>
          <a:xfrm>
            <a:off x="7764307" y="2180971"/>
            <a:ext cx="44069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This course includes labs:</a:t>
            </a:r>
          </a:p>
        </p:txBody>
      </p:sp>
      <p:sp>
        <p:nvSpPr>
          <p:cNvPr id="33" name="Text Placeholder 61">
            <a:extLst>
              <a:ext uri="{FF2B5EF4-FFF2-40B4-BE49-F238E27FC236}">
                <a16:creationId xmlns:a16="http://schemas.microsoft.com/office/drawing/2014/main" id="{6BA32D2F-A3BB-0F92-562E-47913E4D8086}"/>
              </a:ext>
            </a:extLst>
          </p:cNvPr>
          <p:cNvSpPr txBox="1">
            <a:spLocks/>
          </p:cNvSpPr>
          <p:nvPr/>
        </p:nvSpPr>
        <p:spPr>
          <a:xfrm>
            <a:off x="7764307" y="2614433"/>
            <a:ext cx="359357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Detailed lab instructions are included in the Microsoft Learn environment.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3E430-4D21-6070-565F-549992A36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0935757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67E9-DE24-BFC9-0344-C106894F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895088" cy="307777"/>
          </a:xfrm>
        </p:spPr>
        <p:txBody>
          <a:bodyPr/>
          <a:lstStyle/>
          <a:p>
            <a:r>
              <a:rPr lang="en-US" sz="2800"/>
              <a:t>Celebrate your accomplishments and feel empowered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44A96B-6E8F-0626-1F15-2DB8E0B8E052}"/>
              </a:ext>
            </a:extLst>
          </p:cNvPr>
          <p:cNvSpPr txBox="1">
            <a:spLocks/>
          </p:cNvSpPr>
          <p:nvPr/>
        </p:nvSpPr>
        <p:spPr>
          <a:xfrm>
            <a:off x="582348" y="1797430"/>
            <a:ext cx="4732602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Get your achievement recognized and earn your badge for completing this course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5FD8D32-1F5A-71CD-0EA0-111FE0F75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8235949" y="1814294"/>
            <a:ext cx="3960174" cy="559721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3900000" scaled="0"/>
          </a:gra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7" name="Text Placeholder 13">
            <a:extLst>
              <a:ext uri="{FF2B5EF4-FFF2-40B4-BE49-F238E27FC236}">
                <a16:creationId xmlns:a16="http://schemas.microsoft.com/office/drawing/2014/main" id="{1902BDB0-F449-F635-7020-1B2246BBEAEC}"/>
              </a:ext>
            </a:extLst>
          </p:cNvPr>
          <p:cNvSpPr txBox="1">
            <a:spLocks/>
          </p:cNvSpPr>
          <p:nvPr/>
        </p:nvSpPr>
        <p:spPr>
          <a:xfrm>
            <a:off x="8564827" y="1971044"/>
            <a:ext cx="3044825" cy="246221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MyMicrosoftLearnProfile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B7363C-E11A-7773-FEC4-37C7BE727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flipV="1">
            <a:off x="-1" y="2820988"/>
            <a:ext cx="12192000" cy="4037012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8E532ED-A6EA-9B86-5DB0-AE5BB46F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0398" y="3097628"/>
            <a:ext cx="5972801" cy="2901120"/>
            <a:chOff x="580398" y="3097628"/>
            <a:chExt cx="5972801" cy="290112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A182491-B907-99A4-0486-B6A6F6C82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580398" y="3097628"/>
              <a:ext cx="5972801" cy="2901120"/>
              <a:chOff x="588263" y="2767793"/>
              <a:chExt cx="3336599" cy="3502380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727273A2-8ED9-89CE-F996-0FFF2A7BB31C}"/>
                  </a:ext>
                </a:extLst>
              </p:cNvPr>
              <p:cNvSpPr/>
              <p:nvPr/>
            </p:nvSpPr>
            <p:spPr>
              <a:xfrm>
                <a:off x="588263" y="2767793"/>
                <a:ext cx="3336599" cy="3502380"/>
              </a:xfrm>
              <a:prstGeom prst="roundRect">
                <a:avLst>
                  <a:gd name="adj" fmla="val 11300"/>
                </a:avLst>
              </a:prstGeom>
              <a:solidFill>
                <a:srgbClr val="E8E6DF"/>
              </a:solidFill>
              <a:ln>
                <a:noFill/>
              </a:ln>
              <a:effectLst>
                <a:outerShdw blurRad="190500" dist="38100" dir="18900000" sx="102000" sy="102000" algn="bl" rotWithShape="0">
                  <a:schemeClr val="bg1">
                    <a:alpha val="5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274320" rIns="274320" bIns="9144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" name="Rounded Rectangle 3_1">
                <a:extLst>
                  <a:ext uri="{FF2B5EF4-FFF2-40B4-BE49-F238E27FC236}">
                    <a16:creationId xmlns:a16="http://schemas.microsoft.com/office/drawing/2014/main" id="{045820DA-52B0-14BE-A31B-1E971D4C3B93}"/>
                  </a:ext>
                </a:extLst>
              </p:cNvPr>
              <p:cNvSpPr/>
              <p:nvPr/>
            </p:nvSpPr>
            <p:spPr>
              <a:xfrm>
                <a:off x="588263" y="2767793"/>
                <a:ext cx="3336599" cy="3502380"/>
              </a:xfrm>
              <a:prstGeom prst="roundRect">
                <a:avLst>
                  <a:gd name="adj" fmla="val 113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27000" dist="38100" dir="8100000" sx="101000" sy="101000" algn="tr" rotWithShape="0">
                  <a:srgbClr val="CAC5B8">
                    <a:alpha val="6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274320" rIns="274320" bIns="182880" rtlCol="0" anchor="t"/>
              <a:lstStyle/>
              <a:p>
                <a:pPr marL="137160" marR="0" lvl="0" indent="-137160" algn="l" defTabSz="932742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D832F0C-900B-9F8C-982E-5A0EBFD53CBB}"/>
                </a:ext>
              </a:extLst>
            </p:cNvPr>
            <p:cNvGrpSpPr/>
            <p:nvPr/>
          </p:nvGrpSpPr>
          <p:grpSpPr>
            <a:xfrm>
              <a:off x="779967" y="3194563"/>
              <a:ext cx="5573662" cy="2707249"/>
              <a:chOff x="571933" y="3168333"/>
              <a:chExt cx="5728856" cy="2782630"/>
            </a:xfrm>
          </p:grpSpPr>
          <p:pic>
            <p:nvPicPr>
              <p:cNvPr id="4" name="Picture 3" descr="Microsoft Learn profile screenshot">
                <a:extLst>
                  <a:ext uri="{FF2B5EF4-FFF2-40B4-BE49-F238E27FC236}">
                    <a16:creationId xmlns:a16="http://schemas.microsoft.com/office/drawing/2014/main" id="{46E566C1-A420-9522-9D23-D52FD114144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33139"/>
              <a:stretch/>
            </p:blipFill>
            <p:spPr>
              <a:xfrm>
                <a:off x="571933" y="3168333"/>
                <a:ext cx="5728856" cy="2782630"/>
              </a:xfrm>
              <a:prstGeom prst="rect">
                <a:avLst/>
              </a:prstGeom>
            </p:spPr>
          </p:pic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9A738214-77A9-7615-29EA-1E6C3D2AA2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631391" y="4921855"/>
                <a:ext cx="1324409" cy="267562"/>
              </a:xfrm>
              <a:prstGeom prst="roundRect">
                <a:avLst/>
              </a:prstGeom>
              <a:noFill/>
              <a:ln w="12700">
                <a:solidFill>
                  <a:schemeClr val="accent2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egoe UI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3E5C2C6-1D5F-B8EC-51D3-5AC268D660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3453997" y="3506425"/>
                <a:ext cx="2478347" cy="267562"/>
              </a:xfrm>
              <a:prstGeom prst="roundRect">
                <a:avLst/>
              </a:prstGeom>
              <a:noFill/>
              <a:ln w="12700">
                <a:solidFill>
                  <a:schemeClr val="accent2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egoe UI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FD180EDD-3624-7FF2-B010-598E452B84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3453997" y="4036980"/>
                <a:ext cx="2184180" cy="267562"/>
              </a:xfrm>
              <a:prstGeom prst="roundRect">
                <a:avLst/>
              </a:prstGeom>
              <a:noFill/>
              <a:ln w="12700">
                <a:solidFill>
                  <a:schemeClr val="accent2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egoe UI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B66D746A-BC25-1816-8BD3-91D29C9D8F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5441182" y="4559648"/>
                <a:ext cx="720255" cy="267562"/>
              </a:xfrm>
              <a:prstGeom prst="roundRect">
                <a:avLst/>
              </a:prstGeom>
              <a:noFill/>
              <a:ln w="12700">
                <a:solidFill>
                  <a:schemeClr val="accent2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7B88ACB-1052-88B4-6148-93F1FB3C8E98}"/>
                  </a:ext>
                </a:extLst>
              </p:cNvPr>
              <p:cNvSpPr/>
              <p:nvPr/>
            </p:nvSpPr>
            <p:spPr bwMode="auto">
              <a:xfrm>
                <a:off x="1833972" y="4800461"/>
                <a:ext cx="242788" cy="24278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 Semibold"/>
                    <a:ea typeface="Segoe UI" pitchFamily="34" charset="0"/>
                    <a:cs typeface="Segoe UI" pitchFamily="34" charset="0"/>
                  </a:rPr>
                  <a:t>1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7D90B22-02AA-0FFE-65EF-D97DCCCEF057}"/>
                  </a:ext>
                </a:extLst>
              </p:cNvPr>
              <p:cNvSpPr/>
              <p:nvPr/>
            </p:nvSpPr>
            <p:spPr bwMode="auto">
              <a:xfrm>
                <a:off x="5815113" y="3375965"/>
                <a:ext cx="242788" cy="24278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 Semibold"/>
                    <a:ea typeface="Segoe UI" pitchFamily="34" charset="0"/>
                    <a:cs typeface="Segoe UI" pitchFamily="34" charset="0"/>
                  </a:rPr>
                  <a:t>2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1E03262-9DD0-758A-9DE1-95BF5DE32816}"/>
                  </a:ext>
                </a:extLst>
              </p:cNvPr>
              <p:cNvSpPr/>
              <p:nvPr/>
            </p:nvSpPr>
            <p:spPr bwMode="auto">
              <a:xfrm>
                <a:off x="5516783" y="3934369"/>
                <a:ext cx="242788" cy="24278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 Semibold"/>
                    <a:ea typeface="Segoe UI" pitchFamily="34" charset="0"/>
                    <a:cs typeface="Segoe UI" pitchFamily="34" charset="0"/>
                  </a:rPr>
                  <a:t>3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6A76F77-1704-1114-6ECB-4E7A8A9D18E5}"/>
                  </a:ext>
                </a:extLst>
              </p:cNvPr>
              <p:cNvSpPr/>
              <p:nvPr/>
            </p:nvSpPr>
            <p:spPr bwMode="auto">
              <a:xfrm>
                <a:off x="6029425" y="4456633"/>
                <a:ext cx="242788" cy="24278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 Semibold"/>
                    <a:ea typeface="Segoe UI" pitchFamily="34" charset="0"/>
                    <a:cs typeface="Segoe UI" pitchFamily="34" charset="0"/>
                  </a:rPr>
                  <a:t>4</a:t>
                </a:r>
              </a:p>
            </p:txBody>
          </p:sp>
        </p:grpSp>
      </p:grp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1447741B-AB45-5A20-3A15-0160B652B2D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125506" y="3744913"/>
            <a:ext cx="4600575" cy="1422400"/>
          </a:xfrm>
        </p:spPr>
        <p:txBody>
          <a:bodyPr anchor="ctr"/>
          <a:lstStyle/>
          <a:p>
            <a:pPr marL="342900" indent="-342900">
              <a:buFont typeface="+mj-lt"/>
              <a:buAutoNum type="arabicPeriod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Go to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Achievements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 on your Microsoft Learn profile.</a:t>
            </a:r>
          </a:p>
          <a:p>
            <a:pPr marL="342900" indent="-342900">
              <a:buFont typeface="+mj-lt"/>
              <a:buAutoNum type="arabicPeriod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Redeem the code provided by your trainer.</a:t>
            </a:r>
          </a:p>
          <a:p>
            <a:pPr marL="342900" indent="-342900">
              <a:buFont typeface="+mj-lt"/>
              <a:buAutoNum type="arabicPeriod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Find your new badge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on Modules, Courses &amp; More.</a:t>
            </a:r>
          </a:p>
          <a:p>
            <a:pPr marL="342900" indent="-342900">
              <a:buFont typeface="+mj-lt"/>
              <a:buAutoNum type="arabicPeriod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Share your new achievement with your professional network. You can also download and print your certificate.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1AB3BFA-3E93-A6E5-8FE9-7E4B0A0B7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3320921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ACDD559A-25F8-918A-9C24-8A8DF8FB4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1224813"/>
            <a:ext cx="4402493" cy="1107996"/>
          </a:xfrm>
        </p:spPr>
        <p:txBody>
          <a:bodyPr/>
          <a:lstStyle/>
          <a:p>
            <a:r>
              <a:rPr lang="en-US" sz="3600"/>
              <a:t>Become </a:t>
            </a:r>
            <a:br>
              <a:rPr lang="en-US" sz="3600"/>
            </a:br>
            <a:r>
              <a:rPr lang="en-US" sz="3600"/>
              <a:t>Microsoft Certified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0FC82C5-B8CF-CE13-4A23-7C15F1CE3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0699" y="1200446"/>
            <a:ext cx="1110600" cy="1110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5DEF036-DB68-7837-5186-51A159AC8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1385414"/>
            <a:ext cx="740664" cy="7406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322978-A730-EB17-5D62-A209F514E7E2}"/>
              </a:ext>
            </a:extLst>
          </p:cNvPr>
          <p:cNvSpPr txBox="1"/>
          <p:nvPr/>
        </p:nvSpPr>
        <p:spPr>
          <a:xfrm>
            <a:off x="6971476" y="1135039"/>
            <a:ext cx="2196634" cy="830997"/>
          </a:xfrm>
          <a:prstGeom prst="rect">
            <a:avLst/>
          </a:prstGeom>
          <a:noFill/>
        </p:spPr>
        <p:txBody>
          <a:bodyPr wrap="square" lIns="0" tIns="45720" rIns="91440" bIns="45720" rtlCol="0" anchor="t">
            <a:spAutoFit/>
          </a:bodyPr>
          <a:lstStyle>
            <a:defPPr>
              <a:defRPr lang="en-US"/>
            </a:defPPr>
            <a:lvl1pPr>
              <a:defRPr sz="7330" b="1" spc="-50">
                <a:ln w="3175">
                  <a:noFill/>
                </a:ln>
                <a:gradFill>
                  <a:gsLst>
                    <a:gs pos="100000">
                      <a:schemeClr val="accent4"/>
                    </a:gs>
                    <a:gs pos="32000">
                      <a:srgbClr val="FF5C39"/>
                    </a:gs>
                  </a:gsLst>
                  <a:lin ang="3900000" scaled="0"/>
                </a:gradFill>
                <a:latin typeface="Segoe UI Variable Text" pitchFamily="2" charset="0"/>
                <a:cs typeface="Segoe UI Semibold" panose="020B0502040204020203" pitchFamily="34" charset="0"/>
              </a:defRPr>
            </a:lvl1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-50" normalizeH="0" baseline="0" noProof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92</a:t>
            </a:r>
            <a:r>
              <a:rPr kumimoji="0" lang="en-US" sz="4400" b="1" i="0" u="none" strike="noStrike" kern="1200" cap="none" spc="-50" normalizeH="0" baseline="30000" noProof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%</a:t>
            </a:r>
            <a:r>
              <a:rPr kumimoji="0" lang="en-US" sz="4800" b="1" i="0" u="none" strike="noStrike" kern="1200" cap="none" spc="-50" normalizeH="0" baseline="0" noProof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 </a:t>
            </a:r>
            <a:endParaRPr kumimoji="0" lang="en-US" sz="4800" b="1" i="0" u="none" strike="noStrike" kern="1200" cap="none" spc="-50" normalizeH="0" baseline="0" noProof="0">
              <a:ln w="3175">
                <a:noFill/>
              </a:ln>
              <a:solidFill>
                <a:srgbClr val="BF3AC4"/>
              </a:solidFill>
              <a:effectLst/>
              <a:uLnTx/>
              <a:uFillTx/>
              <a:latin typeface="Segoe UI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7965D-FCAF-55DD-10B8-5DF1E54A3BC7}"/>
              </a:ext>
            </a:extLst>
          </p:cNvPr>
          <p:cNvSpPr txBox="1"/>
          <p:nvPr/>
        </p:nvSpPr>
        <p:spPr>
          <a:xfrm>
            <a:off x="6971477" y="1832668"/>
            <a:ext cx="3920788" cy="52322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of certified IT professionals feel more confident in their abilities after earning certifications¹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5DCB5-4258-68B1-1A56-68B7CC5D0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flipV="1">
            <a:off x="-1" y="3117681"/>
            <a:ext cx="12192000" cy="3740319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ounded Rectangle 3_1">
            <a:extLst>
              <a:ext uri="{FF2B5EF4-FFF2-40B4-BE49-F238E27FC236}">
                <a16:creationId xmlns:a16="http://schemas.microsoft.com/office/drawing/2014/main" id="{0CC3932D-AF62-994B-BAF6-36B38660AE6A}"/>
              </a:ext>
            </a:extLst>
          </p:cNvPr>
          <p:cNvSpPr/>
          <p:nvPr/>
        </p:nvSpPr>
        <p:spPr>
          <a:xfrm>
            <a:off x="580399" y="3575048"/>
            <a:ext cx="5367964" cy="1992314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Get recognized by earning industry validation for technical knowledge. Ensure you stay current with the necessary skills and expertise for continued success​.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Start at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3"/>
              </a:rPr>
              <a:t>learn.microsoft.com/certifications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43F14745-9308-59B5-B699-2477843145BF}"/>
              </a:ext>
            </a:extLst>
          </p:cNvPr>
          <p:cNvSpPr/>
          <p:nvPr/>
        </p:nvSpPr>
        <p:spPr>
          <a:xfrm>
            <a:off x="6252005" y="3575843"/>
            <a:ext cx="5367964" cy="1992314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role-based and specialty certifications require annual renewal.</a:t>
            </a:r>
            <a:r>
              <a: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30000" noProof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Learn about certification renewal at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4"/>
              </a:rPr>
              <a:t>aka.ms/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4"/>
              </a:rPr>
              <a:t>RenewYourCert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D6AEFE-B61B-8AF6-CE8A-695BF709C726}"/>
              </a:ext>
            </a:extLst>
          </p:cNvPr>
          <p:cNvSpPr txBox="1"/>
          <p:nvPr/>
        </p:nvSpPr>
        <p:spPr>
          <a:xfrm>
            <a:off x="583095" y="6082602"/>
            <a:ext cx="11016238" cy="230832"/>
          </a:xfrm>
          <a:prstGeom prst="rect">
            <a:avLst/>
          </a:prstGeom>
          <a:noFill/>
        </p:spPr>
        <p:txBody>
          <a:bodyPr wrap="square" lIns="0" tIns="45720" rIns="91440" bIns="4572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sym typeface="Segoe UI Semibold"/>
              </a:rPr>
              <a:t>¹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sym typeface="Segoe UI Semibol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“2023 Value of IT Certification | Candidate Report,” Pearson VUE, 2023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sym typeface="Segoe UI Semibold"/>
              </a:rPr>
              <a:t>   </a:t>
            </a: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fundamentals certifications don’t expire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  <a:sym typeface="Segoe UI Semibold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E65EAD-DB53-8B16-745F-CE1B01593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6042234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Get ready for your Microsoft Certification exam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74742-B51A-7AB0-5C2C-8C2CFAC7FA4A}"/>
              </a:ext>
            </a:extLst>
          </p:cNvPr>
          <p:cNvSpPr txBox="1"/>
          <p:nvPr/>
        </p:nvSpPr>
        <p:spPr>
          <a:xfrm>
            <a:off x="585217" y="1073388"/>
            <a:ext cx="11031840" cy="369332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rPr>
              <a:t>Microsoft Certified: Azure Fundamentals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061EA4-8988-693D-F87C-7BF5591F84CD}"/>
              </a:ext>
            </a:extLst>
          </p:cNvPr>
          <p:cNvSpPr txBox="1"/>
          <p:nvPr/>
        </p:nvSpPr>
        <p:spPr>
          <a:xfrm>
            <a:off x="825500" y="1959331"/>
            <a:ext cx="487992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A446F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rPr>
              <a:t>Understand the skills measured by the exam</a:t>
            </a:r>
          </a:p>
        </p:txBody>
      </p:sp>
      <p:sp>
        <p:nvSpPr>
          <p:cNvPr id="9" name="Rounded Rectangle 3_1">
            <a:extLst>
              <a:ext uri="{FF2B5EF4-FFF2-40B4-BE49-F238E27FC236}">
                <a16:creationId xmlns:a16="http://schemas.microsoft.com/office/drawing/2014/main" id="{D4BA0CA9-7D1C-CAD8-B69B-7DC32EE7B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3094" y="2283868"/>
            <a:ext cx="5511801" cy="2024181"/>
          </a:xfrm>
          <a:prstGeom prst="roundRect">
            <a:avLst>
              <a:gd name="adj" fmla="val 6425"/>
            </a:avLst>
          </a:prstGeom>
          <a:gradFill flip="none" rotWithShape="1">
            <a:gsLst>
              <a:gs pos="0">
                <a:srgbClr val="2A446F"/>
              </a:gs>
              <a:gs pos="46520">
                <a:schemeClr val="bg1"/>
              </a:gs>
              <a:gs pos="30000">
                <a:srgbClr val="2A446F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A464DE02-903A-6800-6755-54FB85E0D2B7}"/>
              </a:ext>
            </a:extLst>
          </p:cNvPr>
          <p:cNvGraphicFramePr>
            <a:graphicFrameLocks noGrp="1"/>
          </p:cNvGraphicFramePr>
          <p:nvPr/>
        </p:nvGraphicFramePr>
        <p:xfrm>
          <a:off x="583095" y="2304189"/>
          <a:ext cx="5511800" cy="1845149"/>
        </p:xfrm>
        <a:graphic>
          <a:graphicData uri="http://schemas.openxmlformats.org/drawingml/2006/table">
            <a:tbl>
              <a:tblPr firstRow="1" bandRow="1"/>
              <a:tblGrid>
                <a:gridCol w="3989588">
                  <a:extLst>
                    <a:ext uri="{9D8B030D-6E8A-4147-A177-3AD203B41FA5}">
                      <a16:colId xmlns:a16="http://schemas.microsoft.com/office/drawing/2014/main" val="4041653763"/>
                    </a:ext>
                  </a:extLst>
                </a:gridCol>
                <a:gridCol w="1522212">
                  <a:extLst>
                    <a:ext uri="{9D8B030D-6E8A-4147-A177-3AD203B41FA5}">
                      <a16:colId xmlns:a16="http://schemas.microsoft.com/office/drawing/2014/main" val="3053328036"/>
                    </a:ext>
                  </a:extLst>
                </a:gridCol>
              </a:tblGrid>
              <a:tr h="385443"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Segoe UI Semibold" panose="020B0502040204020203" pitchFamily="34" charset="0"/>
                          <a:ea typeface="+mn-ea"/>
                          <a:cs typeface="Segoe UI Semibold" panose="020B0502040204020203" pitchFamily="34" charset="0"/>
                        </a:rPr>
                        <a:t>Study area</a:t>
                      </a:r>
                    </a:p>
                  </a:txBody>
                  <a:tcPr marL="274320" marR="2743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Segoe UI Semibold" panose="020B0502040204020203" pitchFamily="34" charset="0"/>
                          <a:ea typeface="+mn-ea"/>
                          <a:cs typeface="Segoe UI Semibold" panose="020B0502040204020203" pitchFamily="34" charset="0"/>
                        </a:rPr>
                        <a:t>Percentage</a:t>
                      </a:r>
                    </a:p>
                  </a:txBody>
                  <a:tcPr marL="274320" marR="2743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888734"/>
                  </a:ext>
                </a:extLst>
              </a:tr>
              <a:tr h="491649"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Segoe UI Semibold" panose="020B0502040204020203" pitchFamily="34" charset="0"/>
                        </a:rPr>
                        <a:t>Describe cloud concepts</a:t>
                      </a:r>
                    </a:p>
                  </a:txBody>
                  <a:tcPr marL="274320" marR="2743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Segoe UI Semibold" panose="020B0502040204020203" pitchFamily="34" charset="0"/>
                        </a:rPr>
                        <a:t>25-30%</a:t>
                      </a:r>
                    </a:p>
                  </a:txBody>
                  <a:tcPr marL="274320" marR="274320" marT="330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015222"/>
                  </a:ext>
                </a:extLst>
              </a:tr>
              <a:tr h="510901">
                <a:tc>
                  <a:txBody>
                    <a:bodyPr/>
                    <a:lstStyle>
                      <a:lvl1pPr marL="0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466371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932742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399113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1865484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233185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2798226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3264597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3730969" algn="l" defTabSz="932742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Segoe UI Semibold" panose="020B0502040204020203" pitchFamily="34" charset="0"/>
                        </a:rPr>
                        <a:t>Describe Azure architecture and services</a:t>
                      </a:r>
                    </a:p>
                  </a:txBody>
                  <a:tcPr marL="274320" marR="2743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Segoe UI Semibold" panose="020B0502040204020203" pitchFamily="34" charset="0"/>
                        </a:rPr>
                        <a:t>35-40%</a:t>
                      </a:r>
                    </a:p>
                  </a:txBody>
                  <a:tcPr marL="274320" marR="274320" marT="330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540036"/>
                  </a:ext>
                </a:extLst>
              </a:tr>
              <a:tr h="457156">
                <a:tc>
                  <a:txBody>
                    <a:bodyPr/>
                    <a:lstStyle/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Segoe UI Semibold" panose="020B0502040204020203" pitchFamily="34" charset="0"/>
                        </a:rPr>
                        <a:t>Describe Azure management and governance</a:t>
                      </a:r>
                    </a:p>
                  </a:txBody>
                  <a:tcPr marL="274320" marR="2743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Segoe UI Semibold" panose="020B0502040204020203" pitchFamily="34" charset="0"/>
                        </a:rPr>
                        <a:t>30-35%</a:t>
                      </a:r>
                    </a:p>
                  </a:txBody>
                  <a:tcPr marL="274320" marR="274320" marT="330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717511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C07FD58F-F1B5-3570-6A96-B28EABD16FF9}"/>
              </a:ext>
            </a:extLst>
          </p:cNvPr>
          <p:cNvSpPr txBox="1"/>
          <p:nvPr/>
        </p:nvSpPr>
        <p:spPr>
          <a:xfrm>
            <a:off x="6891338" y="1959331"/>
            <a:ext cx="324694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A446F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rPr>
              <a:t>Build confidence in your skills</a:t>
            </a:r>
          </a:p>
        </p:txBody>
      </p:sp>
      <p:sp>
        <p:nvSpPr>
          <p:cNvPr id="10" name="Rounded Rectangle 3_1">
            <a:extLst>
              <a:ext uri="{FF2B5EF4-FFF2-40B4-BE49-F238E27FC236}">
                <a16:creationId xmlns:a16="http://schemas.microsoft.com/office/drawing/2014/main" id="{E6ED93DF-B06D-56D2-2BAC-AC6AABBC7E78}"/>
              </a:ext>
            </a:extLst>
          </p:cNvPr>
          <p:cNvSpPr/>
          <p:nvPr/>
        </p:nvSpPr>
        <p:spPr>
          <a:xfrm>
            <a:off x="6634690" y="2283868"/>
            <a:ext cx="4956753" cy="3423913"/>
          </a:xfrm>
          <a:prstGeom prst="roundRect">
            <a:avLst>
              <a:gd name="adj" fmla="val 6425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I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the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exam page, find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resources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to help prepare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Watch exam prep videos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Review the exam study guide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Demo the exam experience with the exam sandbox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Take a practice assessment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7235727-61F5-8644-12E4-A21BDD9B7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89300" y="1737603"/>
            <a:ext cx="1110600" cy="1110600"/>
            <a:chOff x="9378893" y="2116300"/>
            <a:chExt cx="1110600" cy="11106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A57567-90BB-A9FB-D6B3-9AF8647B1FF4}"/>
                </a:ext>
              </a:extLst>
            </p:cNvPr>
            <p:cNvSpPr/>
            <p:nvPr/>
          </p:nvSpPr>
          <p:spPr>
            <a:xfrm>
              <a:off x="9378893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AFDA5BB2-FEEB-060D-2DAB-61E228CA5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7795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57C90FC-C3E7-0F4C-A80F-A3776B9374E2}"/>
              </a:ext>
            </a:extLst>
          </p:cNvPr>
          <p:cNvSpPr txBox="1"/>
          <p:nvPr/>
        </p:nvSpPr>
        <p:spPr>
          <a:xfrm>
            <a:off x="583095" y="5944102"/>
            <a:ext cx="11016238" cy="369332"/>
          </a:xfrm>
          <a:prstGeom prst="rect">
            <a:avLst/>
          </a:prstGeom>
          <a:noFill/>
        </p:spPr>
        <p:txBody>
          <a:bodyPr wrap="square" lIns="0" tIns="45720" rIns="91440" bIns="4572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sym typeface="Segoe UI Semibold"/>
              </a:rPr>
              <a:t>Percentages indicate the relative weight of each area on the exam.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sym typeface="Segoe UI Semibold"/>
              </a:rPr>
              <a:t>The higher the percentage, the more questions you are likely to see in that area.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D84B1C3C-263F-04A9-DF9B-1C9B8DA93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4969969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1CB59B-EF9E-4E47-BF33-B8075EB6C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15" y="3121223"/>
            <a:ext cx="5686955" cy="615553"/>
          </a:xfrm>
        </p:spPr>
        <p:txBody>
          <a:bodyPr/>
          <a:lstStyle/>
          <a:p>
            <a:r>
              <a:rPr lang="en-US" b="1" dirty="0"/>
              <a:t>Cloud Concepts</a:t>
            </a:r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8963EE6A-7DC5-CE7E-2AD5-B8FC6E3956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r>
              <a:rPr lang="en-US"/>
              <a:t>© Copyright Microsoft Corporation. All rights reserved.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85462E-AC6B-3006-FA4D-1CE744FBA4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8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C2C26-EFD2-E847-AEA7-5CEF245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8" y="3121223"/>
            <a:ext cx="6345239" cy="615553"/>
          </a:xfrm>
        </p:spPr>
        <p:txBody>
          <a:bodyPr/>
          <a:lstStyle/>
          <a:p>
            <a:r>
              <a:rPr lang="en-US" altLang="zh-CN" dirty="0"/>
              <a:t>Describe cloud computing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4F19A99-D578-971D-9CC6-20AE640E0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8175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2023429-03CD-84FB-ECA3-255619DD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cloud computing?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C0D0A01-4012-5610-2FC5-53EC2C1114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199" y="1386766"/>
            <a:ext cx="11011601" cy="615553"/>
          </a:xfrm>
        </p:spPr>
        <p:txBody>
          <a:bodyPr/>
          <a:lstStyle/>
          <a:p>
            <a:r>
              <a:rPr lang="en-US" sz="2000" b="1" dirty="0">
                <a:latin typeface="+mn-lt"/>
              </a:rPr>
              <a:t>Cloud computing </a:t>
            </a:r>
            <a:r>
              <a:rPr lang="en-US" sz="2000" dirty="0">
                <a:latin typeface="+mn-lt"/>
              </a:rPr>
              <a:t>is the delivery of computing services over the internet, enabling faster innovation, flexible resources, and economies of scale.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DB9271-8F2A-1A93-7584-0F057DD78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4199" y="2311427"/>
            <a:ext cx="11011601" cy="2667365"/>
          </a:xfrm>
          <a:prstGeom prst="rect">
            <a:avLst/>
          </a:prstGeom>
          <a:noFill/>
          <a:ln w="19050">
            <a:solidFill>
              <a:schemeClr val="accent4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 descr="Group of three icons representing the primary cloud computing services of Compute, Networking, and Storage.">
            <a:extLst>
              <a:ext uri="{FF2B5EF4-FFF2-40B4-BE49-F238E27FC236}">
                <a16:creationId xmlns:a16="http://schemas.microsoft.com/office/drawing/2014/main" id="{C05CDA2C-F177-4D7B-F45E-9D52F7BD61D6}"/>
              </a:ext>
            </a:extLst>
          </p:cNvPr>
          <p:cNvGrpSpPr/>
          <p:nvPr/>
        </p:nvGrpSpPr>
        <p:grpSpPr>
          <a:xfrm>
            <a:off x="2169517" y="2527550"/>
            <a:ext cx="7840965" cy="2235118"/>
            <a:chOff x="2169517" y="2527550"/>
            <a:chExt cx="7840965" cy="2235118"/>
          </a:xfrm>
        </p:grpSpPr>
        <p:pic>
          <p:nvPicPr>
            <p:cNvPr id="27" name="Picture 26" descr="Icon representing racks of servers for compute.">
              <a:extLst>
                <a:ext uri="{FF2B5EF4-FFF2-40B4-BE49-F238E27FC236}">
                  <a16:creationId xmlns:a16="http://schemas.microsoft.com/office/drawing/2014/main" id="{E069FACE-BAC3-3E36-041C-13939868A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69517" y="2529106"/>
              <a:ext cx="1660327" cy="1660327"/>
            </a:xfrm>
            <a:prstGeom prst="rect">
              <a:avLst/>
            </a:prstGeom>
          </p:spPr>
        </p:pic>
        <p:pic>
          <p:nvPicPr>
            <p:cNvPr id="25" name="Picture 24" descr="Bar graphic representing data being stored on cloud servers">
              <a:extLst>
                <a:ext uri="{FF2B5EF4-FFF2-40B4-BE49-F238E27FC236}">
                  <a16:creationId xmlns:a16="http://schemas.microsoft.com/office/drawing/2014/main" id="{2DFC2BF6-4973-7A1B-D107-B974D1A20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50154" y="2527550"/>
              <a:ext cx="1660328" cy="1663438"/>
            </a:xfrm>
            <a:prstGeom prst="rect">
              <a:avLst/>
            </a:prstGeom>
          </p:spPr>
        </p:pic>
        <p:pic>
          <p:nvPicPr>
            <p:cNvPr id="23" name="Picture 22" descr="Picture of two arrows showing data flowing on a network.">
              <a:extLst>
                <a:ext uri="{FF2B5EF4-FFF2-40B4-BE49-F238E27FC236}">
                  <a16:creationId xmlns:a16="http://schemas.microsoft.com/office/drawing/2014/main" id="{C919746F-3EAC-7C93-CBE3-FB1C19BF4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12814" y="2529106"/>
              <a:ext cx="1660327" cy="1660327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C9023A9-C852-CAA3-481D-C042C3EFA24A}"/>
                </a:ext>
              </a:extLst>
            </p:cNvPr>
            <p:cNvSpPr txBox="1"/>
            <p:nvPr/>
          </p:nvSpPr>
          <p:spPr>
            <a:xfrm>
              <a:off x="2372521" y="4430269"/>
              <a:ext cx="1254318" cy="3323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24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Compute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22442B-35DC-B065-3CF5-0BF4B61C7C2D}"/>
                </a:ext>
              </a:extLst>
            </p:cNvPr>
            <p:cNvSpPr txBox="1"/>
            <p:nvPr/>
          </p:nvSpPr>
          <p:spPr>
            <a:xfrm>
              <a:off x="8659117" y="4430269"/>
              <a:ext cx="1042401" cy="3323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24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Storage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B25832A-B99A-AB1B-4EEF-CD70EFF6D57B}"/>
                </a:ext>
              </a:extLst>
            </p:cNvPr>
            <p:cNvSpPr txBox="1"/>
            <p:nvPr/>
          </p:nvSpPr>
          <p:spPr>
            <a:xfrm>
              <a:off x="5348337" y="4430269"/>
              <a:ext cx="1589281" cy="3323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24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Networking</a:t>
              </a:r>
            </a:p>
          </p:txBody>
        </p:sp>
      </p:grp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A0617CE6-053F-B9F4-70C0-05558F94C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0292805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107B-9C8D-E0E4-10D6-02E35D83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shared responsibility model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6E269-78A2-BCA8-544D-E3A724E46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16" name="Picture 16" descr="Diagram showing how responsibility shifts from customer to cloud provider across On-Premises, IaaS, PaaS, and SaaS service model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493" y="1030301"/>
            <a:ext cx="8521014" cy="523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5559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67E9-DE24-BFC9-0344-C106894F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Cloud deployment models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CC68F2A-AD36-943D-8464-E530DA3D1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10" name="Picture 10" descr="Diagram showing four cloud deployment models with key characteristics for each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879" y="1030148"/>
            <a:ext cx="9320242" cy="524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6536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consumption-based model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Picture 5" descr="Diagram comparing traditional datacenter fixed capacity with cloud elastic scaling across five quarter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924" y="1008738"/>
            <a:ext cx="9188153" cy="526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5458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C2C26-EFD2-E847-AEA7-5CEF245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8" y="2813447"/>
            <a:ext cx="6345239" cy="1231106"/>
          </a:xfrm>
        </p:spPr>
        <p:txBody>
          <a:bodyPr/>
          <a:lstStyle/>
          <a:p>
            <a:r>
              <a:rPr lang="en-US" altLang="zh-CN" dirty="0"/>
              <a:t>Describe the benefits of using cloud services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4F19A99-D578-971D-9CC6-20AE640E0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8175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107B-9C8D-E0E4-10D6-02E35D83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availability and scalability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9E0DD5-C061-3069-4A50-A7F851DE92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High availability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231EE-E883-1CC8-6C4F-32999CCB31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1083374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Focus on maximum availability regardless of disruptions or events</a:t>
            </a:r>
          </a:p>
          <a:p>
            <a:r>
              <a:rPr lang="en-US"/>
              <a:t>Azure SLAs define uptime guarantees for each service</a:t>
            </a:r>
          </a:p>
          <a:p>
            <a:r>
              <a:rPr lang="en-US"/>
              <a:t>Architect solutions with high availability in mind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674FE2-CDBB-63B0-12BE-C44067D164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Scalability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2371E-04D4-122B-9090-3D41E9B24A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Adjust resources to match changing demand</a:t>
            </a:r>
          </a:p>
          <a:p>
            <a:r>
              <a:rPr lang="en-US"/>
              <a:t>Vertical scaling: increase or decrease CPU/RAM of existing resources</a:t>
            </a:r>
          </a:p>
          <a:p>
            <a:r>
              <a:rPr lang="en-US"/>
              <a:t>Horizontal scaling: add or subtract the number of resources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6E269-78A2-BCA8-544D-E3A724E46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205559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107B-9C8D-E0E4-10D6-02E35D83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Reliability and predictability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9E0DD5-C061-3069-4A50-A7F851DE92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Reliability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231EE-E883-1CC8-6C4F-32999CCB31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1083374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Ability of a system to recover from failures and continue to function</a:t>
            </a:r>
          </a:p>
          <a:p>
            <a:r>
              <a:rPr lang="en-US"/>
              <a:t>Part of the Microsoft Azure Well-Architected Framework</a:t>
            </a:r>
          </a:p>
          <a:p>
            <a:r>
              <a:rPr lang="en-US"/>
              <a:t>Decentralized design enables deployment in regions around the world</a:t>
            </a:r>
          </a:p>
          <a:p>
            <a:r>
              <a:rPr lang="en-US"/>
              <a:t>Automatic failover to a different region in the event of catastrophe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674FE2-CDBB-63B0-12BE-C44067D164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Predictability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2371E-04D4-122B-9090-3D41E9B24A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Performance predictability: predict resources needed for a good experience</a:t>
            </a:r>
          </a:p>
          <a:p>
            <a:r>
              <a:rPr lang="en-US"/>
              <a:t>Cost predictability: predict or forecast the cost of cloud spend</a:t>
            </a:r>
          </a:p>
          <a:p>
            <a:r>
              <a:rPr lang="en-US"/>
              <a:t>Azure Pricing Calculator helps estimate cloud cost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6E269-78A2-BCA8-544D-E3A724E46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205559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and governance in the cloud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Picture 5" descr="Diagram showing layered cloud security and governance with governance templates, compliance auditing, and built-in security protections."/>
          <p:cNvPicPr>
            <a:picLocks noChangeAspect="1"/>
          </p:cNvPicPr>
          <p:nvPr/>
        </p:nvPicPr>
        <p:blipFill>
          <a:blip r:embed="rId3"/>
          <a:srcRect t="10206"/>
          <a:stretch>
            <a:fillRect/>
          </a:stretch>
        </p:blipFill>
        <p:spPr>
          <a:xfrm>
            <a:off x="264401" y="1203767"/>
            <a:ext cx="11663198" cy="436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5458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107B-9C8D-E0E4-10D6-02E35D83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Manageability in the cloud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9E0DD5-C061-3069-4A50-A7F851DE92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Management of the cloud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231EE-E883-1CC8-6C4F-32999CCB31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1083374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Automatically scale resource deployment based on need</a:t>
            </a:r>
          </a:p>
          <a:p>
            <a:r>
              <a:rPr lang="en-US"/>
              <a:t>Deploy resources based on preconfigured templates</a:t>
            </a:r>
          </a:p>
          <a:p>
            <a:r>
              <a:rPr lang="en-US"/>
              <a:t>Monitor the health of resources and automatically replace failures</a:t>
            </a:r>
          </a:p>
          <a:p>
            <a:r>
              <a:rPr lang="en-US"/>
              <a:t>Receive automatic alerts based on configured metrics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674FE2-CDBB-63B0-12BE-C44067D164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Management in the cloud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2371E-04D4-122B-9090-3D41E9B24A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Through a web portal</a:t>
            </a:r>
          </a:p>
          <a:p>
            <a:r>
              <a:rPr lang="en-US"/>
              <a:t>Using a command-line interface (CLI)</a:t>
            </a:r>
          </a:p>
          <a:p>
            <a:r>
              <a:rPr lang="en-US"/>
              <a:t>Using APIs</a:t>
            </a:r>
          </a:p>
          <a:p>
            <a:r>
              <a:rPr lang="en-US"/>
              <a:t>Using PowerShell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6E269-78A2-BCA8-544D-E3A724E46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205559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Sustainability in the cloud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Picture 5" descr="Diagram showing the sustainability optimization cycle: right-size, automate, optimize, and monitor."/>
          <p:cNvPicPr>
            <a:picLocks noChangeAspect="1"/>
          </p:cNvPicPr>
          <p:nvPr/>
        </p:nvPicPr>
        <p:blipFill>
          <a:blip r:embed="rId3"/>
          <a:srcRect t="10727"/>
          <a:stretch>
            <a:fillRect/>
          </a:stretch>
        </p:blipFill>
        <p:spPr>
          <a:xfrm>
            <a:off x="2867672" y="892993"/>
            <a:ext cx="6456657" cy="537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5458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C2C26-EFD2-E847-AEA7-5CEF245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8" y="2813447"/>
            <a:ext cx="6345239" cy="615553"/>
          </a:xfrm>
        </p:spPr>
        <p:txBody>
          <a:bodyPr/>
          <a:lstStyle/>
          <a:p>
            <a:r>
              <a:rPr lang="en-US" altLang="zh-CN" dirty="0"/>
              <a:t>Describe cloud service types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4F19A99-D578-971D-9CC6-20AE640E0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8175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67E9-DE24-BFC9-0344-C106894F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Cloud service types comparison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CC68F2A-AD36-943D-8464-E530DA3D1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10" name="Picture 10" descr="Diagram comparing IaaS, PaaS, and SaaS responsibility stacks showing which layers are managed by the customer versus the cloud provider."/>
          <p:cNvPicPr>
            <a:picLocks noChangeAspect="1"/>
          </p:cNvPicPr>
          <p:nvPr/>
        </p:nvPicPr>
        <p:blipFill>
          <a:blip r:embed="rId3"/>
          <a:srcRect t="7672"/>
          <a:stretch>
            <a:fillRect/>
          </a:stretch>
        </p:blipFill>
        <p:spPr>
          <a:xfrm>
            <a:off x="1074951" y="1025230"/>
            <a:ext cx="10042099" cy="526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6536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Infrastructure as a service (IaaS)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Picture 5" descr="Diagram showing IaaS responsibility split with customer managing OS through applications and provider managing physical infrastructure."/>
          <p:cNvPicPr>
            <a:picLocks noChangeAspect="1"/>
          </p:cNvPicPr>
          <p:nvPr/>
        </p:nvPicPr>
        <p:blipFill>
          <a:blip r:embed="rId3"/>
          <a:srcRect t="9335"/>
          <a:stretch>
            <a:fillRect/>
          </a:stretch>
        </p:blipFill>
        <p:spPr>
          <a:xfrm>
            <a:off x="198267" y="1206253"/>
            <a:ext cx="11795467" cy="490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5458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Platform as a service (PaaS)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Picture 5" descr="Diagram showing PaaS responsibility split with customer managing applications and data and provider managing the platform and infrastructure."/>
          <p:cNvPicPr>
            <a:picLocks noChangeAspect="1"/>
          </p:cNvPicPr>
          <p:nvPr/>
        </p:nvPicPr>
        <p:blipFill>
          <a:blip r:embed="rId3"/>
          <a:srcRect t="8713"/>
          <a:stretch>
            <a:fillRect/>
          </a:stretch>
        </p:blipFill>
        <p:spPr>
          <a:xfrm>
            <a:off x="266123" y="1034886"/>
            <a:ext cx="11659755" cy="487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5458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as a service (SaaS)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Picture 5" descr="Diagram showing SaaS responsibility split with customer managing data and access and provider managing everything else."/>
          <p:cNvPicPr>
            <a:picLocks noChangeAspect="1"/>
          </p:cNvPicPr>
          <p:nvPr/>
        </p:nvPicPr>
        <p:blipFill>
          <a:blip r:embed="rId3"/>
          <a:srcRect t="8530"/>
          <a:stretch>
            <a:fillRect/>
          </a:stretch>
        </p:blipFill>
        <p:spPr>
          <a:xfrm>
            <a:off x="303770" y="1196931"/>
            <a:ext cx="11584460" cy="485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5458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1CB59B-EF9E-4E47-BF33-B8075EB6C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8" y="2306479"/>
            <a:ext cx="5686955" cy="1846659"/>
          </a:xfrm>
        </p:spPr>
        <p:txBody>
          <a:bodyPr/>
          <a:lstStyle/>
          <a:p>
            <a:br>
              <a:rPr lang="en-US" b="1" dirty="0">
                <a:latin typeface="Segoe UI" panose="020B0502040204020203" pitchFamily="34" charset="0"/>
              </a:rPr>
            </a:br>
            <a:r>
              <a:rPr lang="en-US" b="1" dirty="0">
                <a:latin typeface="Segoe UI" panose="020B0502040204020203" pitchFamily="34" charset="0"/>
              </a:rPr>
              <a:t>Azure architecture and services</a:t>
            </a:r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8963EE6A-7DC5-CE7E-2AD5-B8FC6E3956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85462E-AC6B-3006-FA4D-1CE744FBA4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7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C2C26-EFD2-E847-AEA7-5CEF245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3384610"/>
            <a:ext cx="6345239" cy="615553"/>
          </a:xfrm>
        </p:spPr>
        <p:txBody>
          <a:bodyPr/>
          <a:lstStyle/>
          <a:p>
            <a:r>
              <a:rPr lang="en-US"/>
              <a:t>Describe the core architectural components of Azure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4F19A99-D578-971D-9CC6-20AE640E0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3274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Microsoft Azure?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51.png" descr="Diagram showing ten Azure service categories: Compute, Networking, Storage, Databases, AI + ML, Identity + Security, DevOps + Management, IoT, Analytics, and Integ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63" y="1017957"/>
            <a:ext cx="11013474" cy="513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83880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 started with Azure accounts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52.png" descr="Diagram showing four Azure account scope levels: an Azure Account connects to subscriptions, each containing resource grou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657" y="1029200"/>
            <a:ext cx="8156686" cy="524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75144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physical infrastructure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53.png" descr="Diagram showing three physically separate availability zones within an Azure reg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19" y="1069387"/>
            <a:ext cx="10520362" cy="526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87803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management infrastructure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54.png" descr="Diagram showing a management group hierarchy from Tenant Root Group down to subscriptions, resource groups, and resources"/>
          <p:cNvPicPr>
            <a:picLocks noChangeAspect="1"/>
          </p:cNvPicPr>
          <p:nvPr/>
        </p:nvPicPr>
        <p:blipFill>
          <a:blip r:embed="rId3"/>
          <a:srcRect t="7985"/>
          <a:stretch>
            <a:fillRect/>
          </a:stretch>
        </p:blipFill>
        <p:spPr>
          <a:xfrm>
            <a:off x="1335378" y="1028700"/>
            <a:ext cx="9521244" cy="531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3486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C2C26-EFD2-E847-AEA7-5CEF245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3384610"/>
            <a:ext cx="6345239" cy="615553"/>
          </a:xfrm>
        </p:spPr>
        <p:txBody>
          <a:bodyPr/>
          <a:lstStyle/>
          <a:p>
            <a:r>
              <a:rPr lang="en-US"/>
              <a:t>Describe Azure compute services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4F19A99-D578-971D-9CC6-20AE640E0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1272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B7E3C-A3C4-6A2D-335F-3AB37358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2BE6F3-44FD-C19F-8D03-EAF681F6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Decoding Azure Virtual Machine names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97AB52-C278-0A61-42E1-D3DBC2FA9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8" name="Picture 7" descr="Diagram showing how to read Azure virtual machine naming conventions.">
            <a:extLst>
              <a:ext uri="{FF2B5EF4-FFF2-40B4-BE49-F238E27FC236}">
                <a16:creationId xmlns:a16="http://schemas.microsoft.com/office/drawing/2014/main" id="{04CF6D3D-BA66-B4B7-6F17-44A498FDB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38" y="1070256"/>
            <a:ext cx="10993824" cy="25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99415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Virtual Machines families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55.png" descr="Diagram depicting Azure VM famil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38" y="1197631"/>
            <a:ext cx="11013474" cy="259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4332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Virtual Desktop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56.png" descr="Diagram showing users connecting through Microsoft Entra ID to a host pool"/>
          <p:cNvPicPr>
            <a:picLocks noChangeAspect="1"/>
          </p:cNvPicPr>
          <p:nvPr/>
        </p:nvPicPr>
        <p:blipFill>
          <a:blip r:embed="rId3"/>
          <a:srcRect t="18918" b="18793"/>
          <a:stretch>
            <a:fillRect/>
          </a:stretch>
        </p:blipFill>
        <p:spPr>
          <a:xfrm>
            <a:off x="621374" y="1451429"/>
            <a:ext cx="10949253" cy="404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959984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container services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57.png" descr="Diagram showing Azure containers from faster start to deeper orchestration"/>
          <p:cNvPicPr>
            <a:picLocks noChangeAspect="1"/>
          </p:cNvPicPr>
          <p:nvPr/>
        </p:nvPicPr>
        <p:blipFill>
          <a:blip r:embed="rId3"/>
          <a:srcRect t="21947" b="8822"/>
          <a:stretch>
            <a:fillRect/>
          </a:stretch>
        </p:blipFill>
        <p:spPr>
          <a:xfrm>
            <a:off x="575098" y="1241336"/>
            <a:ext cx="11041804" cy="473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477922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Functions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58.png" descr="Diagram showing event triggers activating the function runtime, which routes results to outputs"/>
          <p:cNvPicPr>
            <a:picLocks noChangeAspect="1"/>
          </p:cNvPicPr>
          <p:nvPr/>
        </p:nvPicPr>
        <p:blipFill>
          <a:blip r:embed="rId3"/>
          <a:srcRect t="14184" b="22366"/>
          <a:stretch>
            <a:fillRect/>
          </a:stretch>
        </p:blipFill>
        <p:spPr>
          <a:xfrm>
            <a:off x="553619" y="986972"/>
            <a:ext cx="11084763" cy="431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42557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AI, machine learning, and IoT and Edge services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59.png" descr="Decision triad: AI services, Azure ML, and IoT services"/>
          <p:cNvPicPr>
            <a:picLocks noChangeAspect="1"/>
          </p:cNvPicPr>
          <p:nvPr/>
        </p:nvPicPr>
        <p:blipFill>
          <a:blip r:embed="rId3"/>
          <a:srcRect t="10775" b="12896"/>
          <a:stretch>
            <a:fillRect/>
          </a:stretch>
        </p:blipFill>
        <p:spPr>
          <a:xfrm>
            <a:off x="1803617" y="965563"/>
            <a:ext cx="8584766" cy="5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7139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hosting options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60.png" descr="Diagram showing hosting spectrum from VMs to containers to App Service"/>
          <p:cNvPicPr>
            <a:picLocks noChangeAspect="1"/>
          </p:cNvPicPr>
          <p:nvPr/>
        </p:nvPicPr>
        <p:blipFill>
          <a:blip r:embed="rId3"/>
          <a:srcRect l="4360" t="9637" r="5004" b="9777"/>
          <a:stretch>
            <a:fillRect/>
          </a:stretch>
        </p:blipFill>
        <p:spPr>
          <a:xfrm>
            <a:off x="1107107" y="1030514"/>
            <a:ext cx="9977786" cy="524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55055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C2C26-EFD2-E847-AEA7-5CEF245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3384610"/>
            <a:ext cx="6345239" cy="615553"/>
          </a:xfrm>
        </p:spPr>
        <p:txBody>
          <a:bodyPr/>
          <a:lstStyle/>
          <a:p>
            <a:r>
              <a:rPr lang="en-US"/>
              <a:t>Describe Azure networking services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4F19A99-D578-971D-9CC6-20AE640E0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352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virtual networks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5D1DB-501A-584F-84BD-B088CB1330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2936188"/>
          </a:xfrm>
        </p:spPr>
        <p:txBody>
          <a:bodyPr/>
          <a:lstStyle/>
          <a:p>
            <a:r>
              <a:rPr lang="en-US" sz="1800" dirty="0" err="1"/>
              <a:t>VNets</a:t>
            </a:r>
            <a:r>
              <a:rPr lang="en-US" sz="1800" dirty="0"/>
              <a:t> provide isolation, segmentation, internet and cross-network connectivity</a:t>
            </a:r>
          </a:p>
          <a:p>
            <a:endParaRPr lang="en-US" sz="1800" dirty="0"/>
          </a:p>
          <a:p>
            <a:r>
              <a:rPr lang="en-US" sz="1800" dirty="0"/>
              <a:t>Public endpoints have public IPs; private endpoints use IPs within the </a:t>
            </a:r>
            <a:r>
              <a:rPr lang="en-US" sz="1800" dirty="0" err="1"/>
              <a:t>VNet</a:t>
            </a:r>
            <a:r>
              <a:rPr lang="en-US" sz="1800" dirty="0"/>
              <a:t> address space</a:t>
            </a:r>
          </a:p>
          <a:p>
            <a:endParaRPr lang="en-US" sz="1800" dirty="0"/>
          </a:p>
          <a:p>
            <a:r>
              <a:rPr lang="en-US" sz="1800" dirty="0"/>
              <a:t>Network Security Groups (NSGs) filter traffic with inbound/outbound rules by IP, port, and protocol</a:t>
            </a:r>
          </a:p>
          <a:p>
            <a:endParaRPr lang="en-US" sz="1800" dirty="0"/>
          </a:p>
          <a:p>
            <a:r>
              <a:rPr lang="en-US" sz="1800" dirty="0" err="1"/>
              <a:t>VNet</a:t>
            </a:r>
            <a:r>
              <a:rPr lang="en-US" sz="1800" dirty="0"/>
              <a:t> peering connects </a:t>
            </a:r>
            <a:r>
              <a:rPr lang="en-US" sz="1800" dirty="0" err="1"/>
              <a:t>VNets</a:t>
            </a:r>
            <a:r>
              <a:rPr lang="en-US" sz="1800" dirty="0"/>
              <a:t> (even cross-region) over the Microsoft private backbone</a:t>
            </a:r>
          </a:p>
          <a:p>
            <a:endParaRPr lang="en-US" sz="1800" dirty="0"/>
          </a:p>
          <a:p>
            <a:r>
              <a:rPr lang="en-US" sz="1800" dirty="0"/>
              <a:t>On-premises connectivity: point-to-site VPN, site-to-site VPN, and Azure ExpressRoute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33870609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VPN Gateway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62.png" descr="Diagram comparing point-to-site, site-to-site, and network-to-network VPN connectivity mode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07" y="1004913"/>
            <a:ext cx="11209986" cy="455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25100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ExpressRoute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63.png" descr="Diagram showing ExpressRoute providing a private connection from on-premises to Microsoft clou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76" y="952500"/>
            <a:ext cx="11293248" cy="364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65076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DNS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64.png" descr="Diagram showing a DNS query routed to the closest Azure DNS server through anycast network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9" y="1048457"/>
            <a:ext cx="11206162" cy="373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68732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C2C26-EFD2-E847-AEA7-5CEF245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3384610"/>
            <a:ext cx="6345239" cy="615553"/>
          </a:xfrm>
        </p:spPr>
        <p:txBody>
          <a:bodyPr/>
          <a:lstStyle/>
          <a:p>
            <a:r>
              <a:rPr lang="en-US"/>
              <a:t>Describe Azure storage services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4F19A99-D578-971D-9CC6-20AE640E0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5990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storage accounts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65.png" descr="Diagram showing the layered anatomy of an Azure Storage Accou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43" y="892992"/>
            <a:ext cx="10642514" cy="520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56024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storage redundancy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5D1DB-501A-584F-84BD-B088CB1330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2019014"/>
          </a:xfrm>
        </p:spPr>
        <p:txBody>
          <a:bodyPr/>
          <a:lstStyle/>
          <a:p>
            <a:r>
              <a:rPr lang="en-US" dirty="0"/>
              <a:t>LRS replicates data 3x in a single datacenter (11 nines durability); lowest cost</a:t>
            </a:r>
          </a:p>
          <a:p>
            <a:endParaRPr lang="en-US" dirty="0"/>
          </a:p>
          <a:p>
            <a:r>
              <a:rPr lang="en-US" dirty="0"/>
              <a:t>ZRS replicates across 3 availability zones in the primary region (12 nines durability)</a:t>
            </a:r>
          </a:p>
          <a:p>
            <a:endParaRPr lang="en-US" dirty="0"/>
          </a:p>
          <a:p>
            <a:r>
              <a:rPr lang="en-US" dirty="0"/>
              <a:t>GRS uses LRS in both primary and secondary regions (16 nines durability)</a:t>
            </a:r>
          </a:p>
          <a:p>
            <a:endParaRPr lang="en-US" dirty="0"/>
          </a:p>
          <a:p>
            <a:r>
              <a:rPr lang="en-US" dirty="0"/>
              <a:t>RA-GRS and RA-GZRS enable read access to secondary region data before failover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32664907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storage services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67.png" descr="Diagram showing five Azure Storage services: Blobs, Files, Queues, Disks, and Tab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88" y="1260277"/>
            <a:ext cx="11284424" cy="388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31119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data migration options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68.png" descr="Diagram comparing Azure Migrate for online migration and Azure Data Box for offline bulk transfer"/>
          <p:cNvPicPr>
            <a:picLocks noChangeAspect="1"/>
          </p:cNvPicPr>
          <p:nvPr/>
        </p:nvPicPr>
        <p:blipFill>
          <a:blip r:embed="rId3"/>
          <a:srcRect t="14065"/>
          <a:stretch>
            <a:fillRect/>
          </a:stretch>
        </p:blipFill>
        <p:spPr>
          <a:xfrm>
            <a:off x="340520" y="1261820"/>
            <a:ext cx="11510961" cy="373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954924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file movement options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69.png" descr="Diagram comparing three Azure file movement tools: AzCopy, Storage Explorer, and Azure File Syn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17" y="1004914"/>
            <a:ext cx="11226367" cy="46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72930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C2C26-EFD2-E847-AEA7-5CEF245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3384610"/>
            <a:ext cx="6345239" cy="615553"/>
          </a:xfrm>
        </p:spPr>
        <p:txBody>
          <a:bodyPr/>
          <a:lstStyle/>
          <a:p>
            <a:r>
              <a:rPr lang="en-US"/>
              <a:t>Describe Azure identity, access, and security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4F19A99-D578-971D-9CC6-20AE640E0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4117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Microsoft Entra ID and Domain Services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70.png" descr="Diagram showing Microsoft Entra ID with spokes: Authentication, SSO, App Management, Device Manage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046" y="995571"/>
            <a:ext cx="8221909" cy="529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269042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Authentication methods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71.png" descr="Diagram comparing Password Only, MFA, and Passwordless methods across security and conveni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807" y="1066599"/>
            <a:ext cx="9542386" cy="519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7025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External identities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72.png" descr="Diagram showing three External ID capabilities: B2B Collaboration, B2B Direct Connect, and External ID for Custom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990401"/>
            <a:ext cx="9144000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57091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Conditional Access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73.png" descr="Diagram showing the conditional access pipeline: signals evaluated, then enforc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" y="929279"/>
            <a:ext cx="11191648" cy="547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79282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Role-based access control (RBAC)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74.png" descr="Azure RBAC scope hierarchy from Management Group to Resource with inheritance arrow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205" y="892992"/>
            <a:ext cx="10117591" cy="539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332894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Zero Trust model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75.png" descr="Diagram showing three Zero Trust guiding principles: Verify explicitly, Use least privilege, Assume brea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88" y="1168765"/>
            <a:ext cx="11284424" cy="426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61242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Defense in depth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76.png" descr="Diagram showing seven defense-in-depth layers from Physical Security to Data"/>
          <p:cNvPicPr>
            <a:picLocks noChangeAspect="1"/>
          </p:cNvPicPr>
          <p:nvPr/>
        </p:nvPicPr>
        <p:blipFill>
          <a:blip r:embed="rId3"/>
          <a:srcRect t="9040"/>
          <a:stretch>
            <a:fillRect/>
          </a:stretch>
        </p:blipFill>
        <p:spPr>
          <a:xfrm>
            <a:off x="946672" y="943430"/>
            <a:ext cx="10298657" cy="541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930380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EABFD-F7F5-2143-8D2A-3F8376CF2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A6EEDF-FE8F-01D5-DE0D-56D4F6F31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852" y="985556"/>
            <a:ext cx="10142583" cy="430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96249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Encryption and key management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77.png" descr="Diagram showing encryption at rest and in transit with Azure Key Vault"/>
          <p:cNvPicPr>
            <a:picLocks noChangeAspect="1"/>
          </p:cNvPicPr>
          <p:nvPr/>
        </p:nvPicPr>
        <p:blipFill>
          <a:blip r:embed="rId3"/>
          <a:srcRect t="10091"/>
          <a:stretch>
            <a:fillRect/>
          </a:stretch>
        </p:blipFill>
        <p:spPr>
          <a:xfrm>
            <a:off x="700347" y="892993"/>
            <a:ext cx="10791307" cy="539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87104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Microsoft Defender for Cloud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1001" name="image78.png" descr="Diagram showing three pillars of Defender for Cloud: Continuously Assess, Secure, and Defend"/>
          <p:cNvPicPr>
            <a:picLocks noChangeAspect="1"/>
          </p:cNvPicPr>
          <p:nvPr/>
        </p:nvPicPr>
        <p:blipFill>
          <a:blip r:embed="rId3"/>
          <a:srcRect t="9486"/>
          <a:stretch>
            <a:fillRect/>
          </a:stretch>
        </p:blipFill>
        <p:spPr>
          <a:xfrm>
            <a:off x="523856" y="892992"/>
            <a:ext cx="11144289" cy="537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513994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1CB59B-EF9E-4E47-BF33-B8075EB6C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8" y="2813447"/>
            <a:ext cx="5686955" cy="1231106"/>
          </a:xfrm>
        </p:spPr>
        <p:txBody>
          <a:bodyPr/>
          <a:lstStyle/>
          <a:p>
            <a:r>
              <a:rPr lang="en-US" b="1" dirty="0"/>
              <a:t>Management and governance</a:t>
            </a:r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8963EE6A-7DC5-CE7E-2AD5-B8FC6E3956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85462E-AC6B-3006-FA4D-1CE744FBA4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1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C2C26-EFD2-E847-AEA7-5CEF245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3384610"/>
            <a:ext cx="6345239" cy="615553"/>
          </a:xfrm>
        </p:spPr>
        <p:txBody>
          <a:bodyPr/>
          <a:lstStyle/>
          <a:p>
            <a:r>
              <a:rPr lang="en-US"/>
              <a:t>Describe cost management in Azure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4F19A99-D578-971D-9CC6-20AE640E0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6567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Factors that affect costs in Azure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90051" name="Picture 51" descr="Diagram showing six factors that affect Azure costs: resource type, consumption, maintenance, geography, subscription type, and Azure Marketplace"/>
          <p:cNvPicPr>
            <a:picLocks noChangeAspect="1"/>
          </p:cNvPicPr>
          <p:nvPr/>
        </p:nvPicPr>
        <p:blipFill>
          <a:blip r:embed="rId3"/>
          <a:srcRect t="13892" b="2329"/>
          <a:stretch>
            <a:fillRect/>
          </a:stretch>
        </p:blipFill>
        <p:spPr>
          <a:xfrm>
            <a:off x="1033814" y="971550"/>
            <a:ext cx="10124373" cy="530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634676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60936-D3D4-DE23-7C2B-CC47565C20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02EBB7-23C3-F39E-4C5D-A59709EA1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58" y="1039430"/>
            <a:ext cx="11718882" cy="433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28247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Pricing calculator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5D1DB-501A-584F-84BD-B088CB1330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3600986"/>
          </a:xfrm>
        </p:spPr>
        <p:txBody>
          <a:bodyPr/>
          <a:lstStyle/>
          <a:p>
            <a:r>
              <a:rPr lang="en-US" sz="1800" dirty="0"/>
              <a:t>Estimate costs before provisioning resources in Azure</a:t>
            </a:r>
          </a:p>
          <a:p>
            <a:endParaRPr lang="en-US" sz="1800" dirty="0"/>
          </a:p>
          <a:p>
            <a:r>
              <a:rPr lang="en-US" sz="1800" dirty="0"/>
              <a:t>Build configurations for individual resources or full solutions</a:t>
            </a:r>
          </a:p>
          <a:p>
            <a:endParaRPr lang="en-US" sz="1800" dirty="0"/>
          </a:p>
          <a:p>
            <a:r>
              <a:rPr lang="en-US" sz="1800" dirty="0"/>
              <a:t>Compare estimates across regions, tiers, and redundancy options</a:t>
            </a:r>
          </a:p>
          <a:p>
            <a:endParaRPr lang="en-US" sz="1800" dirty="0"/>
          </a:p>
          <a:p>
            <a:r>
              <a:rPr lang="en-US" sz="1800" dirty="0"/>
              <a:t>Use estimates as a baseline for budget approval</a:t>
            </a:r>
          </a:p>
          <a:p>
            <a:endParaRPr lang="en-US" sz="1800" dirty="0"/>
          </a:p>
          <a:p>
            <a:r>
              <a:rPr lang="en-US" sz="1800" dirty="0"/>
              <a:t>Revisit when architecture changes to keep planned spend aligned</a:t>
            </a:r>
          </a:p>
          <a:p>
            <a:endParaRPr lang="en-US" sz="1800" dirty="0"/>
          </a:p>
          <a:p>
            <a:r>
              <a:rPr lang="en-US" sz="1800" dirty="0"/>
              <a:t>Information only: nothing is provisioned and no charges are incurred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85458599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Microsoft Cost Management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90053" name="Picture 53" descr="Diagram showing the three pillars of Cost Management: cost analysis, cost alerts, and budgets"/>
          <p:cNvPicPr>
            <a:picLocks noChangeAspect="1"/>
          </p:cNvPicPr>
          <p:nvPr/>
        </p:nvPicPr>
        <p:blipFill>
          <a:blip r:embed="rId3"/>
          <a:srcRect t="11222" b="13137"/>
          <a:stretch>
            <a:fillRect/>
          </a:stretch>
        </p:blipFill>
        <p:spPr>
          <a:xfrm>
            <a:off x="625026" y="892992"/>
            <a:ext cx="10941948" cy="537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82639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Purpose of resource tags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90054" name="Picture 54" descr="Diagram showing six resource tag use cases: resource management, cost management, operations, security, governance, and automation"/>
          <p:cNvPicPr>
            <a:picLocks noChangeAspect="1"/>
          </p:cNvPicPr>
          <p:nvPr/>
        </p:nvPicPr>
        <p:blipFill>
          <a:blip r:embed="rId3"/>
          <a:srcRect t="12571"/>
          <a:stretch>
            <a:fillRect/>
          </a:stretch>
        </p:blipFill>
        <p:spPr>
          <a:xfrm>
            <a:off x="835819" y="990600"/>
            <a:ext cx="10520362" cy="528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41650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Cost optimization options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5D1DB-501A-584F-84BD-B088CB1330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3213187"/>
          </a:xfrm>
        </p:spPr>
        <p:txBody>
          <a:bodyPr/>
          <a:lstStyle/>
          <a:p>
            <a:r>
              <a:rPr lang="en-US" sz="1800" dirty="0"/>
              <a:t>Reservations: commit to specific resources for 1 or 3 years at discounted pricing</a:t>
            </a:r>
          </a:p>
          <a:p>
            <a:endParaRPr lang="en-US" sz="1800" dirty="0"/>
          </a:p>
          <a:p>
            <a:r>
              <a:rPr lang="en-US" sz="1800" dirty="0"/>
              <a:t>Savings plan for compute: commit to hourly spend amount across eligible compute services</a:t>
            </a:r>
          </a:p>
          <a:p>
            <a:endParaRPr lang="en-US" sz="1800" dirty="0"/>
          </a:p>
          <a:p>
            <a:r>
              <a:rPr lang="en-US" sz="1800" dirty="0"/>
              <a:t>Spot Virtual Machines: use unused Azure capacity at reduced prices for interruptible workloads</a:t>
            </a:r>
          </a:p>
          <a:p>
            <a:endParaRPr lang="en-US" sz="1800" dirty="0"/>
          </a:p>
          <a:p>
            <a:r>
              <a:rPr lang="en-US" sz="1800" dirty="0"/>
              <a:t>Decision guide: Reservations for stable workloads, savings plans for flexible compute, Spot for fault-tolerant jobs</a:t>
            </a:r>
          </a:p>
          <a:p>
            <a:endParaRPr lang="en-US" sz="1800" dirty="0"/>
          </a:p>
          <a:p>
            <a:r>
              <a:rPr lang="en-US" sz="1800" dirty="0"/>
              <a:t>Review choices regularly as workload patterns change over time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06469448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C2C26-EFD2-E847-AEA7-5CEF245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3384610"/>
            <a:ext cx="6345239" cy="615553"/>
          </a:xfrm>
        </p:spPr>
        <p:txBody>
          <a:bodyPr/>
          <a:lstStyle/>
          <a:p>
            <a:r>
              <a:rPr lang="en-US"/>
              <a:t>Describe features and tools for governance and compliance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4F19A99-D578-971D-9CC6-20AE640E0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349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Microsoft Purview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90055" name="Picture 55" descr="Diagram showing Microsoft Purview processing data from multiple sources into risk and compliance and unified data governance solutions"/>
          <p:cNvPicPr>
            <a:picLocks noChangeAspect="1"/>
          </p:cNvPicPr>
          <p:nvPr/>
        </p:nvPicPr>
        <p:blipFill>
          <a:blip r:embed="rId3"/>
          <a:srcRect t="7010"/>
          <a:stretch>
            <a:fillRect/>
          </a:stretch>
        </p:blipFill>
        <p:spPr>
          <a:xfrm>
            <a:off x="3937000" y="215900"/>
            <a:ext cx="7983592" cy="61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59297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Policy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90056" name="Picture 56" descr="Diagram showing Azure Policy flow from policy grouping through initiative assignment, scope inheritance, and resource evaluation"/>
          <p:cNvPicPr>
            <a:picLocks noChangeAspect="1"/>
          </p:cNvPicPr>
          <p:nvPr/>
        </p:nvPicPr>
        <p:blipFill>
          <a:blip r:embed="rId3"/>
          <a:srcRect t="5835"/>
          <a:stretch>
            <a:fillRect/>
          </a:stretch>
        </p:blipFill>
        <p:spPr>
          <a:xfrm>
            <a:off x="4248661" y="210221"/>
            <a:ext cx="7778239" cy="640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60209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 locks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90057" name="Picture 57" descr="Diagram showing the two resource lock types, Delete and ReadOnly, with their actions and inheritance behavior"/>
          <p:cNvPicPr>
            <a:picLocks noChangeAspect="1"/>
          </p:cNvPicPr>
          <p:nvPr/>
        </p:nvPicPr>
        <p:blipFill>
          <a:blip r:embed="rId3"/>
          <a:srcRect l="2899" t="10319" r="5010" b="6375"/>
          <a:stretch>
            <a:fillRect/>
          </a:stretch>
        </p:blipFill>
        <p:spPr>
          <a:xfrm>
            <a:off x="1526031" y="892992"/>
            <a:ext cx="9139938" cy="551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98073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 Trust Portal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5D1DB-501A-584F-84BD-B088CB1330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3600986"/>
          </a:xfrm>
        </p:spPr>
        <p:txBody>
          <a:bodyPr/>
          <a:lstStyle/>
          <a:p>
            <a:r>
              <a:rPr lang="en-US" sz="1800" dirty="0"/>
              <a:t>Portal for accessing Microsoft security, privacy, and compliance resources</a:t>
            </a:r>
          </a:p>
          <a:p>
            <a:endParaRPr lang="en-US" sz="1800" dirty="0"/>
          </a:p>
          <a:p>
            <a:r>
              <a:rPr lang="en-US" sz="1800" dirty="0"/>
              <a:t>Contains details about controls and processes that protect cloud services</a:t>
            </a:r>
          </a:p>
          <a:p>
            <a:endParaRPr lang="en-US" sz="1800" dirty="0"/>
          </a:p>
          <a:p>
            <a:r>
              <a:rPr lang="en-US" sz="1800" dirty="0"/>
              <a:t>Requires authentication with a Microsoft Entra work or school account</a:t>
            </a:r>
          </a:p>
          <a:p>
            <a:endParaRPr lang="en-US" sz="1800" dirty="0"/>
          </a:p>
          <a:p>
            <a:r>
              <a:rPr lang="en-US" sz="1800" dirty="0"/>
              <a:t>My Library: save and pin documents, set up notifications for updates</a:t>
            </a:r>
          </a:p>
          <a:p>
            <a:endParaRPr lang="en-US" sz="1800" dirty="0"/>
          </a:p>
          <a:p>
            <a:r>
              <a:rPr lang="en-US" sz="1800" dirty="0"/>
              <a:t>All Documents: single landing place for all available compliance documents</a:t>
            </a:r>
          </a:p>
          <a:p>
            <a:endParaRPr lang="en-US" sz="1800" dirty="0"/>
          </a:p>
          <a:p>
            <a:r>
              <a:rPr lang="en-US" sz="1800" dirty="0"/>
              <a:t>Reports and documents available for download for at least 12 months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33602991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C2C26-EFD2-E847-AEA7-5CEF245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3384610"/>
            <a:ext cx="6345239" cy="615553"/>
          </a:xfrm>
        </p:spPr>
        <p:txBody>
          <a:bodyPr/>
          <a:lstStyle/>
          <a:p>
            <a:r>
              <a:rPr lang="en-US"/>
              <a:t>Describe features and tools for managing and deploying Azure resources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4F19A99-D578-971D-9CC6-20AE640E0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29990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 for interacting with Azure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90059" name="Picture 59" descr="Diagram showing five Azure management tools: Azure portal, Cloud Shell, Azure PowerShell, Azure CLI, and Copilot in Azure"/>
          <p:cNvPicPr>
            <a:picLocks noChangeAspect="1"/>
          </p:cNvPicPr>
          <p:nvPr/>
        </p:nvPicPr>
        <p:blipFill>
          <a:blip r:embed="rId3"/>
          <a:srcRect t="15635"/>
          <a:stretch>
            <a:fillRect/>
          </a:stretch>
        </p:blipFill>
        <p:spPr>
          <a:xfrm>
            <a:off x="408935" y="1149966"/>
            <a:ext cx="11374130" cy="33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83065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Arc – Unified management across environments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90060" name="Picture 60" descr="Diagram showing Azure Arc extending unified management across Azure, on-premises, and multicloud environments"/>
          <p:cNvPicPr>
            <a:picLocks noChangeAspect="1"/>
          </p:cNvPicPr>
          <p:nvPr/>
        </p:nvPicPr>
        <p:blipFill>
          <a:blip r:embed="rId3"/>
          <a:srcRect l="2625" t="14258" r="2559" b="2825"/>
          <a:stretch>
            <a:fillRect/>
          </a:stretch>
        </p:blipFill>
        <p:spPr>
          <a:xfrm>
            <a:off x="416719" y="1174993"/>
            <a:ext cx="11358562" cy="422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80054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Resource Manager, ARM templates, and Bicep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90061" name="Picture 61" descr="Diagram showing the Azure Resource Manager request flow from management tools through authentication to Azure servic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55" y="1577159"/>
            <a:ext cx="11311491" cy="424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84075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C2C26-EFD2-E847-AEA7-5CEF245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3384610"/>
            <a:ext cx="6345239" cy="615553"/>
          </a:xfrm>
        </p:spPr>
        <p:txBody>
          <a:bodyPr/>
          <a:lstStyle/>
          <a:p>
            <a:r>
              <a:rPr lang="en-US"/>
              <a:t>Describe monitoring tools in Azure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4F19A99-D578-971D-9CC6-20AE640E0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8147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Advisor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5D1DB-501A-584F-84BD-B088CB1330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3600986"/>
          </a:xfrm>
        </p:spPr>
        <p:txBody>
          <a:bodyPr/>
          <a:lstStyle/>
          <a:p>
            <a:r>
              <a:rPr lang="en-US" sz="1800" dirty="0"/>
              <a:t>Evaluates Azure resources and makes personalized best-practice recommendations</a:t>
            </a:r>
          </a:p>
          <a:p>
            <a:endParaRPr lang="en-US" sz="1800" dirty="0"/>
          </a:p>
          <a:p>
            <a:r>
              <a:rPr lang="en-US" sz="1800" dirty="0"/>
              <a:t>Reliability: flags configuration risks to application availability</a:t>
            </a:r>
          </a:p>
          <a:p>
            <a:endParaRPr lang="en-US" sz="1800" dirty="0"/>
          </a:p>
          <a:p>
            <a:r>
              <a:rPr lang="en-US" sz="1800" dirty="0"/>
              <a:t>Security: detects threats and vulnerabilities that could lead to breaches</a:t>
            </a:r>
          </a:p>
          <a:p>
            <a:endParaRPr lang="en-US" sz="1800" dirty="0"/>
          </a:p>
          <a:p>
            <a:r>
              <a:rPr lang="en-US" sz="1800" dirty="0"/>
              <a:t>Performance: identifies changes that can speed up applications</a:t>
            </a:r>
          </a:p>
          <a:p>
            <a:endParaRPr lang="en-US" sz="1800" dirty="0"/>
          </a:p>
          <a:p>
            <a:r>
              <a:rPr lang="en-US" sz="1800" dirty="0"/>
              <a:t>Operational Excellence: suggests workflow and deployment improvements</a:t>
            </a:r>
          </a:p>
          <a:p>
            <a:endParaRPr lang="en-US" sz="1800" dirty="0"/>
          </a:p>
          <a:p>
            <a:r>
              <a:rPr lang="en-US" sz="1800" dirty="0"/>
              <a:t>Cost: finds ways to reduce Azure spending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24026408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Service Health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  <p:pic>
        <p:nvPicPr>
          <p:cNvPr id="90063" name="Picture 63" descr="Diagram showing three Azure Service Health views narrowing in scope: Azure Status, Service Health, and Resource Health"/>
          <p:cNvPicPr>
            <a:picLocks noChangeAspect="1"/>
          </p:cNvPicPr>
          <p:nvPr/>
        </p:nvPicPr>
        <p:blipFill>
          <a:blip r:embed="rId3"/>
          <a:srcRect l="2626" t="11020" r="2890" b="6047"/>
          <a:stretch>
            <a:fillRect/>
          </a:stretch>
        </p:blipFill>
        <p:spPr>
          <a:xfrm>
            <a:off x="472159" y="956492"/>
            <a:ext cx="11247683" cy="493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89156"/>
      </p:ext>
    </p:extLst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B6C3CF-032A-5BD7-5B3C-1B2CE536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Monitor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5D1DB-501A-584F-84BD-B088CB1330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3600986"/>
          </a:xfrm>
        </p:spPr>
        <p:txBody>
          <a:bodyPr/>
          <a:lstStyle/>
          <a:p>
            <a:r>
              <a:rPr lang="en-US" sz="1800" dirty="0"/>
              <a:t>Platform for collecting, analyzing, and acting on telemetry across Azure, on-premises, and </a:t>
            </a:r>
            <a:r>
              <a:rPr lang="en-US" sz="1800" dirty="0" err="1"/>
              <a:t>multicloud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Log Analytics: write and run queries against collected logs and metrics</a:t>
            </a:r>
          </a:p>
          <a:p>
            <a:endParaRPr lang="en-US" sz="1800" dirty="0"/>
          </a:p>
          <a:p>
            <a:r>
              <a:rPr lang="en-US" sz="1800" dirty="0"/>
              <a:t>Azure Monitor Alerts: notify when conditions are met with action groups for response</a:t>
            </a:r>
          </a:p>
          <a:p>
            <a:endParaRPr lang="en-US" sz="1800" dirty="0"/>
          </a:p>
          <a:p>
            <a:r>
              <a:rPr lang="en-US" sz="1800" dirty="0"/>
              <a:t>Metric-based alerts (e.g., CPU above 80%) and log-based alerts (e.g., error patterns)</a:t>
            </a:r>
          </a:p>
          <a:p>
            <a:endParaRPr lang="en-US" sz="1800" dirty="0"/>
          </a:p>
          <a:p>
            <a:r>
              <a:rPr lang="en-US" sz="1800" dirty="0"/>
              <a:t>Application Insights: monitors web app performance, request rates, response times, and failures</a:t>
            </a:r>
          </a:p>
          <a:p>
            <a:endParaRPr lang="en-US" sz="1800" dirty="0"/>
          </a:p>
          <a:p>
            <a:r>
              <a:rPr lang="en-US" sz="1800" dirty="0"/>
              <a:t>Synthetic availability tests verify apps are responding during low-traffic periods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FBEE60-FD8C-A0CF-7078-D82CFC31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1871993"/>
      </p:ext>
    </p:extLst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216"/>
            <a:ext cx="10430257" cy="430887"/>
          </a:xfrm>
        </p:spPr>
        <p:txBody>
          <a:bodyPr/>
          <a:lstStyle/>
          <a:p>
            <a:r>
              <a:rPr lang="en-US" sz="2800" dirty="0"/>
              <a:t>Thank you for attending this course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74742-B51A-7AB0-5C2C-8C2CFAC7FA4A}"/>
              </a:ext>
            </a:extLst>
          </p:cNvPr>
          <p:cNvSpPr txBox="1"/>
          <p:nvPr/>
        </p:nvSpPr>
        <p:spPr>
          <a:xfrm>
            <a:off x="585217" y="1073388"/>
            <a:ext cx="11031840" cy="40011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rPr>
              <a:t>Here are some reminders</a:t>
            </a: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BB8CD774-E161-61A8-A522-D1535573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7" y="2641600"/>
            <a:ext cx="3369852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D9A420F-4813-DE87-923E-2BAD0B326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14843" y="2090899"/>
            <a:ext cx="1110600" cy="1110600"/>
            <a:chOff x="1742946" y="2116300"/>
            <a:chExt cx="1110600" cy="11106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5204F6C-AFC4-B17E-9CBF-22DC543234BF}"/>
                </a:ext>
              </a:extLst>
            </p:cNvPr>
            <p:cNvSpPr/>
            <p:nvPr/>
          </p:nvSpPr>
          <p:spPr>
            <a:xfrm>
              <a:off x="1742946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DB37397-7AB9-34FE-DA9D-61EDF50E6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529" y="2335581"/>
              <a:ext cx="613466" cy="613466"/>
            </a:xfrm>
            <a:prstGeom prst="rect">
              <a:avLst/>
            </a:prstGeom>
          </p:spPr>
        </p:pic>
      </p:grpSp>
      <p:sp>
        <p:nvSpPr>
          <p:cNvPr id="10" name="Title 3">
            <a:extLst>
              <a:ext uri="{FF2B5EF4-FFF2-40B4-BE49-F238E27FC236}">
                <a16:creationId xmlns:a16="http://schemas.microsoft.com/office/drawing/2014/main" id="{4A316BF9-C4B9-DD49-36CE-1D11F0D1172A}"/>
              </a:ext>
            </a:extLst>
          </p:cNvPr>
          <p:cNvSpPr txBox="1">
            <a:spLocks/>
          </p:cNvSpPr>
          <p:nvPr/>
        </p:nvSpPr>
        <p:spPr bwMode="auto">
          <a:xfrm>
            <a:off x="592138" y="3527093"/>
            <a:ext cx="335036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Celebrate your </a:t>
            </a:r>
            <a:b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new skills</a:t>
            </a:r>
            <a:endParaRPr kumimoji="0" lang="en-US" sz="2000" b="0" i="0" u="none" strike="noStrike" kern="1200" cap="none" spc="0" normalizeH="0" baseline="0" noProof="0" dirty="0">
              <a:ln w="3175">
                <a:noFill/>
              </a:ln>
              <a:solidFill>
                <a:srgbClr val="BF3AC4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FDB18E57-06A5-07C5-77E6-7A3931D0724C}"/>
              </a:ext>
            </a:extLst>
          </p:cNvPr>
          <p:cNvSpPr txBox="1">
            <a:spLocks/>
          </p:cNvSpPr>
          <p:nvPr/>
        </p:nvSpPr>
        <p:spPr>
          <a:xfrm>
            <a:off x="1083155" y="4473121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Redeem your achievement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Share with us and your network</a:t>
            </a:r>
          </a:p>
        </p:txBody>
      </p:sp>
      <p:sp>
        <p:nvSpPr>
          <p:cNvPr id="7" name="Rounded Rectangle 3_1">
            <a:extLst>
              <a:ext uri="{FF2B5EF4-FFF2-40B4-BE49-F238E27FC236}">
                <a16:creationId xmlns:a16="http://schemas.microsoft.com/office/drawing/2014/main" id="{6EF7A416-217B-B74D-2A37-73B81E903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4692" y="2641600"/>
            <a:ext cx="3349242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EA0CB41-0E46-734C-4922-03B79C43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534013" y="2090899"/>
            <a:ext cx="1110600" cy="1110600"/>
            <a:chOff x="5540700" y="2116300"/>
            <a:chExt cx="1110600" cy="11106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9FEEDCE-1714-0823-ABDF-9A463BF4414A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2612A22-D03D-EB09-D2F9-46DCD2A71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1" name="Title 3">
            <a:extLst>
              <a:ext uri="{FF2B5EF4-FFF2-40B4-BE49-F238E27FC236}">
                <a16:creationId xmlns:a16="http://schemas.microsoft.com/office/drawing/2014/main" id="{BCA26C15-2479-3215-DA45-30CA95A86BF1}"/>
              </a:ext>
            </a:extLst>
          </p:cNvPr>
          <p:cNvSpPr txBox="1">
            <a:spLocks/>
          </p:cNvSpPr>
          <p:nvPr/>
        </p:nvSpPr>
        <p:spPr bwMode="auto">
          <a:xfrm>
            <a:off x="4404664" y="3527093"/>
            <a:ext cx="335036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Let us know </a:t>
            </a:r>
            <a:b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how we did</a:t>
            </a:r>
            <a:endParaRPr kumimoji="0" lang="en-US" sz="2000" b="0" i="0" u="none" strike="noStrike" kern="1200" cap="none" spc="0" normalizeH="0" baseline="0" noProof="0" dirty="0">
              <a:ln w="3175">
                <a:noFill/>
              </a:ln>
              <a:solidFill>
                <a:srgbClr val="BF3AC4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87BEECF-9AA7-29D4-B995-C86E4E84DA4F}"/>
              </a:ext>
            </a:extLst>
          </p:cNvPr>
          <p:cNvSpPr txBox="1">
            <a:spLocks/>
          </p:cNvSpPr>
          <p:nvPr/>
        </p:nvSpPr>
        <p:spPr>
          <a:xfrm>
            <a:off x="4888050" y="4473121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Give us your feedback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Survey will be sent via email</a:t>
            </a:r>
          </a:p>
        </p:txBody>
      </p:sp>
      <p:sp>
        <p:nvSpPr>
          <p:cNvPr id="8" name="Rounded Rectangle 3_1">
            <a:extLst>
              <a:ext uri="{FF2B5EF4-FFF2-40B4-BE49-F238E27FC236}">
                <a16:creationId xmlns:a16="http://schemas.microsoft.com/office/drawing/2014/main" id="{AB37A0EA-578B-84A5-AE07-644384EA1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68435" y="2641600"/>
            <a:ext cx="3331428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C3E7F02-D409-47E7-2524-7C278F717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378849" y="2090899"/>
            <a:ext cx="1110600" cy="1110600"/>
            <a:chOff x="9378893" y="2116300"/>
            <a:chExt cx="1110600" cy="11106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EF2EB2C-F39B-78A2-5F62-B5420D61E6B0}"/>
                </a:ext>
              </a:extLst>
            </p:cNvPr>
            <p:cNvSpPr/>
            <p:nvPr/>
          </p:nvSpPr>
          <p:spPr>
            <a:xfrm>
              <a:off x="9378893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EEABFC34-76B9-583D-E57A-80FBE6468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7795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9" name="Title 3">
            <a:extLst>
              <a:ext uri="{FF2B5EF4-FFF2-40B4-BE49-F238E27FC236}">
                <a16:creationId xmlns:a16="http://schemas.microsoft.com/office/drawing/2014/main" id="{1115584E-5D15-89B4-1E8A-3A2B2C2A948E}"/>
              </a:ext>
            </a:extLst>
          </p:cNvPr>
          <p:cNvSpPr txBox="1">
            <a:spLocks/>
          </p:cNvSpPr>
          <p:nvPr/>
        </p:nvSpPr>
        <p:spPr bwMode="auto">
          <a:xfrm>
            <a:off x="8289746" y="3527094"/>
            <a:ext cx="3310116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Become </a:t>
            </a:r>
            <a:b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rgbClr val="BF3AC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Microsoft Certified</a:t>
            </a:r>
            <a:endParaRPr kumimoji="0" lang="en-US" sz="2000" b="0" i="0" u="none" strike="noStrike" kern="1200" cap="none" spc="0" normalizeH="0" baseline="0" noProof="0" dirty="0">
              <a:ln w="3175">
                <a:noFill/>
              </a:ln>
              <a:solidFill>
                <a:srgbClr val="BF3AC4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66F9F362-4F2E-D227-CD26-237B46E62F6F}"/>
              </a:ext>
            </a:extLst>
          </p:cNvPr>
          <p:cNvSpPr txBox="1">
            <a:spLocks/>
          </p:cNvSpPr>
          <p:nvPr/>
        </p:nvSpPr>
        <p:spPr>
          <a:xfrm>
            <a:off x="8753090" y="4473121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Explore additional resources to help prepare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Schedule your exam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7FC6E-23C6-9140-6152-48A2508BD218}"/>
              </a:ext>
            </a:extLst>
          </p:cNvPr>
          <p:cNvSpPr txBox="1"/>
          <p:nvPr/>
        </p:nvSpPr>
        <p:spPr>
          <a:xfrm>
            <a:off x="672653" y="6070090"/>
            <a:ext cx="258084" cy="2840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46" b="0" i="0" u="none" strike="noStrike" kern="1200" cap="none" spc="0" normalizeH="0" baseline="0" noProof="0">
                <a:ln>
                  <a:noFill/>
                </a:ln>
                <a:solidFill>
                  <a:srgbClr val="2A446F"/>
                </a:solidFill>
                <a:effectLst/>
                <a:uLnTx/>
                <a:uFillTx/>
                <a:latin typeface="Segoe UI Symbol"/>
                <a:ea typeface="Segoe UI Symbol"/>
                <a:cs typeface="+mn-cs"/>
                <a:sym typeface="Segoe UI Symbol"/>
                <a:rtl val="0"/>
              </a:rPr>
              <a:t>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91B82-FBFF-2306-8695-498B4BE67872}"/>
              </a:ext>
            </a:extLst>
          </p:cNvPr>
          <p:cNvSpPr txBox="1"/>
          <p:nvPr/>
        </p:nvSpPr>
        <p:spPr>
          <a:xfrm>
            <a:off x="1078164" y="5956661"/>
            <a:ext cx="5816349" cy="510909"/>
          </a:xfrm>
          <a:prstGeom prst="rect">
            <a:avLst/>
          </a:prstGeom>
          <a:noFill/>
        </p:spPr>
        <p:txBody>
          <a:bodyPr wrap="square" lIns="0" tIns="146304" rIns="182880" bIns="146304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Tag us social: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2573"/>
                </a:soli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Arial" panose="020B0604020202020204" pitchFamily="34" charset="0"/>
              </a:rPr>
              <a:t>#AlwaysLearning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702573"/>
              </a:solidFill>
              <a:effectLst/>
              <a:uLnTx/>
              <a:uFillTx/>
              <a:latin typeface="Segoe UI Semibold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9FDBAF6B-4023-F57C-248B-3E2DF1B74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</p:spPr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94320715"/>
      </p:ext>
    </p:extLst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58C755EC-AC0C-9301-7D91-2576B857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could be next in your learning journey?</a:t>
            </a:r>
          </a:p>
        </p:txBody>
      </p:sp>
      <p:sp>
        <p:nvSpPr>
          <p:cNvPr id="7" name="Rounded Rectangle 3_1">
            <a:extLst>
              <a:ext uri="{FF2B5EF4-FFF2-40B4-BE49-F238E27FC236}">
                <a16:creationId xmlns:a16="http://schemas.microsoft.com/office/drawing/2014/main" id="{735637DD-8A7C-AC37-DEAF-CB6C4BEDB4C0}"/>
              </a:ext>
            </a:extLst>
          </p:cNvPr>
          <p:cNvSpPr/>
          <p:nvPr/>
        </p:nvSpPr>
        <p:spPr>
          <a:xfrm>
            <a:off x="588262" y="1289050"/>
            <a:ext cx="2519525" cy="4486275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rPr>
              <a:t>Learning Path 1: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Microsoft Azure AI fundamentals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8D4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AI workloads and considerations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Fundamental principles of machine learning on Azure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Features of computer vision workloads on Azure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Features of Natural Language Processing workloads on Azure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aka.ms/AI900</a:t>
            </a:r>
          </a:p>
        </p:txBody>
      </p:sp>
      <p:sp>
        <p:nvSpPr>
          <p:cNvPr id="10" name="Rounded Rectangle 3_1">
            <a:extLst>
              <a:ext uri="{FF2B5EF4-FFF2-40B4-BE49-F238E27FC236}">
                <a16:creationId xmlns:a16="http://schemas.microsoft.com/office/drawing/2014/main" id="{3CCFC4F9-3974-499E-DD1E-4E6F5CC5729D}"/>
              </a:ext>
            </a:extLst>
          </p:cNvPr>
          <p:cNvSpPr/>
          <p:nvPr/>
        </p:nvSpPr>
        <p:spPr>
          <a:xfrm>
            <a:off x="3289111" y="1289050"/>
            <a:ext cx="2519525" cy="4486275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rPr>
              <a:t>Learning Path 2: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Microsoft security, compliance, and identity fundamentals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Concepts of security, compliance, and identity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Capabilities of Microsoft Azure Active Directory, part of Microsoft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Entra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Capabilities of Microsoft security solutions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Capabilities of Microsoft compliance solutions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aka.ms/SC900</a:t>
            </a:r>
          </a:p>
        </p:txBody>
      </p:sp>
      <p:sp>
        <p:nvSpPr>
          <p:cNvPr id="8" name="Rounded Rectangle 3_1">
            <a:extLst>
              <a:ext uri="{FF2B5EF4-FFF2-40B4-BE49-F238E27FC236}">
                <a16:creationId xmlns:a16="http://schemas.microsoft.com/office/drawing/2014/main" id="{F94E33C7-6787-8FE3-4F27-65AE5BFE602D}"/>
              </a:ext>
            </a:extLst>
          </p:cNvPr>
          <p:cNvSpPr/>
          <p:nvPr/>
        </p:nvSpPr>
        <p:spPr>
          <a:xfrm>
            <a:off x="5992415" y="1289050"/>
            <a:ext cx="2519525" cy="4486275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rPr>
              <a:t>Learning Path 3: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Microsoft Azure Data fundamentals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8D4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Core data concepts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Considerations for relational data on Azure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Considerations for working with nonrelational data on Azure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Analytics workloads on Azure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aka.ms/DP900</a:t>
            </a:r>
          </a:p>
        </p:txBody>
      </p:sp>
      <p:sp>
        <p:nvSpPr>
          <p:cNvPr id="14" name="Rounded Rectangle 3_1">
            <a:extLst>
              <a:ext uri="{FF2B5EF4-FFF2-40B4-BE49-F238E27FC236}">
                <a16:creationId xmlns:a16="http://schemas.microsoft.com/office/drawing/2014/main" id="{3D0B7BA4-2B2D-CA37-D5CF-51CA173EA9F9}"/>
              </a:ext>
            </a:extLst>
          </p:cNvPr>
          <p:cNvSpPr/>
          <p:nvPr/>
        </p:nvSpPr>
        <p:spPr>
          <a:xfrm>
            <a:off x="8695719" y="1289050"/>
            <a:ext cx="2519525" cy="4486275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rPr>
              <a:t>Learning Path 4: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Microsoft Azure Administrator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8D4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Manage Azure identities and governance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Implement and manage storage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Deploy and manage Azure compute resources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Implement and manage virtual networking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Monitor and maintain Azure resources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aka.ms/AZ104</a:t>
            </a:r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874CA2B6-9C2C-0D93-EFE1-E44A882F7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1485410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2.xml><?xml version="1.0" encoding="utf-8"?>
<a:theme xmlns:a="http://schemas.openxmlformats.org/drawingml/2006/main" name="1_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3.xml><?xml version="1.0" encoding="utf-8"?>
<a:theme xmlns:a="http://schemas.openxmlformats.org/drawingml/2006/main" name="Microsoft Learn_Off-White Template">
  <a:themeElements>
    <a:clrScheme name="Microsoft Learn Lt">
      <a:dk1>
        <a:srgbClr val="000000"/>
      </a:dk1>
      <a:lt1>
        <a:srgbClr val="FFFFFF"/>
      </a:lt1>
      <a:dk2>
        <a:srgbClr val="091F2C"/>
      </a:dk2>
      <a:lt2>
        <a:srgbClr val="E8E6DF"/>
      </a:lt2>
      <a:accent1>
        <a:srgbClr val="FF5C39"/>
      </a:accent1>
      <a:accent2>
        <a:srgbClr val="C73ECC"/>
      </a:accent2>
      <a:accent3>
        <a:srgbClr val="0078D4"/>
      </a:accent3>
      <a:accent4>
        <a:srgbClr val="F4364C"/>
      </a:accent4>
      <a:accent5>
        <a:srgbClr val="FFA38B"/>
      </a:accent5>
      <a:accent6>
        <a:srgbClr val="CD9BCF"/>
      </a:accent6>
      <a:hlink>
        <a:srgbClr val="0078D4"/>
      </a:hlink>
      <a:folHlink>
        <a:srgbClr val="0078D4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Neutral gray">
      <a:srgbClr val="E8E6DF"/>
    </a:custClr>
    <a:custClr name="White">
      <a:srgbClr val="FFFFFF"/>
    </a:custClr>
    <a:custClr name="Blueblack">
      <a:srgbClr val="091F2C"/>
    </a:custClr>
    <a:custClr name="Off white">
      <a:srgbClr val="F4F3F5"/>
    </a:custClr>
    <a:custClr name="Light orange">
      <a:srgbClr val="FFA38B"/>
    </a:custClr>
    <a:custClr name="Light magenta">
      <a:srgbClr val="CD9BCF"/>
    </a:custClr>
    <a:custClr name="Light blue">
      <a:srgbClr val="8DC8E8"/>
    </a:custClr>
    <a:custClr name="Light red">
      <a:srgbClr val="FFB3BB"/>
    </a:custClr>
    <a:custClr name="White">
      <a:srgbClr val="FFFFFF"/>
    </a:custClr>
    <a:custClr name="White">
      <a:srgbClr val="FFFFFF"/>
    </a:custClr>
    <a:custClr name="Neutral gray">
      <a:srgbClr val="E8E6DF"/>
    </a:custClr>
    <a:custClr name="White">
      <a:srgbClr val="FFFFFF"/>
    </a:custClr>
    <a:custClr name="Blueblack">
      <a:srgbClr val="091F2C"/>
    </a:custClr>
    <a:custClr name="Off white">
      <a:srgbClr val="F4F3F5"/>
    </a:custClr>
    <a:custClr name="Dark orange">
      <a:srgbClr val="73391D"/>
    </a:custClr>
    <a:custClr name="Dark magenta">
      <a:srgbClr val="702573"/>
    </a:custClr>
    <a:custClr name="Dark blue">
      <a:srgbClr val="2A446F"/>
    </a:custClr>
    <a:custClr name="Dark red">
      <a:srgbClr val="73262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Microsoft_Learn_PPT_Template_May2022" id="{29A08142-AB99-4411-AAE7-CEDF668BDF69}" vid="{B77F916D-7E22-4EF9-8BA9-EC91DF20C5E1}"/>
    </a:ext>
  </a:extLst>
</a:theme>
</file>

<file path=ppt/theme/theme4.xml><?xml version="1.0" encoding="utf-8"?>
<a:theme xmlns:a="http://schemas.openxmlformats.org/drawingml/2006/main" name="2_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26320</Words>
  <Application>Microsoft Office PowerPoint</Application>
  <PresentationFormat>Widescreen</PresentationFormat>
  <Paragraphs>6284</Paragraphs>
  <Slides>82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82</vt:i4>
      </vt:variant>
    </vt:vector>
  </HeadingPairs>
  <TitlesOfParts>
    <vt:vector size="94" baseType="lpstr">
      <vt:lpstr>Arial</vt:lpstr>
      <vt:lpstr>Consolas</vt:lpstr>
      <vt:lpstr>Segoe UI</vt:lpstr>
      <vt:lpstr>Segoe UI Black</vt:lpstr>
      <vt:lpstr>Segoe UI Light</vt:lpstr>
      <vt:lpstr>Segoe UI Semibold</vt:lpstr>
      <vt:lpstr>Segoe UI Symbol</vt:lpstr>
      <vt:lpstr>Wingdings</vt:lpstr>
      <vt:lpstr>LIGHT MODE</vt:lpstr>
      <vt:lpstr>1_LIGHT MODE</vt:lpstr>
      <vt:lpstr>Microsoft Learn_Off-White Template</vt:lpstr>
      <vt:lpstr>2_LIGHT MODE</vt:lpstr>
      <vt:lpstr>Introduction to Cloud Infrastructure  [AZ-900]</vt:lpstr>
      <vt:lpstr>Get the most out of your Microsoft Learn profile</vt:lpstr>
      <vt:lpstr>Access your course material</vt:lpstr>
      <vt:lpstr>Celebrate your accomplishments and feel empowered</vt:lpstr>
      <vt:lpstr>Become  Microsoft Certified</vt:lpstr>
      <vt:lpstr>Get ready for your Microsoft Certification exam</vt:lpstr>
      <vt:lpstr>Cloud Concepts</vt:lpstr>
      <vt:lpstr>Describe cloud computing</vt:lpstr>
      <vt:lpstr>What is cloud computing?</vt:lpstr>
      <vt:lpstr>The shared responsibility model</vt:lpstr>
      <vt:lpstr>Cloud deployment models</vt:lpstr>
      <vt:lpstr>The consumption-based model</vt:lpstr>
      <vt:lpstr>Describe the benefits of using cloud services</vt:lpstr>
      <vt:lpstr>High availability and scalability</vt:lpstr>
      <vt:lpstr>Reliability and predictability</vt:lpstr>
      <vt:lpstr>Security and governance in the cloud</vt:lpstr>
      <vt:lpstr>Manageability in the cloud</vt:lpstr>
      <vt:lpstr>Sustainability in the cloud</vt:lpstr>
      <vt:lpstr>Describe cloud service types</vt:lpstr>
      <vt:lpstr>Cloud service types comparison</vt:lpstr>
      <vt:lpstr>Infrastructure as a service (IaaS)</vt:lpstr>
      <vt:lpstr>Platform as a service (PaaS)</vt:lpstr>
      <vt:lpstr>Software as a service (SaaS)</vt:lpstr>
      <vt:lpstr> Azure architecture and services</vt:lpstr>
      <vt:lpstr>Describe the core architectural components of Azure</vt:lpstr>
      <vt:lpstr>What is Microsoft Azure?</vt:lpstr>
      <vt:lpstr>Get started with Azure accounts</vt:lpstr>
      <vt:lpstr>Azure physical infrastructure</vt:lpstr>
      <vt:lpstr>Azure management infrastructure</vt:lpstr>
      <vt:lpstr>Describe Azure compute services</vt:lpstr>
      <vt:lpstr>Decoding Azure Virtual Machine names</vt:lpstr>
      <vt:lpstr>Azure Virtual Machines families</vt:lpstr>
      <vt:lpstr>Azure Virtual Desktop</vt:lpstr>
      <vt:lpstr>Azure container services</vt:lpstr>
      <vt:lpstr>Azure Functions</vt:lpstr>
      <vt:lpstr>AI, machine learning, and IoT and Edge services</vt:lpstr>
      <vt:lpstr>Application hosting options</vt:lpstr>
      <vt:lpstr>Describe Azure networking services</vt:lpstr>
      <vt:lpstr>Azure virtual networks</vt:lpstr>
      <vt:lpstr>Azure VPN Gateway</vt:lpstr>
      <vt:lpstr>Azure ExpressRoute</vt:lpstr>
      <vt:lpstr>Azure DNS</vt:lpstr>
      <vt:lpstr>Describe Azure storage services</vt:lpstr>
      <vt:lpstr>Azure storage accounts</vt:lpstr>
      <vt:lpstr>Azure storage redundancy</vt:lpstr>
      <vt:lpstr>Azure storage services</vt:lpstr>
      <vt:lpstr>Azure data migration options</vt:lpstr>
      <vt:lpstr>Azure file movement options</vt:lpstr>
      <vt:lpstr>Describe Azure identity, access, and security</vt:lpstr>
      <vt:lpstr>Microsoft Entra ID and Domain Services</vt:lpstr>
      <vt:lpstr>Authentication methods</vt:lpstr>
      <vt:lpstr>External identities</vt:lpstr>
      <vt:lpstr>Conditional Access</vt:lpstr>
      <vt:lpstr>Role-based access control (RBAC)</vt:lpstr>
      <vt:lpstr>Zero Trust model</vt:lpstr>
      <vt:lpstr>Defense in depth</vt:lpstr>
      <vt:lpstr>PowerPoint Presentation</vt:lpstr>
      <vt:lpstr>Encryption and key management</vt:lpstr>
      <vt:lpstr>Microsoft Defender for Cloud</vt:lpstr>
      <vt:lpstr>Management and governance</vt:lpstr>
      <vt:lpstr>Describe cost management in Azure</vt:lpstr>
      <vt:lpstr>Factors that affect costs in Azure</vt:lpstr>
      <vt:lpstr>PowerPoint Presentation</vt:lpstr>
      <vt:lpstr>Pricing calculator</vt:lpstr>
      <vt:lpstr>Microsoft Cost Management</vt:lpstr>
      <vt:lpstr>Purpose of resource tags</vt:lpstr>
      <vt:lpstr>Cost optimization options</vt:lpstr>
      <vt:lpstr>Describe features and tools for governance and compliance</vt:lpstr>
      <vt:lpstr>Microsoft Purview</vt:lpstr>
      <vt:lpstr>Azure Policy</vt:lpstr>
      <vt:lpstr>Resource locks</vt:lpstr>
      <vt:lpstr>Service Trust Portal</vt:lpstr>
      <vt:lpstr>Describe features and tools for managing and deploying Azure resources</vt:lpstr>
      <vt:lpstr>Tools for interacting with Azure</vt:lpstr>
      <vt:lpstr>Azure Arc – Unified management across environments</vt:lpstr>
      <vt:lpstr>Azure Resource Manager, ARM templates, and Bicep</vt:lpstr>
      <vt:lpstr>Describe monitoring tools in Azure</vt:lpstr>
      <vt:lpstr>Azure Advisor</vt:lpstr>
      <vt:lpstr>Azure Service Health</vt:lpstr>
      <vt:lpstr>Azure Monitor</vt:lpstr>
      <vt:lpstr>Thank you for attending this course</vt:lpstr>
      <vt:lpstr>What could be next in your learning journey?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2026-05-28T04:36:52Z</dcterms:created>
  <dcterms:modified xsi:type="dcterms:W3CDTF">2026-10-07T04:44:02Z</dcterms:modified>
</cp:coreProperties>
</file>